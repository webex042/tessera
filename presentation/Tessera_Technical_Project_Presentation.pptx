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c9c7e88-f634-ac9e-108a-81c97c6f22be}">
          <p14:sldIdLst>
            <p14:sldId id="256"/>
          </p14:sldIdLst>
        </p14:section>
        <p14:section name="Problem and idea" id="{47d99a20-0342-8ae6-30ec-1419f3439d2b}">
          <p14:sldIdLst>
            <p14:sldId id="257"/>
            <p14:sldId id="258"/>
          </p14:sldIdLst>
        </p14:section>
        <p14:section name="How it works" id="{ee06e420-2e9a-780e-cd59-12cce6282176}">
          <p14:sldIdLst>
            <p14:sldId id="259"/>
          </p14:sldIdLst>
        </p14:section>
        <p14:section name="Architecture" id="{6e69ca5f-3b91-7176-ef5d-5c91d553a945}">
          <p14:sldIdLst>
            <p14:sldId id="260"/>
            <p14:sldId id="261"/>
          </p14:sldIdLst>
        </p14:section>
        <p14:section name="Build" id="{cee1fe25-4d84-b63f-b73d-076e73347366}">
          <p14:sldIdLst>
            <p14:sldId id="262"/>
            <p14:sldId id="263"/>
          </p14:sldIdLst>
        </p14:section>
        <p14:section name="Assurance" id="{b102d735-b8ae-e4de-e594-64f861548dda}">
          <p14:sldIdLst>
            <p14:sldId id="264"/>
            <p14:sldId id="265"/>
            <p14:sldId id="266"/>
            <p14:sldId id="267"/>
          </p14:sldIdLst>
        </p14:section>
        <p14:section name="Where it stands" id="{3964b52c-9f50-d965-9ba7-5a4f8b092ad2}">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000" b="0" i="0" u="none" strike="noStrike">
                <a:solidFill>
                  <a:srgbClr val="6E675E"/>
                </a:solidFill>
                <a:latin typeface="+mn-lt"/>
              </a:defRPr>
            </a:pPr>
            <a:r>
              <a:rPr sz="1000" b="0" i="0" u="none" strike="noStrike">
                <a:solidFill>
                  <a:srgbClr val="6E675E"/>
                </a:solidFill>
                <a:latin typeface="+mn-lt"/>
              </a:rPr>
              <a:t>Measured against targets fixed before implementation (%)</a:t>
            </a:r>
          </a:p>
        </c:rich>
      </c:tx>
      <c:layout/>
      <c:overlay val="0"/>
    </c:title>
    <c:autoTitleDeleted val="0"/>
    <c:plotArea>
      <c:layout/>
      <c:barChart>
        <c:barDir val="col"/>
        <c:grouping val="clustered"/>
        <c:varyColors val="0"/>
        <c:ser>
          <c:idx val="0"/>
          <c:order val="0"/>
          <c:tx>
            <c:strRef>
              <c:f>Sheet1!$B$1</c:f>
              <c:strCache>
                <c:ptCount val="1"/>
                <c:pt idx="0">
                  <c:v>Target</c:v>
                </c:pt>
              </c:strCache>
            </c:strRef>
          </c:tx>
          <c:spPr>
            <a:solidFill>
              <a:srgbClr val="C4BCAE"/>
            </a:solidFill>
            <a:effectLst/>
          </c:spPr>
          <c:invertIfNegative val="0"/>
          <c:dLbls>
            <c:numFmt formatCode="0.0" sourceLinked="0"/>
            <c:txPr>
              <a:bodyPr/>
              <a:lstStyle/>
              <a:p>
                <a:pPr>
                  <a:defRPr b="0" i="0" strike="noStrike" sz="900" u="none">
                    <a:solidFill>
                      <a:srgbClr val="201E1B"/>
                    </a:solidFill>
                    <a:latin typeface="+mn-lt"/>
                  </a:defRPr>
                </a:pPr>
              </a:p>
            </c:txPr>
            <c:showLegendKey val="0"/>
            <c:showVal val="1"/>
            <c:showCatName val="0"/>
            <c:showSerName val="0"/>
            <c:showPercent val="0"/>
            <c:showBubbleSize val="0"/>
            <c:showLeaderLines val="0"/>
          </c:dLbls>
          <c:cat>
            <c:multiLvlStrRef>
              <c:f>Sheet1!$A$2:$A$4</c:f>
              <c:multiLvlStrCache>
                <c:ptCount val="3"/>
                <c:lvl>
                  <c:pt idx="0">
                    <c:v>Extraction F1</c:v>
                  </c:pt>
                  <c:pt idx="1">
                    <c:v>Answers correct</c:v>
                  </c:pt>
                  <c:pt idx="2">
                    <c:v>Sentences verified</c:v>
                  </c:pt>
                </c:lvl>
              </c:multiLvlStrCache>
            </c:multiLvlStrRef>
          </c:cat>
          <c:val>
            <c:numRef>
              <c:f>Sheet1!$B$2:$B$4</c:f>
              <c:numCache>
                <c:formatCode>General</c:formatCode>
                <c:ptCount val="3"/>
                <c:pt idx="0">
                  <c:v>70</c:v>
                </c:pt>
                <c:pt idx="1">
                  <c:v>80</c:v>
                </c:pt>
                <c:pt idx="2">
                  <c:v>90</c:v>
                </c:pt>
              </c:numCache>
            </c:numRef>
          </c:val>
        </c:ser>
        <c:ser>
          <c:idx val="1"/>
          <c:order val="1"/>
          <c:tx>
            <c:strRef>
              <c:f>Sheet1!$C$1</c:f>
              <c:strCache>
                <c:ptCount val="1"/>
                <c:pt idx="0">
                  <c:v>Measured</c:v>
                </c:pt>
              </c:strCache>
            </c:strRef>
          </c:tx>
          <c:spPr>
            <a:solidFill>
              <a:srgbClr val="A85A45"/>
            </a:solidFill>
            <a:effectLst/>
          </c:spPr>
          <c:invertIfNegative val="0"/>
          <c:dLbls>
            <c:numFmt formatCode="0.0" sourceLinked="0"/>
            <c:txPr>
              <a:bodyPr/>
              <a:lstStyle/>
              <a:p>
                <a:pPr>
                  <a:defRPr b="0" i="0" strike="noStrike" sz="900" u="none">
                    <a:solidFill>
                      <a:srgbClr val="201E1B"/>
                    </a:solidFill>
                    <a:latin typeface="+mn-lt"/>
                  </a:defRPr>
                </a:pPr>
              </a:p>
            </c:txPr>
            <c:showLegendKey val="0"/>
            <c:showVal val="1"/>
            <c:showCatName val="0"/>
            <c:showSerName val="0"/>
            <c:showPercent val="0"/>
            <c:showBubbleSize val="0"/>
            <c:showLeaderLines val="0"/>
          </c:dLbls>
          <c:cat>
            <c:multiLvlStrRef>
              <c:f>Sheet1!$A$2:$A$4</c:f>
              <c:multiLvlStrCache>
                <c:ptCount val="3"/>
                <c:lvl>
                  <c:pt idx="0">
                    <c:v>Extraction F1</c:v>
                  </c:pt>
                  <c:pt idx="1">
                    <c:v>Answers correct</c:v>
                  </c:pt>
                  <c:pt idx="2">
                    <c:v>Sentences verified</c:v>
                  </c:pt>
                </c:lvl>
              </c:multiLvlStrCache>
            </c:multiLvlStrRef>
          </c:cat>
          <c:val>
            <c:numRef>
              <c:f>Sheet1!$C$2:$C$4</c:f>
              <c:numCache>
                <c:formatCode>General</c:formatCode>
                <c:ptCount val="3"/>
                <c:pt idx="0">
                  <c:v>53.3</c:v>
                </c:pt>
                <c:pt idx="1">
                  <c:v>66.7</c:v>
                </c:pt>
                <c:pt idx="2">
                  <c:v>83.7</c:v>
                </c:pt>
              </c:numCache>
            </c:numRef>
          </c:val>
        </c:ser>
        <c:dLbls>
          <c:numFmt formatCode="0.0" sourceLinked="0"/>
          <c:txPr>
            <a:bodyPr/>
            <a:lstStyle/>
            <a:p>
              <a:pPr>
                <a:defRPr b="0" i="0" strike="noStrike" sz="900" u="none">
                  <a:solidFill>
                    <a:srgbClr val="201E1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E675E"/>
                </a:solidFill>
                <a:latin typeface="+mn-lt"/>
              </a:defRPr>
            </a:pPr>
            <a:endParaRPr lang="en-US"/>
          </a:p>
        </c:txPr>
        <c:crossAx val="2094734552"/>
        <c:crosses val="autoZero"/>
        <c:auto val="1"/>
        <c:lblAlgn val="ctr"/>
        <c:noMultiLvlLbl val="1"/>
      </c:catAx>
      <c:valAx>
        <c:axId val="2094734552"/>
        <c:scaling>
          <c:orientation val="minMax"/>
          <c:max val="100"/>
        </c:scaling>
        <c:delete val="0"/>
        <c:axPos val="l"/>
        <c:majorGridlines>
          <c:spPr>
            <a:ln w="9525" cap="flat">
              <a:solidFill>
                <a:srgbClr val="E7E3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675E"/>
                </a:solidFill>
                <a:latin typeface="+mn-lt"/>
              </a:defRPr>
            </a:pPr>
            <a:endParaRPr lang="en-US"/>
          </a:p>
        </c:txPr>
        <c:crossAx val="2094734554"/>
        <c:crosses val="autoZero"/>
        <c:crossBetween val="between"/>
        <c:majorUnit val="25"/>
      </c:valAx>
      <c:spPr>
        <a:solidFill>
          <a:srgbClr val="F6F4F0"/>
        </a:solidFill>
        <a:ln w="12700" cap="flat">
          <a:solidFill>
            <a:srgbClr val="F6F4F0"/>
          </a:solidFill>
        </a:ln>
        <a:effectLst/>
      </c:spPr>
    </c:plotArea>
    <c:legend>
      <c:legendPos val="b"/>
      <c:overlay val="0"/>
      <c:txPr>
        <a:bodyPr/>
        <a:lstStyle/>
        <a:p>
          <a:pPr>
            <a:defRPr sz="900">
              <a:solidFill>
                <a:srgbClr val="6E675E"/>
              </a:solidFill>
              <a:latin typeface="+mn-lt"/>
              <a:cs typeface="+mn-lt"/>
            </a:defRPr>
          </a:pPr>
          <a:endParaRPr lang="en-US"/>
        </a:p>
      </c:txPr>
    </c:legend>
    <c:plotVisOnly val="1"/>
    <c:dispBlanksAs val="span"/>
  </c:chart>
  <c:spPr>
    <a:solidFill>
      <a:srgbClr val="F6F4F0"/>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description, then set expectations honestly: this is a working research prototype at version 0.0.1, evaluated against criteria fixed in advance, and several of those criteria are not met. Say that up front — the honesty is part of the contribution.
Tessera keeps a searchable memory of what you worked on, using a language model that runs on your own machine. Two engineering problems shape it: running a 4-billion-parameter vision-language model across unrelated GPU vendors, and making sure screen text that may contain hostile instructions cannot become instructions to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tension, not the technology: the context that makes such a system useful is exactly the context a person would least like to transmit.
Then make the pivot explicit — moving the model on-device solves the privacy problem and buys four new ones. The audience should leave this slide knowing that the rest of the talk is about those four.
Point 4 is the one people underestimate. Indirect prompt injection (Greshake et al., AISec 2023) is the first entry in the OWASP Top 10 for LLM Applications, and it is the hardest of the four to solve — slide 12 shows how far we actually got.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thesis of the whole project, so spend time here.
Intuitive version: don't ask the model to be trustworthy; arrange things so it does not need to be.
Engineering version: the model is given no tools, its output is constrained by a JSON grammar, and deterministic Rust then checks every proposed fact against the source text before anything is stored. A fact whose quotation cannot be located in the source is discarded, never repaired.
Row 4 is the honest one. The architecture bounds what a successful injection can do, but it does not eliminate it — an injected line can still be stored as text the user reads. Slide 12 quantifies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top row left to right — this is the capture pipeline, and every stage can only reduce what is kept.
Step 2 fails closed: a browser window whose private-browsing state cannot be read is treated as private and skipped. Step 3 is a ladder, not a choice: accessibility first because it is structured and cheap, OCR when that times out, the vision model only when OCR quality is poor.
Step 4 is the one to dwell on. Redaction validates checksums — Luhn for payment cards, Verhoeff for Aadhaar — rather than matching digit patterns. That is what keeps the false-positive rate under half a per cent while removing every seeded secret.
The bottom row is what the user actually sees. Note that extraction is background work and gets preempted by anything interactive — slide 8 explains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diagram outside-in: the user touches only the left box; the host does all the work; the worker is deliberately expendable.
The asymmetry of trust is the design. The host validates every command from the interface (lengths, enumerations, identifiers, single-use approval tokens) and treats every byte from the worker as a proposal to be checked.
Three details worth naming if asked. The worker is created with CREATE_SUSPENDED so it cannot execute an instruction before its environment is cleared and the job object is attached. The environment is stripped because llama-server reads LLAMA_ARG_* variables — an inherited one could change its behaviour; this was tested. And before the host trusts the health endpoint it queries the OS TCP table to confirm the listening socket belongs to the child it created, so another local process cannot race to bind the port and impersonate the 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read the ten boxes aloud. The point is the three statements at the bottom: the division follows trust and platform boundaries rather than convenience.
If asked why tsr-infer is the largest crate: it carries four separable concerns that share one lifecycle — hardware discovery, process supervision, transport and scheduling.
tsr-net is small on purpose. It is the entire outbound attack surface, so it is kept short enough for a person to read in one sitting.
Line counts are measured from the repository, not estimated. Roughly 37,000 lines of Rust in total, plus about 2,000 lines of TypeScript for the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stack as a list — each row answers 'why this, and what did it cost'.
The ONNX Runtime pin deserves a mention: the binding demands API level 31, which makes it refuse any runtime older than 1.31. Windows ships its own copy at 1.17 in System32, and without that requirement it would be silently accepted — the 'pinned runtime' guarantee would simply be false. A test confirms the system copy is never mapped into the process.
If asked about the model choice: Qwen3-VL-4B was picked because the task — read a paragraph, notice a commitment — is far easier than open-ended reasoning, and a 4B model fits in consumer GPU memory. Slide 12 shows how that bet actually turned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roughly a minute to each column, in the Problem → Approach → Result shape printed on the slide.
Column 1 is the distinctive engineering contribution and the one an examiner is most likely to probe. The honest caveat matters: the selection logic is tested against simulated adapter reports for five vendors, which proves the arbitration code, not that any given driver works.
Column 2 is the smallest idea and the most practical. Without a deadline, one unresponsive application freezes capture for everyone.
Column 3 is where the slide-3 principle becomes a measurement. Note the direction of the guarantee: provenance, not completeness. Nothing stored is unsupported; plenty is missed.
If time allows, mention the key-order defect found during evaluation: schema keys were being serialised alphabetically, so the grammar forced the model to commit to an 'insufficient' field before writing any answer. Fixing it moved answer correctness from 15% to 66.7% with no prompt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Structure this as: here are the boundaries, and here is the honest status of each control.
The three-way split on the right is the whole point of the slide. Resist the temptation to present everything as green.
On the WebView2 finding: every mitigation available was applied — framework defaults preserved, reputation service disabled and read back, background networking off, proxy discovery off, navigation locked, environment cleared. The connection still appears, it is absent from the browser engine's own network log, and the host name was not in the resolver cache, so it comes from code outside the engine's network service. The project recorded this as an open decision rather than narrowing the criterion it violates.
If challenged on the injection number, that is the right instinct — slide 12 explains how it was measured and why the honest figure is lower than the headline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build, then spend the time on the right-hand column — that is the part a user experiences.
Two defaults are deliberate and worth stating. Capture starts paused, so an unattended install records nothing. And no model is bundled or fetched automatically; the approval value cannot be constructed except from an explicit user action, which makes 'it downloaded something quietly' structurally impossible rather than merely unlikely.
The fallback hotkey exists because of a real bug found by measurement: the default chord was already registered by another application on the development machine, so the toggle silently never worked.
Configuration lives in %LOCALAPPDATA%\Tessara\config.json — backend, device, layer count, idle unload, capture cadence and a 90-day retention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each case concrete and short. The grey line at the foot of each card is the constraint — say it out loud, because an examiner will ask.
Case 2 is the one to be careful about. The pipeline works and fabricates nothing, but the 4B model answers two in three correctly against a target of four in five, and takes about 25 seconds on the integrated GPU available for testing. It is a demonstration, not a product.
If asked what is deliberately not built: the system takes no autonomous action. It never sends a message, never presses send, and never closes a commitment without confirmation — that last one is enforced by a test that scans the source for any code path that writes a closed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deck exists for. The division is not random: every criterion met is one enforced by deterministic code, and every criterion missed depends on the model's quality, the GPU's throughput, or a third-party component.
On the injection figure, explain the method — it is the most defensible thing in the project. The 152-case corpus was split in half; one half was used to tune the guard rules and the other was never looked at. Against the tuned half the defence is near-perfect, which means nothing. Against the untouched half it stops about 62 % with the real model. Those twelve failures have deliberately been left unfixed so the number keeps meaning something — fixing them would turn the held-out half into a second tuned half.
What holds regardless: across all 152 cases, nothing caused an action, revealed a secret in clear, or wrote an unexpected table. The failures are confined to misleading text in a to-do list.
If asked about threats to validity: synthetic evaluation sets, no held-out split for Ask, only 7 of 20 target applications tested, and single-run results on a generative model that varies between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these. An examiner who finds a limitation you did not mention trusts the rest of the deck less.
Row 1 carries the most useful insight in the project: the remedy for a model that is too small is usually a narrower task, not a larger model. Tasks and commitments — the facts that actually matter for a memory system — already reach 0.68.
Row 2: be disciplined about what is unknown. The hypothesis that a discrete GPU closes the gap is untested and should not be asserted.
Row 3: the decision to leave known failures unfixed is deliberate and worth defending. It keeps the generalisation estimate meaningful.
Row 4: this is the difference between 'our code makes no connections', which is true and measured, and 'nothing leaves your PC', which is not currently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three columns clearly separated — implemented, not yet done, not started. Conflating them is the most common way a project report loses credibility.
The dark band at the bottom is the argument: the project's own staging gates further work behind criteria that have not been met. That is a deliberate engineering decision, not a delay.
If asked what you would do first with one more month: re-measure on a discrete GPU and narrow the extraction schema. Those two address the largest gap at the lowest cost, and neither requires new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finding, not on a thank-you. The four lines on the left are the whole talk in order: problem, approach, contribution, result.
The last line is the one to land. It was not obvious in advance which guarantees would depend on the model and which would not; the evaluation answers that empirically, and the answer tells anyone building a similar system where to put their effort.
Offer the repository for anyone who wants to check a number — the corpora, the harness and the raw results are all in it, including the runs that failed.
Likely questions: why not a larger model (narrower task is cheaper than more parameters); why Rust (untrusted text on background threads); why not use Windows Recall (different guarantee — Tessera stores verifiable spans rather than snapshots, and publishes its adversarial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201E1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1874520"/>
            <a:ext cx="6949440" cy="274320"/>
          </a:xfrm>
          <a:prstGeom prst="rect">
            <a:avLst/>
          </a:prstGeom>
          <a:noFill/>
          <a:ln/>
        </p:spPr>
        <p:txBody>
          <a:bodyPr wrap="square" rtlCol="0"/>
          <a:lstStyle>
            <a:lvl1pPr algn="l" indent="0" marL="0">
              <a:buNone/>
              <a:defRPr lang="en-US" sz="1000" b="1" spc="300" kern="0" dirty="0">
                <a:solidFill>
                  <a:srgbClr val="8C8577"/>
                </a:solidFill>
                <a:latin typeface="Calibri" pitchFamily="34" charset="0"/>
                <a:ea typeface="Calibri" pitchFamily="34" charset="-122"/>
                <a:cs typeface="Calibri" pitchFamily="34" charset="-120"/>
              </a:defRPr>
            </a:lvl1pPr>
          </a:lstStyle>
          <a:p>
            <a:pPr algn="l" indent="0" marL="0">
              <a:buNone/>
            </a:pPr>
            <a:endParaRPr lang="en-US" sz="1000" dirty="0"/>
          </a:p>
        </p:txBody>
      </p:sp>
      <p:sp>
        <p:nvSpPr>
          <p:cNvPr id="3" name="Text 0"/>
          <p:cNvSpPr/>
          <p:nvPr>
            <p:ph idx="101" type="title" hasCustomPrompt="1"/>
          </p:nvPr>
        </p:nvSpPr>
        <p:spPr>
          <a:xfrm>
            <a:off x="685800" y="2212848"/>
            <a:ext cx="6949440" cy="1143000"/>
          </a:xfrm>
          <a:prstGeom prst="rect">
            <a:avLst/>
          </a:prstGeom>
          <a:noFill/>
          <a:ln/>
        </p:spPr>
        <p:txBody>
          <a:bodyPr wrap="square" rtlCol="0"/>
          <a:lstStyle>
            <a:lvl1pPr algn="l" indent="0" marL="0">
              <a:buNone/>
              <a:defRPr lang="en-US" sz="6600" dirty="0">
                <a:solidFill>
                  <a:srgbClr val="F6F4F0"/>
                </a:solidFill>
                <a:latin typeface="Cambria" pitchFamily="34" charset="0"/>
                <a:ea typeface="Cambria" pitchFamily="34" charset="-122"/>
                <a:cs typeface="Cambria" pitchFamily="34" charset="-120"/>
              </a:defRPr>
            </a:lvl1pPr>
          </a:lstStyle>
          <a:p>
            <a:pPr algn="l" indent="0" marL="0">
              <a:buNone/>
            </a:pPr>
            <a:endParaRPr lang="en-US" sz="6600" dirty="0"/>
          </a:p>
        </p:txBody>
      </p:sp>
      <p:sp>
        <p:nvSpPr>
          <p:cNvPr id="4" name="Text 0"/>
          <p:cNvSpPr/>
          <p:nvPr>
            <p:ph idx="102" type="body" hasCustomPrompt="1"/>
          </p:nvPr>
        </p:nvSpPr>
        <p:spPr>
          <a:xfrm>
            <a:off x="685800" y="3456432"/>
            <a:ext cx="6400800" cy="868680"/>
          </a:xfrm>
          <a:prstGeom prst="rect">
            <a:avLst/>
          </a:prstGeom>
          <a:noFill/>
          <a:ln/>
        </p:spPr>
        <p:txBody>
          <a:bodyPr wrap="square" rtlCol="0"/>
          <a:lstStyle>
            <a:lvl1pPr algn="l" indent="0" marL="0">
              <a:buNone/>
              <a:defRPr lang="en-US" sz="1450" dirty="0">
                <a:solidFill>
                  <a:srgbClr val="C4BCAE"/>
                </a:solidFill>
                <a:latin typeface="Calibri" pitchFamily="34" charset="0"/>
                <a:ea typeface="Calibri" pitchFamily="34" charset="-122"/>
                <a:cs typeface="Calibri" pitchFamily="34" charset="-120"/>
              </a:defRPr>
            </a:lvl1pPr>
          </a:lstStyle>
          <a:p>
            <a:pPr algn="l" indent="0" marL="0">
              <a:buNone/>
            </a:pPr>
            <a:endParaRPr lang="en-US" sz="14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4F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789920" cy="237744"/>
          </a:xfrm>
          <a:prstGeom prst="rect">
            <a:avLst/>
          </a:prstGeom>
          <a:noFill/>
          <a:ln/>
        </p:spPr>
        <p:txBody>
          <a:bodyPr wrap="square" rtlCol="0"/>
          <a:lstStyle>
            <a:lvl1pPr algn="l" indent="0" marL="0">
              <a:buNone/>
              <a:defRPr lang="en-US" sz="950" b="1" spc="250" kern="0" dirty="0">
                <a:solidFill>
                  <a:srgbClr val="8C8577"/>
                </a:solidFill>
                <a:latin typeface="Calibri" pitchFamily="34" charset="0"/>
                <a:ea typeface="Calibri" pitchFamily="34" charset="-122"/>
                <a:cs typeface="Calibri" pitchFamily="34" charset="-120"/>
              </a:defRPr>
            </a:lvl1pPr>
          </a:lstStyle>
          <a:p>
            <a:pPr algn="l" indent="0" marL="0">
              <a:buNone/>
            </a:pPr>
            <a:endParaRPr lang="en-US" sz="950" dirty="0"/>
          </a:p>
        </p:txBody>
      </p:sp>
      <p:sp>
        <p:nvSpPr>
          <p:cNvPr id="3" name="Text 0"/>
          <p:cNvSpPr/>
          <p:nvPr>
            <p:ph idx="101" type="title" hasCustomPrompt="1"/>
          </p:nvPr>
        </p:nvSpPr>
        <p:spPr>
          <a:xfrm>
            <a:off x="685800" y="621792"/>
            <a:ext cx="10789920" cy="566928"/>
          </a:xfrm>
          <a:prstGeom prst="rect">
            <a:avLst/>
          </a:prstGeom>
          <a:noFill/>
          <a:ln/>
        </p:spPr>
        <p:txBody>
          <a:bodyPr wrap="square" rtlCol="0"/>
          <a:lstStyle>
            <a:lvl1pPr algn="l" indent="0" marL="0">
              <a:buNone/>
              <a:defRPr lang="en-US" sz="3000" dirty="0">
                <a:solidFill>
                  <a:srgbClr val="201E1B"/>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txBox="1"/>
          <p:nvPr/>
        </p:nvSpPr>
        <p:spPr>
          <a:xfrm>
            <a:off x="685800" y="6355080"/>
            <a:ext cx="6858000" cy="256032"/>
          </a:xfrm>
          <a:prstGeom prst="rect">
            <a:avLst/>
          </a:prstGeom>
          <a:noFill/>
          <a:ln/>
        </p:spPr>
        <p:txBody>
          <a:bodyPr wrap="square" lIns="0" tIns="0" rIns="0" bIns="0" rtlCol="0" anchor="ctr"/>
          <a:lstStyle/>
          <a:p>
            <a:pPr algn="l" indent="0" marL="0">
              <a:buNone/>
            </a:pPr>
            <a:r>
              <a:rPr lang="en-US" sz="800" dirty="0">
                <a:solidFill>
                  <a:srgbClr val="C4BCAE"/>
                </a:solidFill>
                <a:latin typeface="Calibri" pitchFamily="34" charset="0"/>
                <a:ea typeface="Calibri" pitchFamily="34" charset="-122"/>
                <a:cs typeface="Calibri" pitchFamily="34" charset="-120"/>
              </a:rPr>
              <a:t>Tessera  ·  B.Tech Project  ·  BIT Mesra, Off-Campus Patna</a:t>
            </a:r>
            <a:endParaRPr lang="en-US" sz="800" dirty="0"/>
          </a:p>
        </p:txBody>
      </p:sp>
      <p:sp>
        <p:nvSpPr>
          <p:cNvPr id="25" name="Slide Number Placeholder 0"/>
          <p:cNvSpPr>
            <a:spLocks noGrp="1"/>
          </p:cNvSpPr>
          <p:nvPr>
            <p:ph type="sldNum" sz="quarter" idx="4294967295"/>
          </p:nvPr>
        </p:nvSpPr>
        <p:spPr>
          <a:xfrm>
            <a:off x="11247120" y="635508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577"/>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bg>
      <p:bgPr>
        <a:solidFill>
          <a:srgbClr val="201E1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789920" cy="237744"/>
          </a:xfrm>
          <a:prstGeom prst="rect">
            <a:avLst/>
          </a:prstGeom>
          <a:noFill/>
          <a:ln/>
        </p:spPr>
        <p:txBody>
          <a:bodyPr wrap="square" rtlCol="0"/>
          <a:lstStyle>
            <a:lvl1pPr algn="l" indent="0" marL="0">
              <a:buNone/>
              <a:defRPr lang="en-US" sz="950" b="1" spc="250" kern="0" dirty="0">
                <a:solidFill>
                  <a:srgbClr val="8C8577"/>
                </a:solidFill>
                <a:latin typeface="Calibri" pitchFamily="34" charset="0"/>
                <a:ea typeface="Calibri" pitchFamily="34" charset="-122"/>
                <a:cs typeface="Calibri" pitchFamily="34" charset="-120"/>
              </a:defRPr>
            </a:lvl1pPr>
          </a:lstStyle>
          <a:p>
            <a:pPr algn="l" indent="0" marL="0">
              <a:buNone/>
            </a:pPr>
            <a:endParaRPr lang="en-US" sz="950" dirty="0"/>
          </a:p>
        </p:txBody>
      </p:sp>
      <p:sp>
        <p:nvSpPr>
          <p:cNvPr id="3" name="Text 0"/>
          <p:cNvSpPr/>
          <p:nvPr>
            <p:ph idx="101" type="title" hasCustomPrompt="1"/>
          </p:nvPr>
        </p:nvSpPr>
        <p:spPr>
          <a:xfrm>
            <a:off x="685800" y="621792"/>
            <a:ext cx="10789920" cy="566928"/>
          </a:xfrm>
          <a:prstGeom prst="rect">
            <a:avLst/>
          </a:prstGeom>
          <a:noFill/>
          <a:ln/>
        </p:spPr>
        <p:txBody>
          <a:bodyPr wrap="square" rtlCol="0"/>
          <a:lstStyle>
            <a:lvl1pPr algn="l" indent="0" marL="0">
              <a:buNone/>
              <a:defRPr lang="en-US" sz="3000" dirty="0">
                <a:solidFill>
                  <a:srgbClr val="F6F4F0"/>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txBox="1"/>
          <p:nvPr/>
        </p:nvSpPr>
        <p:spPr>
          <a:xfrm>
            <a:off x="685800" y="6355080"/>
            <a:ext cx="6858000" cy="256032"/>
          </a:xfrm>
          <a:prstGeom prst="rect">
            <a:avLst/>
          </a:prstGeom>
          <a:noFill/>
          <a:ln/>
        </p:spPr>
        <p:txBody>
          <a:bodyPr wrap="square" lIns="0" tIns="0" rIns="0" bIns="0" rtlCol="0" anchor="ctr"/>
          <a:lstStyle/>
          <a:p>
            <a:pPr algn="l" indent="0" marL="0">
              <a:buNone/>
            </a:pPr>
            <a:r>
              <a:rPr lang="en-US" sz="800" dirty="0">
                <a:solidFill>
                  <a:srgbClr val="6E675E"/>
                </a:solidFill>
                <a:latin typeface="Calibri" pitchFamily="34" charset="0"/>
                <a:ea typeface="Calibri" pitchFamily="34" charset="-122"/>
                <a:cs typeface="Calibri" pitchFamily="34" charset="-120"/>
              </a:rPr>
              <a:t>Tessera  ·  B.Tech Project  ·  BIT Mesra, Off-Campus Patna</a:t>
            </a:r>
            <a:endParaRPr lang="en-US" sz="800" dirty="0"/>
          </a:p>
        </p:txBody>
      </p:sp>
      <p:sp>
        <p:nvSpPr>
          <p:cNvPr id="25" name="Slide Number Placeholder 0"/>
          <p:cNvSpPr>
            <a:spLocks noGrp="1"/>
          </p:cNvSpPr>
          <p:nvPr>
            <p:ph type="sldNum" sz="quarter" idx="4294967295"/>
          </p:nvPr>
        </p:nvSpPr>
        <p:spPr>
          <a:xfrm>
            <a:off x="11247120" y="635508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675E"/>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577"/>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webex042/Tessera" TargetMode="External"/><Relationship Id="rId2" Type="http://schemas.openxmlformats.org/officeDocument/2006/relationships/hyperlink" Target="https://github.com/ggml-org/llama.cpp" TargetMode="External"/><Relationship Id="rId3" Type="http://schemas.openxmlformats.org/officeDocument/2006/relationships/hyperlink" Target="https://arxiv.org/abs/2511.21631" TargetMode="External"/><Relationship Id="rId4" Type="http://schemas.openxmlformats.org/officeDocument/2006/relationships/hyperlink" Target="https://arxiv.org/abs/2302.12173" TargetMode="External"/><Relationship Id="rId5" Type="http://schemas.openxmlformats.org/officeDocument/2006/relationships/hyperlink" Target="https://owasp.org/www-project-top-10-for-large-language-model-applications/" TargetMode="External"/><Relationship Id="rId6" Type="http://schemas.openxmlformats.org/officeDocument/2006/relationships/slideLayout" Target="../slideLayouts/slideLayout4.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nso-outer"/>
          <p:cNvSpPr/>
          <p:nvPr/>
        </p:nvSpPr>
        <p:spPr>
          <a:xfrm>
            <a:off x="8183880" y="1572768"/>
            <a:ext cx="3246120" cy="3246120"/>
          </a:xfrm>
          <a:prstGeom prst="ellipse">
            <a:avLst/>
          </a:prstGeom>
          <a:ln w="15875">
            <a:solidFill>
              <a:srgbClr val="3A3733"/>
            </a:solidFill>
            <a:prstDash val="solid"/>
          </a:ln>
        </p:spPr>
      </p:sp>
      <p:sp>
        <p:nvSpPr>
          <p:cNvPr id="3" name="enso-inner"/>
          <p:cNvSpPr/>
          <p:nvPr/>
        </p:nvSpPr>
        <p:spPr>
          <a:xfrm>
            <a:off x="8705088" y="2093976"/>
            <a:ext cx="2203704" cy="2203704"/>
          </a:xfrm>
          <a:prstGeom prst="ellipse">
            <a:avLst/>
          </a:prstGeom>
          <a:ln w="12700">
            <a:solidFill>
              <a:srgbClr val="A85A45"/>
            </a:solidFill>
            <a:prstDash val="solid"/>
          </a:ln>
        </p:spPr>
      </p:sp>
      <p:sp>
        <p:nvSpPr>
          <p:cNvPr id="4" name="enso-centre"/>
          <p:cNvSpPr/>
          <p:nvPr/>
        </p:nvSpPr>
        <p:spPr>
          <a:xfrm>
            <a:off x="9720072" y="3108960"/>
            <a:ext cx="173736" cy="173736"/>
          </a:xfrm>
          <a:prstGeom prst="ellipse">
            <a:avLst/>
          </a:prstGeom>
          <a:solidFill>
            <a:srgbClr val="A85A45"/>
          </a:solidFill>
          <a:ln w="12700">
            <a:solidFill>
              <a:srgbClr val="A85A45"/>
            </a:solidFill>
            <a:prstDash val="solid"/>
          </a:ln>
        </p:spPr>
      </p:sp>
      <p:sp>
        <p:nvSpPr>
          <p:cNvPr id="5" name="Text 0"/>
          <p:cNvSpPr/>
          <p:nvPr>
            <p:ph idx="100" type="body" hasCustomPrompt="1"/>
          </p:nvPr>
        </p:nvSpPr>
        <p:spPr>
          <a:xfrm>
            <a:off x="685800" y="1874520"/>
            <a:ext cx="6949440" cy="274320"/>
          </a:xfrm>
          <a:prstGeom prst="rect">
            <a:avLst/>
          </a:prstGeom>
          <a:noFill/>
          <a:ln/>
        </p:spPr>
        <p:txBody>
          <a:bodyPr wrap="square" lIns="0" tIns="0" rIns="0" bIns="0" rtlCol="0" anchor="ctr"/>
          <a:lstStyle/>
          <a:p>
            <a:pPr algn="l" indent="0" marL="0">
              <a:buNone/>
            </a:pPr>
            <a:r>
              <a:rPr lang="en-US" sz="1000" b="1" spc="300" kern="0" dirty="0">
                <a:solidFill>
                  <a:srgbClr val="8C8577"/>
                </a:solidFill>
                <a:latin typeface="Calibri" pitchFamily="34" charset="0"/>
                <a:ea typeface="Calibri" pitchFamily="34" charset="-122"/>
                <a:cs typeface="Calibri" pitchFamily="34" charset="-120"/>
              </a:rPr>
              <a:t>B.TECH PROJECT  ·  COMPUTER SCIENCE AND ENGINEERING</a:t>
            </a:r>
            <a:endParaRPr lang="en-US" sz="1000" dirty="0"/>
          </a:p>
        </p:txBody>
      </p:sp>
      <p:sp>
        <p:nvSpPr>
          <p:cNvPr id="6" name="Text 0"/>
          <p:cNvSpPr/>
          <p:nvPr>
            <p:ph idx="101" type="title" hasCustomPrompt="1"/>
          </p:nvPr>
        </p:nvSpPr>
        <p:spPr>
          <a:xfrm>
            <a:off x="685800" y="2212848"/>
            <a:ext cx="6949440" cy="1143000"/>
          </a:xfrm>
          <a:prstGeom prst="rect">
            <a:avLst/>
          </a:prstGeom>
          <a:noFill/>
          <a:ln/>
        </p:spPr>
        <p:txBody>
          <a:bodyPr wrap="square" lIns="0" tIns="0" rIns="0" bIns="0" rtlCol="0" anchor="ctr"/>
          <a:lstStyle/>
          <a:p>
            <a:pPr algn="l" indent="0" marL="0">
              <a:buNone/>
            </a:pPr>
            <a:r>
              <a:rPr lang="en-US" sz="6600" dirty="0">
                <a:solidFill>
                  <a:srgbClr val="F6F4F0"/>
                </a:solidFill>
                <a:latin typeface="Cambria" pitchFamily="34" charset="0"/>
                <a:ea typeface="Cambria" pitchFamily="34" charset="-122"/>
                <a:cs typeface="Cambria" pitchFamily="34" charset="-120"/>
              </a:rPr>
              <a:t>Tessera</a:t>
            </a:r>
            <a:endParaRPr lang="en-US" sz="6600" dirty="0"/>
          </a:p>
        </p:txBody>
      </p:sp>
      <p:sp>
        <p:nvSpPr>
          <p:cNvPr id="7" name="Text 0"/>
          <p:cNvSpPr/>
          <p:nvPr>
            <p:ph idx="102" type="body" hasCustomPrompt="1"/>
          </p:nvPr>
        </p:nvSpPr>
        <p:spPr>
          <a:xfrm>
            <a:off x="685800" y="3456432"/>
            <a:ext cx="6400800" cy="868680"/>
          </a:xfrm>
          <a:prstGeom prst="rect">
            <a:avLst/>
          </a:prstGeom>
          <a:noFill/>
          <a:ln/>
        </p:spPr>
        <p:txBody>
          <a:bodyPr wrap="square" lIns="0" tIns="0" rIns="0" bIns="0" rtlCol="0" anchor="t"/>
          <a:lstStyle/>
          <a:p>
            <a:pPr algn="l" indent="0" marL="0">
              <a:buNone/>
            </a:pPr>
            <a:r>
              <a:rPr lang="en-US" sz="1450" dirty="0">
                <a:solidFill>
                  <a:srgbClr val="C4BCAE"/>
                </a:solidFill>
                <a:latin typeface="Calibri" pitchFamily="34" charset="0"/>
                <a:ea typeface="Calibri" pitchFamily="34" charset="-122"/>
                <a:cs typeface="Calibri" pitchFamily="34" charset="-120"/>
              </a:rPr>
              <a:t>A privacy-preserving, hardware-independent local inference and screen-aware memory system for Windows</a:t>
            </a:r>
            <a:endParaRPr lang="en-US" sz="1450" dirty="0"/>
          </a:p>
        </p:txBody>
      </p:sp>
      <p:sp>
        <p:nvSpPr>
          <p:cNvPr id="8" name="author"/>
          <p:cNvSpPr txBox="1"/>
          <p:nvPr/>
        </p:nvSpPr>
        <p:spPr>
          <a:xfrm>
            <a:off x="685800" y="4800600"/>
            <a:ext cx="6949440" cy="256032"/>
          </a:xfrm>
          <a:prstGeom prst="rect">
            <a:avLst/>
          </a:prstGeom>
          <a:noFill/>
          <a:ln/>
        </p:spPr>
        <p:txBody>
          <a:bodyPr wrap="square" lIns="0" tIns="0" rIns="0" bIns="0" rtlCol="0" anchor="ctr"/>
          <a:lstStyle/>
          <a:p>
            <a:pPr algn="l" indent="0" marL="0">
              <a:buNone/>
            </a:pPr>
            <a:r>
              <a:rPr lang="en-US" sz="1200" b="1" dirty="0">
                <a:solidFill>
                  <a:srgbClr val="F6F4F0"/>
                </a:solidFill>
                <a:latin typeface="Calibri" pitchFamily="34" charset="0"/>
                <a:ea typeface="Calibri" pitchFamily="34" charset="-122"/>
                <a:cs typeface="Calibri" pitchFamily="34" charset="-120"/>
              </a:rPr>
              <a:t>Pranshu Ranjan</a:t>
            </a:r>
            <a:pPr algn="l" indent="0" marL="0">
              <a:buNone/>
            </a:pPr>
            <a:r>
              <a:rPr lang="en-US" sz="1200" dirty="0">
                <a:solidFill>
                  <a:srgbClr val="8C8577"/>
                </a:solidFill>
                <a:latin typeface="Calibri" pitchFamily="34" charset="0"/>
                <a:ea typeface="Calibri" pitchFamily="34" charset="-122"/>
                <a:cs typeface="Calibri" pitchFamily="34" charset="-120"/>
              </a:rPr>
              <a:t>   ·   BTECH/15191/24   ·   Guide: Dr. Ayan Kumar Das</a:t>
            </a:r>
            <a:endParaRPr lang="en-US" sz="1200" dirty="0"/>
          </a:p>
        </p:txBody>
      </p:sp>
      <p:sp>
        <p:nvSpPr>
          <p:cNvPr id="9" name="institute"/>
          <p:cNvSpPr txBox="1"/>
          <p:nvPr/>
        </p:nvSpPr>
        <p:spPr>
          <a:xfrm>
            <a:off x="685800" y="5084064"/>
            <a:ext cx="6949440" cy="256032"/>
          </a:xfrm>
          <a:prstGeom prst="rect">
            <a:avLst/>
          </a:prstGeom>
          <a:noFill/>
          <a:ln/>
        </p:spPr>
        <p:txBody>
          <a:bodyPr wrap="square" lIns="0" tIns="0" rIns="0" bIns="0" rtlCol="0" anchor="ctr"/>
          <a:lstStyle/>
          <a:p>
            <a:pPr algn="l" indent="0" marL="0">
              <a:buNone/>
            </a:pPr>
            <a:r>
              <a:rPr lang="en-US" sz="1100" dirty="0">
                <a:solidFill>
                  <a:srgbClr val="C4BCAE"/>
                </a:solidFill>
                <a:latin typeface="Calibri" pitchFamily="34" charset="0"/>
                <a:ea typeface="Calibri" pitchFamily="34" charset="-122"/>
                <a:cs typeface="Calibri" pitchFamily="34" charset="-120"/>
              </a:rPr>
              <a:t>Birla Institute of Technology, Mesra — Off-Campus Patna</a:t>
            </a:r>
            <a:endParaRPr lang="en-US" sz="1100" dirty="0"/>
          </a:p>
        </p:txBody>
      </p:sp>
      <p:sp>
        <p:nvSpPr>
          <p:cNvPr id="10" name="status-dot"/>
          <p:cNvSpPr/>
          <p:nvPr/>
        </p:nvSpPr>
        <p:spPr>
          <a:xfrm>
            <a:off x="685800" y="5724144"/>
            <a:ext cx="100584" cy="100584"/>
          </a:xfrm>
          <a:prstGeom prst="ellipse">
            <a:avLst/>
          </a:prstGeom>
          <a:solidFill>
            <a:srgbClr val="A85A45"/>
          </a:solidFill>
          <a:ln w="12700">
            <a:solidFill>
              <a:srgbClr val="A85A45"/>
            </a:solidFill>
            <a:prstDash val="solid"/>
          </a:ln>
        </p:spPr>
      </p:sp>
      <p:sp>
        <p:nvSpPr>
          <p:cNvPr id="11" name="status"/>
          <p:cNvSpPr txBox="1"/>
          <p:nvPr/>
        </p:nvSpPr>
        <p:spPr>
          <a:xfrm>
            <a:off x="886968" y="5614416"/>
            <a:ext cx="7315200" cy="274320"/>
          </a:xfrm>
          <a:prstGeom prst="rect">
            <a:avLst/>
          </a:prstGeom>
          <a:noFill/>
          <a:ln/>
        </p:spPr>
        <p:txBody>
          <a:bodyPr wrap="square" lIns="0" tIns="0" rIns="0" bIns="0" rtlCol="0" anchor="ctr"/>
          <a:lstStyle/>
          <a:p>
            <a:pPr algn="l" indent="0" marL="0">
              <a:buNone/>
            </a:pPr>
            <a:r>
              <a:rPr lang="en-US" sz="1000" dirty="0">
                <a:solidFill>
                  <a:srgbClr val="6E675E"/>
                </a:solidFill>
                <a:latin typeface="Calibri" pitchFamily="34" charset="0"/>
                <a:ea typeface="Calibri" pitchFamily="34" charset="-122"/>
                <a:cs typeface="Calibri" pitchFamily="34" charset="-120"/>
              </a:rPr>
              <a:t>Stages 0–7 · v0.0.1 · research prototype under evaluation, not a released product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789920" cy="237744"/>
          </a:xfrm>
          <a:prstGeom prst="rect">
            <a:avLst/>
          </a:prstGeom>
          <a:noFill/>
          <a:ln/>
        </p:spPr>
        <p:txBody>
          <a:bodyPr wrap="square" lIns="0" tIns="0" rIns="0" bIns="0" rtlCol="0" anchor="ctr"/>
          <a:lstStyle/>
          <a:p>
            <a:pPr algn="l" indent="0" marL="0">
              <a:buNone/>
            </a:pPr>
            <a:r>
              <a:rPr lang="en-US" sz="950" b="1" spc="250" kern="0" dirty="0">
                <a:solidFill>
                  <a:srgbClr val="8C8577"/>
                </a:solidFill>
                <a:latin typeface="Calibri" pitchFamily="34" charset="0"/>
                <a:ea typeface="Calibri" pitchFamily="34" charset="-122"/>
                <a:cs typeface="Calibri" pitchFamily="34" charset="-120"/>
              </a:rPr>
              <a:t>THE PROBLEM</a:t>
            </a:r>
            <a:endParaRPr lang="en-US" sz="950" dirty="0"/>
          </a:p>
        </p:txBody>
      </p:sp>
      <p:sp>
        <p:nvSpPr>
          <p:cNvPr id="3" name="Text 0"/>
          <p:cNvSpPr/>
          <p:nvPr>
            <p:ph idx="101" type="title" hasCustomPrompt="1"/>
          </p:nvPr>
        </p:nvSpPr>
        <p:spPr>
          <a:xfrm>
            <a:off x="685800" y="621792"/>
            <a:ext cx="10789920" cy="566928"/>
          </a:xfrm>
          <a:prstGeom prst="rect">
            <a:avLst/>
          </a:prstGeom>
          <a:noFill/>
          <a:ln/>
        </p:spPr>
        <p:txBody>
          <a:bodyPr wrap="square" lIns="0" tIns="0" rIns="0" bIns="0" rtlCol="0" anchor="ctr"/>
          <a:lstStyle/>
          <a:p>
            <a:pPr algn="l" indent="0" marL="0">
              <a:buNone/>
            </a:pPr>
            <a:r>
              <a:rPr lang="en-US" sz="3000" dirty="0">
                <a:solidFill>
                  <a:srgbClr val="201E1B"/>
                </a:solidFill>
                <a:latin typeface="Cambria" pitchFamily="34" charset="0"/>
                <a:ea typeface="Cambria" pitchFamily="34" charset="-122"/>
                <a:cs typeface="Cambria" pitchFamily="34" charset="-120"/>
              </a:rPr>
              <a:t>Useful context is private context</a:t>
            </a:r>
            <a:endParaRPr lang="en-US" sz="3000" dirty="0"/>
          </a:p>
        </p:txBody>
      </p:sp>
      <p:sp>
        <p:nvSpPr>
          <p:cNvPr id="4" name="problem-lede"/>
          <p:cNvSpPr txBox="1"/>
          <p:nvPr/>
        </p:nvSpPr>
        <p:spPr>
          <a:xfrm>
            <a:off x="685800" y="1444752"/>
            <a:ext cx="5074920" cy="1143000"/>
          </a:xfrm>
          <a:prstGeom prst="rect">
            <a:avLst/>
          </a:prstGeom>
          <a:noFill/>
          <a:ln/>
        </p:spPr>
        <p:txBody>
          <a:bodyPr wrap="square" lIns="0" tIns="0" rIns="0" bIns="0" rtlCol="0" anchor="t"/>
          <a:lstStyle/>
          <a:p>
            <a:pPr algn="l" indent="0" marL="0">
              <a:lnSpc>
                <a:spcPct val="122000"/>
              </a:lnSpc>
              <a:buNone/>
            </a:pPr>
            <a:r>
              <a:rPr lang="en-US" sz="1300" dirty="0">
                <a:solidFill>
                  <a:srgbClr val="201E1B"/>
                </a:solidFill>
                <a:latin typeface="Calibri" pitchFamily="34" charset="0"/>
                <a:ea typeface="Calibri" pitchFamily="34" charset="-122"/>
                <a:cs typeface="Calibri" pitchFamily="34" charset="-120"/>
              </a:rPr>
              <a:t>An assistant that knows what you are working on is only useful because it can see what you are working on: your mail, your chats, your documents. Almost every product that does this sends that text to a remote server, because the strongest models are too large to run on a laptop.</a:t>
            </a:r>
            <a:endParaRPr lang="en-US" sz="1300" dirty="0"/>
          </a:p>
        </p:txBody>
      </p:sp>
      <p:sp>
        <p:nvSpPr>
          <p:cNvPr id="5" name="problem-turn"/>
          <p:cNvSpPr txBox="1"/>
          <p:nvPr/>
        </p:nvSpPr>
        <p:spPr>
          <a:xfrm>
            <a:off x="685800" y="2697480"/>
            <a:ext cx="5074920" cy="685800"/>
          </a:xfrm>
          <a:prstGeom prst="rect">
            <a:avLst/>
          </a:prstGeom>
          <a:noFill/>
          <a:ln/>
        </p:spPr>
        <p:txBody>
          <a:bodyPr wrap="square" lIns="0" tIns="0" rIns="0" bIns="0" rtlCol="0" anchor="t"/>
          <a:lstStyle/>
          <a:p>
            <a:pPr algn="l" indent="0" marL="0">
              <a:lnSpc>
                <a:spcPct val="122000"/>
              </a:lnSpc>
              <a:buNone/>
            </a:pPr>
            <a:r>
              <a:rPr lang="en-US" sz="1300" b="1" dirty="0">
                <a:solidFill>
                  <a:srgbClr val="201E1B"/>
                </a:solidFill>
                <a:latin typeface="Calibri" pitchFamily="34" charset="0"/>
                <a:ea typeface="Calibri" pitchFamily="34" charset="-122"/>
                <a:cs typeface="Calibri" pitchFamily="34" charset="-120"/>
              </a:rPr>
              <a:t>Running the model locally removes that exposure — and replaces it with four engineering problems that the cloud design hides.</a:t>
            </a:r>
            <a:endParaRPr lang="en-US" sz="1300" dirty="0"/>
          </a:p>
        </p:txBody>
      </p:sp>
      <p:sp>
        <p:nvSpPr>
          <p:cNvPr id="6" name="problem-who"/>
          <p:cNvSpPr txBox="1"/>
          <p:nvPr/>
        </p:nvSpPr>
        <p:spPr>
          <a:xfrm>
            <a:off x="685800" y="3639312"/>
            <a:ext cx="5074920" cy="310896"/>
          </a:xfrm>
          <a:prstGeom prst="rect">
            <a:avLst/>
          </a:prstGeom>
          <a:noFill/>
          <a:ln/>
        </p:spPr>
        <p:txBody>
          <a:bodyPr wrap="square" lIns="0" tIns="0" rIns="0" bIns="0" rtlCol="0" anchor="t"/>
          <a:lstStyle/>
          <a:p>
            <a:pPr algn="l" indent="0" marL="0">
              <a:buNone/>
            </a:pPr>
            <a:r>
              <a:rPr lang="en-US" sz="950" i="1" dirty="0">
                <a:solidFill>
                  <a:srgbClr val="6E675E"/>
                </a:solidFill>
                <a:latin typeface="Calibri" pitchFamily="34" charset="0"/>
                <a:ea typeface="Calibri" pitchFamily="34" charset="-122"/>
                <a:cs typeface="Calibri" pitchFamily="34" charset="-120"/>
              </a:rPr>
              <a:t>Who is affected: anyone whose screen holds work they cannot send to a third party — students, clinicians, lawyers, engineers under NDA.</a:t>
            </a:r>
            <a:endParaRPr lang="en-US" sz="950" dirty="0"/>
          </a:p>
        </p:txBody>
      </p:sp>
      <p:sp>
        <p:nvSpPr>
          <p:cNvPr id="7" name="step-1-ring"/>
          <p:cNvSpPr/>
          <p:nvPr/>
        </p:nvSpPr>
        <p:spPr>
          <a:xfrm>
            <a:off x="6108192" y="1472184"/>
            <a:ext cx="384048" cy="384048"/>
          </a:xfrm>
          <a:prstGeom prst="ellipse">
            <a:avLst/>
          </a:prstGeom>
          <a:ln w="12700">
            <a:solidFill>
              <a:srgbClr val="A85A45"/>
            </a:solidFill>
            <a:prstDash val="solid"/>
          </a:ln>
        </p:spPr>
      </p:sp>
      <p:sp>
        <p:nvSpPr>
          <p:cNvPr id="8" name="step-1-num"/>
          <p:cNvSpPr txBox="1"/>
          <p:nvPr/>
        </p:nvSpPr>
        <p:spPr>
          <a:xfrm>
            <a:off x="6108192" y="1472184"/>
            <a:ext cx="384048" cy="384048"/>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1</a:t>
            </a:r>
            <a:endParaRPr lang="en-US" sz="1100" dirty="0"/>
          </a:p>
        </p:txBody>
      </p:sp>
      <p:sp>
        <p:nvSpPr>
          <p:cNvPr id="9" name="prob-0-t"/>
          <p:cNvSpPr txBox="1"/>
          <p:nvPr/>
        </p:nvSpPr>
        <p:spPr>
          <a:xfrm>
            <a:off x="6638544" y="1444752"/>
            <a:ext cx="4846320" cy="219456"/>
          </a:xfrm>
          <a:prstGeom prst="rect">
            <a:avLst/>
          </a:prstGeom>
          <a:noFill/>
          <a:ln/>
        </p:spPr>
        <p:txBody>
          <a:bodyPr wrap="square" lIns="0" tIns="0" rIns="0" bIns="0" rtlCol="0" anchor="t"/>
          <a:lstStyle/>
          <a:p>
            <a:pPr algn="l" indent="0" marL="0">
              <a:buNone/>
            </a:pPr>
            <a:r>
              <a:rPr lang="en-US" sz="1250" b="1" dirty="0">
                <a:solidFill>
                  <a:srgbClr val="201E1B"/>
                </a:solidFill>
                <a:latin typeface="Calibri" pitchFamily="34" charset="0"/>
                <a:ea typeface="Calibri" pitchFamily="34" charset="-122"/>
                <a:cs typeface="Calibri" pitchFamily="34" charset="-120"/>
              </a:rPr>
              <a:t>Hardware fragmentation</a:t>
            </a:r>
            <a:endParaRPr lang="en-US" sz="1250" dirty="0"/>
          </a:p>
        </p:txBody>
      </p:sp>
      <p:sp>
        <p:nvSpPr>
          <p:cNvPr id="10" name="prob-0-b"/>
          <p:cNvSpPr txBox="1"/>
          <p:nvPr/>
        </p:nvSpPr>
        <p:spPr>
          <a:xfrm>
            <a:off x="6638544" y="1664208"/>
            <a:ext cx="4846320" cy="1280160"/>
          </a:xfrm>
          <a:prstGeom prst="rect">
            <a:avLst/>
          </a:prstGeom>
          <a:noFill/>
          <a:ln/>
        </p:spPr>
        <p:txBody>
          <a:bodyPr wrap="square" lIns="0" tIns="0" rIns="0" bIns="0" rtlCol="0" anchor="t"/>
          <a:lstStyle/>
          <a:p>
            <a:pPr algn="l" indent="0" marL="0">
              <a:lnSpc>
                <a:spcPct val="112000"/>
              </a:lnSpc>
              <a:buNone/>
            </a:pPr>
            <a:r>
              <a:rPr lang="en-US" sz="1000" dirty="0">
                <a:solidFill>
                  <a:srgbClr val="6E675E"/>
                </a:solidFill>
                <a:latin typeface="Calibri" pitchFamily="34" charset="0"/>
                <a:ea typeface="Calibri" pitchFamily="34" charset="-122"/>
                <a:cs typeface="Calibri" pitchFamily="34" charset="-120"/>
              </a:rPr>
              <a:t>CUDA, ROCm, SYCL, Metal and OpenCL are mutually incompatible. Ship one and you serve one vendor; ship all and the CUDA runtime alone is ~390 MB.</a:t>
            </a:r>
            <a:endParaRPr lang="en-US" sz="1000" dirty="0"/>
          </a:p>
        </p:txBody>
      </p:sp>
      <p:sp>
        <p:nvSpPr>
          <p:cNvPr id="11" name="step-2-ring"/>
          <p:cNvSpPr/>
          <p:nvPr/>
        </p:nvSpPr>
        <p:spPr>
          <a:xfrm>
            <a:off x="6108192" y="2688336"/>
            <a:ext cx="384048" cy="384048"/>
          </a:xfrm>
          <a:prstGeom prst="ellipse">
            <a:avLst/>
          </a:prstGeom>
          <a:ln w="12700">
            <a:solidFill>
              <a:srgbClr val="A85A45"/>
            </a:solidFill>
            <a:prstDash val="solid"/>
          </a:ln>
        </p:spPr>
      </p:sp>
      <p:sp>
        <p:nvSpPr>
          <p:cNvPr id="12" name="step-2-num"/>
          <p:cNvSpPr txBox="1"/>
          <p:nvPr/>
        </p:nvSpPr>
        <p:spPr>
          <a:xfrm>
            <a:off x="6108192" y="2688336"/>
            <a:ext cx="384048" cy="384048"/>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2</a:t>
            </a:r>
            <a:endParaRPr lang="en-US" sz="1100" dirty="0"/>
          </a:p>
        </p:txBody>
      </p:sp>
      <p:sp>
        <p:nvSpPr>
          <p:cNvPr id="13" name="prob-1-t"/>
          <p:cNvSpPr txBox="1"/>
          <p:nvPr/>
        </p:nvSpPr>
        <p:spPr>
          <a:xfrm>
            <a:off x="6638544" y="2660904"/>
            <a:ext cx="4846320" cy="219456"/>
          </a:xfrm>
          <a:prstGeom prst="rect">
            <a:avLst/>
          </a:prstGeom>
          <a:noFill/>
          <a:ln/>
        </p:spPr>
        <p:txBody>
          <a:bodyPr wrap="square" lIns="0" tIns="0" rIns="0" bIns="0" rtlCol="0" anchor="t"/>
          <a:lstStyle/>
          <a:p>
            <a:pPr algn="l" indent="0" marL="0">
              <a:buNone/>
            </a:pPr>
            <a:r>
              <a:rPr lang="en-US" sz="1250" b="1" dirty="0">
                <a:solidFill>
                  <a:srgbClr val="201E1B"/>
                </a:solidFill>
                <a:latin typeface="Calibri" pitchFamily="34" charset="0"/>
                <a:ea typeface="Calibri" pitchFamily="34" charset="-122"/>
                <a:cs typeface="Calibri" pitchFamily="34" charset="-120"/>
              </a:rPr>
              <a:t>Process fragility</a:t>
            </a:r>
            <a:endParaRPr lang="en-US" sz="1250" dirty="0"/>
          </a:p>
        </p:txBody>
      </p:sp>
      <p:sp>
        <p:nvSpPr>
          <p:cNvPr id="14" name="prob-1-b"/>
          <p:cNvSpPr txBox="1"/>
          <p:nvPr/>
        </p:nvSpPr>
        <p:spPr>
          <a:xfrm>
            <a:off x="6638544" y="2880360"/>
            <a:ext cx="4846320" cy="1280160"/>
          </a:xfrm>
          <a:prstGeom prst="rect">
            <a:avLst/>
          </a:prstGeom>
          <a:noFill/>
          <a:ln/>
        </p:spPr>
        <p:txBody>
          <a:bodyPr wrap="square" lIns="0" tIns="0" rIns="0" bIns="0" rtlCol="0" anchor="t"/>
          <a:lstStyle/>
          <a:p>
            <a:pPr algn="l" indent="0" marL="0">
              <a:lnSpc>
                <a:spcPct val="112000"/>
              </a:lnSpc>
              <a:buNone/>
            </a:pPr>
            <a:r>
              <a:rPr lang="en-US" sz="1000" dirty="0">
                <a:solidFill>
                  <a:srgbClr val="6E675E"/>
                </a:solidFill>
                <a:latin typeface="Calibri" pitchFamily="34" charset="0"/>
                <a:ea typeface="Calibri" pitchFamily="34" charset="-122"/>
                <a:cs typeface="Calibri" pitchFamily="34" charset="-120"/>
              </a:rPr>
              <a:t>A 2–6 GB model pushes consumer GPUs to their limit. In-process inference means a driver reset takes the application, and possibly the database, with it.</a:t>
            </a:r>
            <a:endParaRPr lang="en-US" sz="1000" dirty="0"/>
          </a:p>
        </p:txBody>
      </p:sp>
      <p:sp>
        <p:nvSpPr>
          <p:cNvPr id="15" name="step-3-ring"/>
          <p:cNvSpPr/>
          <p:nvPr/>
        </p:nvSpPr>
        <p:spPr>
          <a:xfrm>
            <a:off x="6108192" y="3904488"/>
            <a:ext cx="384048" cy="384048"/>
          </a:xfrm>
          <a:prstGeom prst="ellipse">
            <a:avLst/>
          </a:prstGeom>
          <a:ln w="12700">
            <a:solidFill>
              <a:srgbClr val="A85A45"/>
            </a:solidFill>
            <a:prstDash val="solid"/>
          </a:ln>
        </p:spPr>
      </p:sp>
      <p:sp>
        <p:nvSpPr>
          <p:cNvPr id="16" name="step-3-num"/>
          <p:cNvSpPr txBox="1"/>
          <p:nvPr/>
        </p:nvSpPr>
        <p:spPr>
          <a:xfrm>
            <a:off x="6108192" y="3904488"/>
            <a:ext cx="384048" cy="384048"/>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3</a:t>
            </a:r>
            <a:endParaRPr lang="en-US" sz="1100" dirty="0"/>
          </a:p>
        </p:txBody>
      </p:sp>
      <p:sp>
        <p:nvSpPr>
          <p:cNvPr id="17" name="prob-2-t"/>
          <p:cNvSpPr txBox="1"/>
          <p:nvPr/>
        </p:nvSpPr>
        <p:spPr>
          <a:xfrm>
            <a:off x="6638544" y="3877056"/>
            <a:ext cx="4846320" cy="219456"/>
          </a:xfrm>
          <a:prstGeom prst="rect">
            <a:avLst/>
          </a:prstGeom>
          <a:noFill/>
          <a:ln/>
        </p:spPr>
        <p:txBody>
          <a:bodyPr wrap="square" lIns="0" tIns="0" rIns="0" bIns="0" rtlCol="0" anchor="t"/>
          <a:lstStyle/>
          <a:p>
            <a:pPr algn="l" indent="0" marL="0">
              <a:buNone/>
            </a:pPr>
            <a:r>
              <a:rPr lang="en-US" sz="1250" b="1" dirty="0">
                <a:solidFill>
                  <a:srgbClr val="201E1B"/>
                </a:solidFill>
                <a:latin typeface="Calibri" pitchFamily="34" charset="0"/>
                <a:ea typeface="Calibri" pitchFamily="34" charset="-122"/>
                <a:cs typeface="Calibri" pitchFamily="34" charset="-120"/>
              </a:rPr>
              <a:t>Exposure of captured text</a:t>
            </a:r>
            <a:endParaRPr lang="en-US" sz="1250" dirty="0"/>
          </a:p>
        </p:txBody>
      </p:sp>
      <p:sp>
        <p:nvSpPr>
          <p:cNvPr id="18" name="prob-2-b"/>
          <p:cNvSpPr txBox="1"/>
          <p:nvPr/>
        </p:nvSpPr>
        <p:spPr>
          <a:xfrm>
            <a:off x="6638544" y="4096512"/>
            <a:ext cx="4846320" cy="1280160"/>
          </a:xfrm>
          <a:prstGeom prst="rect">
            <a:avLst/>
          </a:prstGeom>
          <a:noFill/>
          <a:ln/>
        </p:spPr>
        <p:txBody>
          <a:bodyPr wrap="square" lIns="0" tIns="0" rIns="0" bIns="0" rtlCol="0" anchor="t"/>
          <a:lstStyle/>
          <a:p>
            <a:pPr algn="l" indent="0" marL="0">
              <a:lnSpc>
                <a:spcPct val="112000"/>
              </a:lnSpc>
              <a:buNone/>
            </a:pPr>
            <a:r>
              <a:rPr lang="en-US" sz="1000" dirty="0">
                <a:solidFill>
                  <a:srgbClr val="6E675E"/>
                </a:solidFill>
                <a:latin typeface="Calibri" pitchFamily="34" charset="0"/>
                <a:ea typeface="Calibri" pitchFamily="34" charset="-122"/>
                <a:cs typeface="Calibri" pitchFamily="34" charset="-120"/>
              </a:rPr>
              <a:t>A system that reads the screen will eventually read a password manager, a banking page or an identity number. By the time the model sees it, the exposure has happened.</a:t>
            </a:r>
            <a:endParaRPr lang="en-US" sz="1000" dirty="0"/>
          </a:p>
        </p:txBody>
      </p:sp>
      <p:sp>
        <p:nvSpPr>
          <p:cNvPr id="19" name="step-4-ring"/>
          <p:cNvSpPr/>
          <p:nvPr/>
        </p:nvSpPr>
        <p:spPr>
          <a:xfrm>
            <a:off x="6108192" y="5120640"/>
            <a:ext cx="384048" cy="384048"/>
          </a:xfrm>
          <a:prstGeom prst="ellipse">
            <a:avLst/>
          </a:prstGeom>
          <a:ln w="12700">
            <a:solidFill>
              <a:srgbClr val="A85A45"/>
            </a:solidFill>
            <a:prstDash val="solid"/>
          </a:ln>
        </p:spPr>
      </p:sp>
      <p:sp>
        <p:nvSpPr>
          <p:cNvPr id="20" name="step-4-num"/>
          <p:cNvSpPr txBox="1"/>
          <p:nvPr/>
        </p:nvSpPr>
        <p:spPr>
          <a:xfrm>
            <a:off x="6108192" y="5120640"/>
            <a:ext cx="384048" cy="384048"/>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4</a:t>
            </a:r>
            <a:endParaRPr lang="en-US" sz="1100" dirty="0"/>
          </a:p>
        </p:txBody>
      </p:sp>
      <p:sp>
        <p:nvSpPr>
          <p:cNvPr id="21" name="prob-3-t"/>
          <p:cNvSpPr txBox="1"/>
          <p:nvPr/>
        </p:nvSpPr>
        <p:spPr>
          <a:xfrm>
            <a:off x="6638544" y="5093208"/>
            <a:ext cx="4846320" cy="219456"/>
          </a:xfrm>
          <a:prstGeom prst="rect">
            <a:avLst/>
          </a:prstGeom>
          <a:noFill/>
          <a:ln/>
        </p:spPr>
        <p:txBody>
          <a:bodyPr wrap="square" lIns="0" tIns="0" rIns="0" bIns="0" rtlCol="0" anchor="t"/>
          <a:lstStyle/>
          <a:p>
            <a:pPr algn="l" indent="0" marL="0">
              <a:buNone/>
            </a:pPr>
            <a:r>
              <a:rPr lang="en-US" sz="1250" b="1" dirty="0">
                <a:solidFill>
                  <a:srgbClr val="201E1B"/>
                </a:solidFill>
                <a:latin typeface="Calibri" pitchFamily="34" charset="0"/>
                <a:ea typeface="Calibri" pitchFamily="34" charset="-122"/>
                <a:cs typeface="Calibri" pitchFamily="34" charset="-120"/>
              </a:rPr>
              <a:t>Misplaced authority</a:t>
            </a:r>
            <a:endParaRPr lang="en-US" sz="1250" dirty="0"/>
          </a:p>
        </p:txBody>
      </p:sp>
      <p:sp>
        <p:nvSpPr>
          <p:cNvPr id="22" name="prob-3-b"/>
          <p:cNvSpPr txBox="1"/>
          <p:nvPr/>
        </p:nvSpPr>
        <p:spPr>
          <a:xfrm>
            <a:off x="6638544" y="5312664"/>
            <a:ext cx="4846320" cy="1280160"/>
          </a:xfrm>
          <a:prstGeom prst="rect">
            <a:avLst/>
          </a:prstGeom>
          <a:noFill/>
          <a:ln/>
        </p:spPr>
        <p:txBody>
          <a:bodyPr wrap="square" lIns="0" tIns="0" rIns="0" bIns="0" rtlCol="0" anchor="t"/>
          <a:lstStyle/>
          <a:p>
            <a:pPr algn="l" indent="0" marL="0">
              <a:lnSpc>
                <a:spcPct val="112000"/>
              </a:lnSpc>
              <a:buNone/>
            </a:pPr>
            <a:r>
              <a:rPr lang="en-US" sz="1000" dirty="0">
                <a:solidFill>
                  <a:srgbClr val="6E675E"/>
                </a:solidFill>
                <a:latin typeface="Calibri" pitchFamily="34" charset="0"/>
                <a:ea typeface="Calibri" pitchFamily="34" charset="-122"/>
                <a:cs typeface="Calibri" pitchFamily="34" charset="-120"/>
              </a:rPr>
              <a:t>A web page can contain a sentence addressed to the model, not the user. A model cannot reliably tell its operator's instructions from text it was asked to read.</a:t>
            </a:r>
            <a:endParaRPr lang="en-US" sz="1000" dirty="0"/>
          </a:p>
        </p:txBody>
      </p:sp>
      <p:sp>
        <p:nvSpPr>
          <p:cNvPr id="25" name="Slide Number Placeholder 0"/>
          <p:cNvSpPr>
            <a:spLocks noGrp="1"/>
          </p:cNvSpPr>
          <p:nvPr>
            <p:ph type="sldNum" sz="quarter" idx="4294967295"/>
          </p:nvPr>
        </p:nvSpPr>
        <p:spPr>
          <a:xfrm>
            <a:off x="11247120" y="635508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577"/>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789920" cy="237744"/>
          </a:xfrm>
          <a:prstGeom prst="rect">
            <a:avLst/>
          </a:prstGeom>
          <a:noFill/>
          <a:ln/>
        </p:spPr>
        <p:txBody>
          <a:bodyPr wrap="square" lIns="0" tIns="0" rIns="0" bIns="0" rtlCol="0" anchor="ctr"/>
          <a:lstStyle/>
          <a:p>
            <a:pPr algn="l" indent="0" marL="0">
              <a:buNone/>
            </a:pPr>
            <a:r>
              <a:rPr lang="en-US" sz="950" b="1" spc="250" kern="0" dirty="0">
                <a:solidFill>
                  <a:srgbClr val="8C8577"/>
                </a:solidFill>
                <a:latin typeface="Calibri" pitchFamily="34" charset="0"/>
                <a:ea typeface="Calibri" pitchFamily="34" charset="-122"/>
                <a:cs typeface="Calibri" pitchFamily="34" charset="-120"/>
              </a:rPr>
              <a:t>THE IDEA</a:t>
            </a:r>
            <a:endParaRPr lang="en-US" sz="950" dirty="0"/>
          </a:p>
        </p:txBody>
      </p:sp>
      <p:sp>
        <p:nvSpPr>
          <p:cNvPr id="3" name="Text 0"/>
          <p:cNvSpPr/>
          <p:nvPr>
            <p:ph idx="101" type="title" hasCustomPrompt="1"/>
          </p:nvPr>
        </p:nvSpPr>
        <p:spPr>
          <a:xfrm>
            <a:off x="685800" y="621792"/>
            <a:ext cx="10789920" cy="566928"/>
          </a:xfrm>
          <a:prstGeom prst="rect">
            <a:avLst/>
          </a:prstGeom>
          <a:noFill/>
          <a:ln/>
        </p:spPr>
        <p:txBody>
          <a:bodyPr wrap="square" lIns="0" tIns="0" rIns="0" bIns="0" rtlCol="0" anchor="ctr"/>
          <a:lstStyle/>
          <a:p>
            <a:pPr algn="l" indent="0" marL="0">
              <a:buNone/>
            </a:pPr>
            <a:r>
              <a:rPr lang="en-US" sz="3000" dirty="0">
                <a:solidFill>
                  <a:srgbClr val="201E1B"/>
                </a:solidFill>
                <a:latin typeface="Cambria" pitchFamily="34" charset="0"/>
                <a:ea typeface="Cambria" pitchFamily="34" charset="-122"/>
                <a:cs typeface="Cambria" pitchFamily="34" charset="-120"/>
              </a:rPr>
              <a:t>The model proposes. Code disposes</a:t>
            </a:r>
            <a:endParaRPr lang="en-US" sz="3000" dirty="0"/>
          </a:p>
        </p:txBody>
      </p:sp>
      <p:sp>
        <p:nvSpPr>
          <p:cNvPr id="4" name="idea-lede"/>
          <p:cNvSpPr txBox="1"/>
          <p:nvPr/>
        </p:nvSpPr>
        <p:spPr>
          <a:xfrm>
            <a:off x="685800" y="1417320"/>
            <a:ext cx="10789920" cy="475488"/>
          </a:xfrm>
          <a:prstGeom prst="rect">
            <a:avLst/>
          </a:prstGeom>
          <a:noFill/>
          <a:ln/>
        </p:spPr>
        <p:txBody>
          <a:bodyPr wrap="square" lIns="0" tIns="0" rIns="0" bIns="0" rtlCol="0" anchor="t"/>
          <a:lstStyle/>
          <a:p>
            <a:pPr algn="l" indent="0" marL="0">
              <a:lnSpc>
                <a:spcPct val="120000"/>
              </a:lnSpc>
              <a:buNone/>
            </a:pPr>
            <a:r>
              <a:rPr lang="en-US" sz="1300" dirty="0">
                <a:solidFill>
                  <a:srgbClr val="201E1B"/>
                </a:solidFill>
                <a:latin typeface="Calibri" pitchFamily="34" charset="0"/>
                <a:ea typeface="Calibri" pitchFamily="34" charset="-122"/>
                <a:cs typeface="Calibri" pitchFamily="34" charset="-120"/>
              </a:rPr>
              <a:t>No guarantee offered to the user may depend on the language model behaving correctly. Wherever the model produces something, deterministic code checks it before it has any effect.</a:t>
            </a:r>
            <a:endParaRPr lang="en-US" sz="1300" dirty="0"/>
          </a:p>
        </p:txBody>
      </p:sp>
      <p:sp>
        <p:nvSpPr>
          <p:cNvPr id="5" name="hdr-conv"/>
          <p:cNvSpPr txBox="1"/>
          <p:nvPr/>
        </p:nvSpPr>
        <p:spPr>
          <a:xfrm>
            <a:off x="4069080" y="2011680"/>
            <a:ext cx="3383280" cy="237744"/>
          </a:xfrm>
          <a:prstGeom prst="rect">
            <a:avLst/>
          </a:prstGeom>
          <a:noFill/>
          <a:ln/>
        </p:spPr>
        <p:txBody>
          <a:bodyPr wrap="square" lIns="0" tIns="0" rIns="0" bIns="0" rtlCol="0" anchor="ctr"/>
          <a:lstStyle/>
          <a:p>
            <a:pPr algn="l" indent="0" marL="0">
              <a:buNone/>
            </a:pPr>
            <a:r>
              <a:rPr lang="en-US" sz="900" b="1" spc="160" kern="0" dirty="0">
                <a:solidFill>
                  <a:srgbClr val="8C8577"/>
                </a:solidFill>
                <a:latin typeface="Calibri" pitchFamily="34" charset="0"/>
                <a:ea typeface="Calibri" pitchFamily="34" charset="-122"/>
                <a:cs typeface="Calibri" pitchFamily="34" charset="-120"/>
              </a:rPr>
              <a:t>CONVENTIONAL ASSISTANT</a:t>
            </a:r>
            <a:endParaRPr lang="en-US" sz="900" dirty="0"/>
          </a:p>
        </p:txBody>
      </p:sp>
      <p:sp>
        <p:nvSpPr>
          <p:cNvPr id="6" name="hdr-tess"/>
          <p:cNvSpPr txBox="1"/>
          <p:nvPr/>
        </p:nvSpPr>
        <p:spPr>
          <a:xfrm>
            <a:off x="8110728" y="2011680"/>
            <a:ext cx="2194560" cy="237744"/>
          </a:xfrm>
          <a:prstGeom prst="rect">
            <a:avLst/>
          </a:prstGeom>
          <a:noFill/>
          <a:ln/>
        </p:spPr>
        <p:txBody>
          <a:bodyPr wrap="square" lIns="0" tIns="0" rIns="0" bIns="0" rtlCol="0" anchor="ctr"/>
          <a:lstStyle/>
          <a:p>
            <a:pPr algn="l" indent="0" marL="0">
              <a:buNone/>
            </a:pPr>
            <a:r>
              <a:rPr lang="en-US" sz="900" b="1" spc="160" kern="0" dirty="0">
                <a:solidFill>
                  <a:srgbClr val="A85A45"/>
                </a:solidFill>
                <a:latin typeface="Calibri" pitchFamily="34" charset="0"/>
                <a:ea typeface="Calibri" pitchFamily="34" charset="-122"/>
                <a:cs typeface="Calibri" pitchFamily="34" charset="-120"/>
              </a:rPr>
              <a:t>TESSERA</a:t>
            </a:r>
            <a:endParaRPr lang="en-US" sz="900" dirty="0"/>
          </a:p>
        </p:txBody>
      </p:sp>
      <p:sp>
        <p:nvSpPr>
          <p:cNvPr id="7" name="cmp-hi-0"/>
          <p:cNvSpPr/>
          <p:nvPr/>
        </p:nvSpPr>
        <p:spPr>
          <a:xfrm>
            <a:off x="7909560" y="2286000"/>
            <a:ext cx="3566160" cy="786384"/>
          </a:xfrm>
          <a:prstGeom prst="roundRect">
            <a:avLst>
              <a:gd name="adj" fmla="val 4651"/>
            </a:avLst>
          </a:prstGeom>
          <a:solidFill>
            <a:srgbClr val="E7E3DA"/>
          </a:solidFill>
          <a:ln/>
        </p:spPr>
      </p:sp>
      <p:sp>
        <p:nvSpPr>
          <p:cNvPr id="8" name="cmp-k-0"/>
          <p:cNvSpPr txBox="1"/>
          <p:nvPr/>
        </p:nvSpPr>
        <p:spPr>
          <a:xfrm>
            <a:off x="685800" y="2286000"/>
            <a:ext cx="3200400" cy="786384"/>
          </a:xfrm>
          <a:prstGeom prst="rect">
            <a:avLst/>
          </a:prstGeom>
          <a:noFill/>
          <a:ln/>
        </p:spPr>
        <p:txBody>
          <a:bodyPr wrap="square" lIns="0" tIns="0" rIns="0" bIns="0" rtlCol="0" anchor="ctr"/>
          <a:lstStyle/>
          <a:p>
            <a:pPr algn="l" indent="0" marL="0">
              <a:lnSpc>
                <a:spcPct val="110000"/>
              </a:lnSpc>
              <a:buNone/>
            </a:pPr>
            <a:r>
              <a:rPr lang="en-US" sz="1150" b="1" dirty="0">
                <a:solidFill>
                  <a:srgbClr val="201E1B"/>
                </a:solidFill>
                <a:latin typeface="Calibri" pitchFamily="34" charset="0"/>
                <a:ea typeface="Calibri" pitchFamily="34" charset="-122"/>
                <a:cs typeface="Calibri" pitchFamily="34" charset="-120"/>
              </a:rPr>
              <a:t>Where the text goes</a:t>
            </a:r>
            <a:endParaRPr lang="en-US" sz="1150" dirty="0"/>
          </a:p>
        </p:txBody>
      </p:sp>
      <p:sp>
        <p:nvSpPr>
          <p:cNvPr id="9" name="cmp-a-0"/>
          <p:cNvSpPr txBox="1"/>
          <p:nvPr/>
        </p:nvSpPr>
        <p:spPr>
          <a:xfrm>
            <a:off x="4069080" y="2286000"/>
            <a:ext cx="3566160" cy="786384"/>
          </a:xfrm>
          <a:prstGeom prst="rect">
            <a:avLst/>
          </a:prstGeom>
          <a:noFill/>
          <a:ln/>
        </p:spPr>
        <p:txBody>
          <a:bodyPr wrap="square" lIns="0" tIns="0" rIns="0" bIns="0" rtlCol="0" anchor="ctr"/>
          <a:lstStyle/>
          <a:p>
            <a:pPr algn="l" indent="0" marL="0">
              <a:lnSpc>
                <a:spcPct val="110000"/>
              </a:lnSpc>
              <a:buNone/>
            </a:pPr>
            <a:r>
              <a:rPr lang="en-US" sz="1100" dirty="0">
                <a:solidFill>
                  <a:srgbClr val="6E675E"/>
                </a:solidFill>
                <a:latin typeface="Calibri" pitchFamily="34" charset="0"/>
                <a:ea typeface="Calibri" pitchFamily="34" charset="-122"/>
                <a:cs typeface="Calibri" pitchFamily="34" charset="-120"/>
              </a:rPr>
              <a:t>To a provider's servers</a:t>
            </a:r>
            <a:endParaRPr lang="en-US" sz="1100" dirty="0"/>
          </a:p>
        </p:txBody>
      </p:sp>
      <p:sp>
        <p:nvSpPr>
          <p:cNvPr id="10" name="cmp-b-0"/>
          <p:cNvSpPr txBox="1"/>
          <p:nvPr/>
        </p:nvSpPr>
        <p:spPr>
          <a:xfrm>
            <a:off x="8110728" y="2286000"/>
            <a:ext cx="3163824" cy="786384"/>
          </a:xfrm>
          <a:prstGeom prst="rect">
            <a:avLst/>
          </a:prstGeom>
          <a:noFill/>
          <a:ln/>
        </p:spPr>
        <p:txBody>
          <a:bodyPr wrap="square" lIns="0" tIns="0" rIns="0" bIns="0" rtlCol="0" anchor="ctr"/>
          <a:lstStyle/>
          <a:p>
            <a:pPr algn="l" indent="0" marL="0">
              <a:lnSpc>
                <a:spcPct val="110000"/>
              </a:lnSpc>
              <a:buNone/>
            </a:pPr>
            <a:r>
              <a:rPr lang="en-US" sz="1100" dirty="0">
                <a:solidFill>
                  <a:srgbClr val="201E1B"/>
                </a:solidFill>
                <a:latin typeface="Calibri" pitchFamily="34" charset="0"/>
                <a:ea typeface="Calibri" pitchFamily="34" charset="-122"/>
                <a:cs typeface="Calibri" pitchFamily="34" charset="-120"/>
              </a:rPr>
              <a:t>Never leaves the machine; inference on 127.0.0.1</a:t>
            </a:r>
            <a:endParaRPr lang="en-US" sz="1100" dirty="0"/>
          </a:p>
        </p:txBody>
      </p:sp>
      <p:sp>
        <p:nvSpPr>
          <p:cNvPr id="11" name="cmp-hi-1"/>
          <p:cNvSpPr/>
          <p:nvPr/>
        </p:nvSpPr>
        <p:spPr>
          <a:xfrm>
            <a:off x="7909560" y="3145536"/>
            <a:ext cx="3566160" cy="786384"/>
          </a:xfrm>
          <a:prstGeom prst="roundRect">
            <a:avLst>
              <a:gd name="adj" fmla="val 4651"/>
            </a:avLst>
          </a:prstGeom>
          <a:solidFill>
            <a:srgbClr val="E7E3DA"/>
          </a:solidFill>
          <a:ln/>
        </p:spPr>
      </p:sp>
      <p:sp>
        <p:nvSpPr>
          <p:cNvPr id="12" name="cmp-k-1"/>
          <p:cNvSpPr txBox="1"/>
          <p:nvPr/>
        </p:nvSpPr>
        <p:spPr>
          <a:xfrm>
            <a:off x="685800" y="3145536"/>
            <a:ext cx="3200400" cy="786384"/>
          </a:xfrm>
          <a:prstGeom prst="rect">
            <a:avLst/>
          </a:prstGeom>
          <a:noFill/>
          <a:ln/>
        </p:spPr>
        <p:txBody>
          <a:bodyPr wrap="square" lIns="0" tIns="0" rIns="0" bIns="0" rtlCol="0" anchor="ctr"/>
          <a:lstStyle/>
          <a:p>
            <a:pPr algn="l" indent="0" marL="0">
              <a:lnSpc>
                <a:spcPct val="110000"/>
              </a:lnSpc>
              <a:buNone/>
            </a:pPr>
            <a:r>
              <a:rPr lang="en-US" sz="1150" b="1" dirty="0">
                <a:solidFill>
                  <a:srgbClr val="201E1B"/>
                </a:solidFill>
                <a:latin typeface="Calibri" pitchFamily="34" charset="0"/>
                <a:ea typeface="Calibri" pitchFamily="34" charset="-122"/>
                <a:cs typeface="Calibri" pitchFamily="34" charset="-120"/>
              </a:rPr>
              <a:t>What the model is trusted with</a:t>
            </a:r>
            <a:endParaRPr lang="en-US" sz="1150" dirty="0"/>
          </a:p>
        </p:txBody>
      </p:sp>
      <p:sp>
        <p:nvSpPr>
          <p:cNvPr id="13" name="cmp-a-1"/>
          <p:cNvSpPr txBox="1"/>
          <p:nvPr/>
        </p:nvSpPr>
        <p:spPr>
          <a:xfrm>
            <a:off x="4069080" y="3145536"/>
            <a:ext cx="3566160" cy="786384"/>
          </a:xfrm>
          <a:prstGeom prst="rect">
            <a:avLst/>
          </a:prstGeom>
          <a:noFill/>
          <a:ln/>
        </p:spPr>
        <p:txBody>
          <a:bodyPr wrap="square" lIns="0" tIns="0" rIns="0" bIns="0" rtlCol="0" anchor="ctr"/>
          <a:lstStyle/>
          <a:p>
            <a:pPr algn="l" indent="0" marL="0">
              <a:lnSpc>
                <a:spcPct val="110000"/>
              </a:lnSpc>
              <a:buNone/>
            </a:pPr>
            <a:r>
              <a:rPr lang="en-US" sz="1100" dirty="0">
                <a:solidFill>
                  <a:srgbClr val="6E675E"/>
                </a:solidFill>
                <a:latin typeface="Calibri" pitchFamily="34" charset="0"/>
                <a:ea typeface="Calibri" pitchFamily="34" charset="-122"/>
                <a:cs typeface="Calibri" pitchFamily="34" charset="-120"/>
              </a:rPr>
              <a:t>Reading, judging and often acting</a:t>
            </a:r>
            <a:endParaRPr lang="en-US" sz="1100" dirty="0"/>
          </a:p>
        </p:txBody>
      </p:sp>
      <p:sp>
        <p:nvSpPr>
          <p:cNvPr id="14" name="cmp-b-1"/>
          <p:cNvSpPr txBox="1"/>
          <p:nvPr/>
        </p:nvSpPr>
        <p:spPr>
          <a:xfrm>
            <a:off x="8110728" y="3145536"/>
            <a:ext cx="3163824" cy="786384"/>
          </a:xfrm>
          <a:prstGeom prst="rect">
            <a:avLst/>
          </a:prstGeom>
          <a:noFill/>
          <a:ln/>
        </p:spPr>
        <p:txBody>
          <a:bodyPr wrap="square" lIns="0" tIns="0" rIns="0" bIns="0" rtlCol="0" anchor="ctr"/>
          <a:lstStyle/>
          <a:p>
            <a:pPr algn="l" indent="0" marL="0">
              <a:lnSpc>
                <a:spcPct val="110000"/>
              </a:lnSpc>
              <a:buNone/>
            </a:pPr>
            <a:r>
              <a:rPr lang="en-US" sz="1100" dirty="0">
                <a:solidFill>
                  <a:srgbClr val="201E1B"/>
                </a:solidFill>
                <a:latin typeface="Calibri" pitchFamily="34" charset="0"/>
                <a:ea typeface="Calibri" pitchFamily="34" charset="-122"/>
                <a:cs typeface="Calibri" pitchFamily="34" charset="-120"/>
              </a:rPr>
              <a:t>Proposing JSON only — it has no tools and cannot act</a:t>
            </a:r>
            <a:endParaRPr lang="en-US" sz="1100" dirty="0"/>
          </a:p>
        </p:txBody>
      </p:sp>
      <p:sp>
        <p:nvSpPr>
          <p:cNvPr id="15" name="cmp-hi-2"/>
          <p:cNvSpPr/>
          <p:nvPr/>
        </p:nvSpPr>
        <p:spPr>
          <a:xfrm>
            <a:off x="7909560" y="4005072"/>
            <a:ext cx="3566160" cy="786384"/>
          </a:xfrm>
          <a:prstGeom prst="roundRect">
            <a:avLst>
              <a:gd name="adj" fmla="val 4651"/>
            </a:avLst>
          </a:prstGeom>
          <a:solidFill>
            <a:srgbClr val="E7E3DA"/>
          </a:solidFill>
          <a:ln/>
        </p:spPr>
      </p:sp>
      <p:sp>
        <p:nvSpPr>
          <p:cNvPr id="16" name="cmp-k-2"/>
          <p:cNvSpPr txBox="1"/>
          <p:nvPr/>
        </p:nvSpPr>
        <p:spPr>
          <a:xfrm>
            <a:off x="685800" y="4005072"/>
            <a:ext cx="3200400" cy="786384"/>
          </a:xfrm>
          <a:prstGeom prst="rect">
            <a:avLst/>
          </a:prstGeom>
          <a:noFill/>
          <a:ln/>
        </p:spPr>
        <p:txBody>
          <a:bodyPr wrap="square" lIns="0" tIns="0" rIns="0" bIns="0" rtlCol="0" anchor="ctr"/>
          <a:lstStyle/>
          <a:p>
            <a:pPr algn="l" indent="0" marL="0">
              <a:lnSpc>
                <a:spcPct val="110000"/>
              </a:lnSpc>
              <a:buNone/>
            </a:pPr>
            <a:r>
              <a:rPr lang="en-US" sz="1150" b="1" dirty="0">
                <a:solidFill>
                  <a:srgbClr val="201E1B"/>
                </a:solidFill>
                <a:latin typeface="Calibri" pitchFamily="34" charset="0"/>
                <a:ea typeface="Calibri" pitchFamily="34" charset="-122"/>
                <a:cs typeface="Calibri" pitchFamily="34" charset="-120"/>
              </a:rPr>
              <a:t>What you can check afterwards</a:t>
            </a:r>
            <a:endParaRPr lang="en-US" sz="1150" dirty="0"/>
          </a:p>
        </p:txBody>
      </p:sp>
      <p:sp>
        <p:nvSpPr>
          <p:cNvPr id="17" name="cmp-a-2"/>
          <p:cNvSpPr txBox="1"/>
          <p:nvPr/>
        </p:nvSpPr>
        <p:spPr>
          <a:xfrm>
            <a:off x="4069080" y="4005072"/>
            <a:ext cx="3566160" cy="786384"/>
          </a:xfrm>
          <a:prstGeom prst="rect">
            <a:avLst/>
          </a:prstGeom>
          <a:noFill/>
          <a:ln/>
        </p:spPr>
        <p:txBody>
          <a:bodyPr wrap="square" lIns="0" tIns="0" rIns="0" bIns="0" rtlCol="0" anchor="ctr"/>
          <a:lstStyle/>
          <a:p>
            <a:pPr algn="l" indent="0" marL="0">
              <a:lnSpc>
                <a:spcPct val="110000"/>
              </a:lnSpc>
              <a:buNone/>
            </a:pPr>
            <a:r>
              <a:rPr lang="en-US" sz="1100" dirty="0">
                <a:solidFill>
                  <a:srgbClr val="6E675E"/>
                </a:solidFill>
                <a:latin typeface="Calibri" pitchFamily="34" charset="0"/>
                <a:ea typeface="Calibri" pitchFamily="34" charset="-122"/>
                <a:cs typeface="Calibri" pitchFamily="34" charset="-120"/>
              </a:rPr>
              <a:t>The answer, and whether it sounds right</a:t>
            </a:r>
            <a:endParaRPr lang="en-US" sz="1100" dirty="0"/>
          </a:p>
        </p:txBody>
      </p:sp>
      <p:sp>
        <p:nvSpPr>
          <p:cNvPr id="18" name="cmp-b-2"/>
          <p:cNvSpPr txBox="1"/>
          <p:nvPr/>
        </p:nvSpPr>
        <p:spPr>
          <a:xfrm>
            <a:off x="8110728" y="4005072"/>
            <a:ext cx="3163824" cy="786384"/>
          </a:xfrm>
          <a:prstGeom prst="rect">
            <a:avLst/>
          </a:prstGeom>
          <a:noFill/>
          <a:ln/>
        </p:spPr>
        <p:txBody>
          <a:bodyPr wrap="square" lIns="0" tIns="0" rIns="0" bIns="0" rtlCol="0" anchor="ctr"/>
          <a:lstStyle/>
          <a:p>
            <a:pPr algn="l" indent="0" marL="0">
              <a:lnSpc>
                <a:spcPct val="110000"/>
              </a:lnSpc>
              <a:buNone/>
            </a:pPr>
            <a:r>
              <a:rPr lang="en-US" sz="1100" dirty="0">
                <a:solidFill>
                  <a:srgbClr val="201E1B"/>
                </a:solidFill>
                <a:latin typeface="Calibri" pitchFamily="34" charset="0"/>
                <a:ea typeface="Calibri" pitchFamily="34" charset="-122"/>
                <a:cs typeface="Calibri" pitchFamily="34" charset="-120"/>
              </a:rPr>
              <a:t>Every fact carries the verbatim span it came from</a:t>
            </a:r>
            <a:endParaRPr lang="en-US" sz="1100" dirty="0"/>
          </a:p>
        </p:txBody>
      </p:sp>
      <p:sp>
        <p:nvSpPr>
          <p:cNvPr id="19" name="cmp-hi-3"/>
          <p:cNvSpPr/>
          <p:nvPr/>
        </p:nvSpPr>
        <p:spPr>
          <a:xfrm>
            <a:off x="7909560" y="4864608"/>
            <a:ext cx="3566160" cy="786384"/>
          </a:xfrm>
          <a:prstGeom prst="roundRect">
            <a:avLst>
              <a:gd name="adj" fmla="val 4651"/>
            </a:avLst>
          </a:prstGeom>
          <a:solidFill>
            <a:srgbClr val="E7E3DA"/>
          </a:solidFill>
          <a:ln/>
        </p:spPr>
      </p:sp>
      <p:sp>
        <p:nvSpPr>
          <p:cNvPr id="20" name="cmp-k-3"/>
          <p:cNvSpPr txBox="1"/>
          <p:nvPr/>
        </p:nvSpPr>
        <p:spPr>
          <a:xfrm>
            <a:off x="685800" y="4864608"/>
            <a:ext cx="3200400" cy="786384"/>
          </a:xfrm>
          <a:prstGeom prst="rect">
            <a:avLst/>
          </a:prstGeom>
          <a:noFill/>
          <a:ln/>
        </p:spPr>
        <p:txBody>
          <a:bodyPr wrap="square" lIns="0" tIns="0" rIns="0" bIns="0" rtlCol="0" anchor="ctr"/>
          <a:lstStyle/>
          <a:p>
            <a:pPr algn="l" indent="0" marL="0">
              <a:lnSpc>
                <a:spcPct val="110000"/>
              </a:lnSpc>
              <a:buNone/>
            </a:pPr>
            <a:r>
              <a:rPr lang="en-US" sz="1150" b="1" dirty="0">
                <a:solidFill>
                  <a:srgbClr val="201E1B"/>
                </a:solidFill>
                <a:latin typeface="Calibri" pitchFamily="34" charset="0"/>
                <a:ea typeface="Calibri" pitchFamily="34" charset="-122"/>
                <a:cs typeface="Calibri" pitchFamily="34" charset="-120"/>
              </a:rPr>
              <a:t>What an injected instruction achieves</a:t>
            </a:r>
            <a:endParaRPr lang="en-US" sz="1150" dirty="0"/>
          </a:p>
        </p:txBody>
      </p:sp>
      <p:sp>
        <p:nvSpPr>
          <p:cNvPr id="21" name="cmp-a-3"/>
          <p:cNvSpPr txBox="1"/>
          <p:nvPr/>
        </p:nvSpPr>
        <p:spPr>
          <a:xfrm>
            <a:off x="4069080" y="4864608"/>
            <a:ext cx="3566160" cy="786384"/>
          </a:xfrm>
          <a:prstGeom prst="rect">
            <a:avLst/>
          </a:prstGeom>
          <a:noFill/>
          <a:ln/>
        </p:spPr>
        <p:txBody>
          <a:bodyPr wrap="square" lIns="0" tIns="0" rIns="0" bIns="0" rtlCol="0" anchor="ctr"/>
          <a:lstStyle/>
          <a:p>
            <a:pPr algn="l" indent="0" marL="0">
              <a:lnSpc>
                <a:spcPct val="110000"/>
              </a:lnSpc>
              <a:buNone/>
            </a:pPr>
            <a:r>
              <a:rPr lang="en-US" sz="1100" dirty="0">
                <a:solidFill>
                  <a:srgbClr val="6E675E"/>
                </a:solidFill>
                <a:latin typeface="Calibri" pitchFamily="34" charset="0"/>
                <a:ea typeface="Calibri" pitchFamily="34" charset="-122"/>
                <a:cs typeface="Calibri" pitchFamily="34" charset="-120"/>
              </a:rPr>
              <a:t>Whatever the model's tools allow</a:t>
            </a:r>
            <a:endParaRPr lang="en-US" sz="1100" dirty="0"/>
          </a:p>
        </p:txBody>
      </p:sp>
      <p:sp>
        <p:nvSpPr>
          <p:cNvPr id="22" name="cmp-b-3"/>
          <p:cNvSpPr txBox="1"/>
          <p:nvPr/>
        </p:nvSpPr>
        <p:spPr>
          <a:xfrm>
            <a:off x="8110728" y="4864608"/>
            <a:ext cx="3163824" cy="786384"/>
          </a:xfrm>
          <a:prstGeom prst="rect">
            <a:avLst/>
          </a:prstGeom>
          <a:noFill/>
          <a:ln/>
        </p:spPr>
        <p:txBody>
          <a:bodyPr wrap="square" lIns="0" tIns="0" rIns="0" bIns="0" rtlCol="0" anchor="ctr"/>
          <a:lstStyle/>
          <a:p>
            <a:pPr algn="l" indent="0" marL="0">
              <a:lnSpc>
                <a:spcPct val="110000"/>
              </a:lnSpc>
              <a:buNone/>
            </a:pPr>
            <a:r>
              <a:rPr lang="en-US" sz="1100" dirty="0">
                <a:solidFill>
                  <a:srgbClr val="201E1B"/>
                </a:solidFill>
                <a:latin typeface="Calibri" pitchFamily="34" charset="0"/>
                <a:ea typeface="Calibri" pitchFamily="34" charset="-122"/>
                <a:cs typeface="Calibri" pitchFamily="34" charset="-120"/>
              </a:rPr>
              <a:t>At most a misleading line of text you read</a:t>
            </a:r>
            <a:endParaRPr lang="en-US" sz="1100" dirty="0"/>
          </a:p>
        </p:txBody>
      </p:sp>
      <p:sp>
        <p:nvSpPr>
          <p:cNvPr id="23" name="idea-cap"/>
          <p:cNvSpPr txBox="1"/>
          <p:nvPr/>
        </p:nvSpPr>
        <p:spPr>
          <a:xfrm>
            <a:off x="685800" y="5870448"/>
            <a:ext cx="10789920" cy="310896"/>
          </a:xfrm>
          <a:prstGeom prst="rect">
            <a:avLst/>
          </a:prstGeom>
          <a:noFill/>
          <a:ln/>
        </p:spPr>
        <p:txBody>
          <a:bodyPr wrap="square" lIns="0" tIns="0" rIns="0" bIns="0" rtlCol="0" anchor="t"/>
          <a:lstStyle/>
          <a:p>
            <a:pPr algn="l" indent="0" marL="0">
              <a:buNone/>
            </a:pPr>
            <a:r>
              <a:rPr lang="en-US" sz="950" i="1" dirty="0">
                <a:solidFill>
                  <a:srgbClr val="6E675E"/>
                </a:solidFill>
                <a:latin typeface="Calibri" pitchFamily="34" charset="0"/>
                <a:ea typeface="Calibri" pitchFamily="34" charset="-122"/>
                <a:cs typeface="Calibri" pitchFamily="34" charset="-120"/>
              </a:rPr>
              <a:t>The right-hand column is enforced by code paths and database constraints, not by prompt wording — which is why slide 12 can report a hallucination rate of zero while the model's accuracy misses its target.</a:t>
            </a:r>
            <a:endParaRPr lang="en-US" sz="950" dirty="0"/>
          </a:p>
        </p:txBody>
      </p:sp>
      <p:sp>
        <p:nvSpPr>
          <p:cNvPr id="25" name="Slide Number Placeholder 0"/>
          <p:cNvSpPr>
            <a:spLocks noGrp="1"/>
          </p:cNvSpPr>
          <p:nvPr>
            <p:ph type="sldNum" sz="quarter" idx="4294967295"/>
          </p:nvPr>
        </p:nvSpPr>
        <p:spPr>
          <a:xfrm>
            <a:off x="11247120" y="635508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577"/>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789920" cy="237744"/>
          </a:xfrm>
          <a:prstGeom prst="rect">
            <a:avLst/>
          </a:prstGeom>
          <a:noFill/>
          <a:ln/>
        </p:spPr>
        <p:txBody>
          <a:bodyPr wrap="square" lIns="0" tIns="0" rIns="0" bIns="0" rtlCol="0" anchor="ctr"/>
          <a:lstStyle/>
          <a:p>
            <a:pPr algn="l" indent="0" marL="0">
              <a:buNone/>
            </a:pPr>
            <a:r>
              <a:rPr lang="en-US" sz="950" b="1" spc="250" kern="0" dirty="0">
                <a:solidFill>
                  <a:srgbClr val="8C8577"/>
                </a:solidFill>
                <a:latin typeface="Calibri" pitchFamily="34" charset="0"/>
                <a:ea typeface="Calibri" pitchFamily="34" charset="-122"/>
                <a:cs typeface="Calibri" pitchFamily="34" charset="-120"/>
              </a:rPr>
              <a:t>HOW IT WORKS</a:t>
            </a:r>
            <a:endParaRPr lang="en-US" sz="950" dirty="0"/>
          </a:p>
        </p:txBody>
      </p:sp>
      <p:sp>
        <p:nvSpPr>
          <p:cNvPr id="3" name="Text 0"/>
          <p:cNvSpPr/>
          <p:nvPr>
            <p:ph idx="101" type="title" hasCustomPrompt="1"/>
          </p:nvPr>
        </p:nvSpPr>
        <p:spPr>
          <a:xfrm>
            <a:off x="685800" y="621792"/>
            <a:ext cx="10789920" cy="566928"/>
          </a:xfrm>
          <a:prstGeom prst="rect">
            <a:avLst/>
          </a:prstGeom>
          <a:noFill/>
          <a:ln/>
        </p:spPr>
        <p:txBody>
          <a:bodyPr wrap="square" lIns="0" tIns="0" rIns="0" bIns="0" rtlCol="0" anchor="ctr"/>
          <a:lstStyle/>
          <a:p>
            <a:pPr algn="l" indent="0" marL="0">
              <a:buNone/>
            </a:pPr>
            <a:r>
              <a:rPr lang="en-US" sz="3000" dirty="0">
                <a:solidFill>
                  <a:srgbClr val="201E1B"/>
                </a:solidFill>
                <a:latin typeface="Cambria" pitchFamily="34" charset="0"/>
                <a:ea typeface="Cambria" pitchFamily="34" charset="-122"/>
                <a:cs typeface="Cambria" pitchFamily="34" charset="-120"/>
              </a:rPr>
              <a:t>From a window changing to an answer you can check</a:t>
            </a:r>
            <a:endParaRPr lang="en-US" sz="3000" dirty="0"/>
          </a:p>
        </p:txBody>
      </p:sp>
      <p:sp>
        <p:nvSpPr>
          <p:cNvPr id="4" name="step-1-ring"/>
          <p:cNvSpPr/>
          <p:nvPr/>
        </p:nvSpPr>
        <p:spPr>
          <a:xfrm>
            <a:off x="685800" y="1481328"/>
            <a:ext cx="347472" cy="347472"/>
          </a:xfrm>
          <a:prstGeom prst="ellipse">
            <a:avLst/>
          </a:prstGeom>
          <a:ln w="12700">
            <a:solidFill>
              <a:srgbClr val="A85A45"/>
            </a:solidFill>
            <a:prstDash val="solid"/>
          </a:ln>
        </p:spPr>
      </p:sp>
      <p:sp>
        <p:nvSpPr>
          <p:cNvPr id="5" name="step-1-num"/>
          <p:cNvSpPr txBox="1"/>
          <p:nvPr/>
        </p:nvSpPr>
        <p:spPr>
          <a:xfrm>
            <a:off x="685800" y="1481328"/>
            <a:ext cx="347472" cy="347472"/>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1</a:t>
            </a:r>
            <a:endParaRPr lang="en-US" sz="1100" dirty="0"/>
          </a:p>
        </p:txBody>
      </p:sp>
      <p:sp>
        <p:nvSpPr>
          <p:cNvPr id="6" name="flow-0"/>
          <p:cNvSpPr/>
          <p:nvPr/>
        </p:nvSpPr>
        <p:spPr>
          <a:xfrm>
            <a:off x="685800" y="1938528"/>
            <a:ext cx="1975104" cy="914400"/>
          </a:xfrm>
          <a:prstGeom prst="roundRect">
            <a:avLst>
              <a:gd name="adj" fmla="val 5000"/>
            </a:avLst>
          </a:prstGeom>
          <a:solidFill>
            <a:srgbClr val="FFFFFF"/>
          </a:solidFill>
          <a:ln w="9525">
            <a:solidFill>
              <a:srgbClr val="C4BCAE"/>
            </a:solidFill>
            <a:prstDash val="solid"/>
          </a:ln>
        </p:spPr>
      </p:sp>
      <p:sp>
        <p:nvSpPr>
          <p:cNvPr id="7" name="flow-0-label"/>
          <p:cNvSpPr txBox="1"/>
          <p:nvPr/>
        </p:nvSpPr>
        <p:spPr>
          <a:xfrm>
            <a:off x="740664" y="1938528"/>
            <a:ext cx="1865376" cy="914400"/>
          </a:xfrm>
          <a:prstGeom prst="rect">
            <a:avLst/>
          </a:prstGeom>
          <a:noFill/>
          <a:ln/>
        </p:spPr>
        <p:txBody>
          <a:bodyPr wrap="square" lIns="0" tIns="0" rIns="0" bIns="0" rtlCol="0" anchor="ctr"/>
          <a:lstStyle/>
          <a:p>
            <a:pPr algn="ctr" indent="0" marL="0">
              <a:lnSpc>
                <a:spcPct val="105000"/>
              </a:lnSpc>
              <a:buNone/>
            </a:pPr>
            <a:r>
              <a:rPr lang="en-US" sz="1100" b="1" dirty="0">
                <a:solidFill>
                  <a:srgbClr val="201E1B"/>
                </a:solidFill>
                <a:latin typeface="Calibri" pitchFamily="34" charset="0"/>
                <a:ea typeface="Calibri" pitchFamily="34" charset="-122"/>
                <a:cs typeface="Calibri" pitchFamily="34" charset="-120"/>
              </a:rPr>
              <a:t>Window changes</a:t>
            </a:r>
            <a:endParaRPr lang="en-US" sz="1100" dirty="0"/>
          </a:p>
          <a:p>
            <a:pPr algn="ctr" indent="0" marL="0">
              <a:lnSpc>
                <a:spcPct val="105000"/>
              </a:lnSpc>
              <a:buNone/>
            </a:pPr>
            <a:r>
              <a:rPr lang="en-US" sz="850" dirty="0">
                <a:solidFill>
                  <a:srgbClr val="6E675E"/>
                </a:solidFill>
                <a:latin typeface="Calibri" pitchFamily="34" charset="0"/>
                <a:ea typeface="Calibri" pitchFamily="34" charset="-122"/>
                <a:cs typeface="Calibri" pitchFamily="34" charset="-120"/>
              </a:rPr>
              <a:t>Focus or title event from the OS hook</a:t>
            </a:r>
            <a:endParaRPr lang="en-US" sz="1100" dirty="0"/>
          </a:p>
        </p:txBody>
      </p:sp>
      <p:sp>
        <p:nvSpPr>
          <p:cNvPr id="8" name="flow-arr-0"/>
          <p:cNvSpPr/>
          <p:nvPr/>
        </p:nvSpPr>
        <p:spPr>
          <a:xfrm>
            <a:off x="2697480" y="2395728"/>
            <a:ext cx="164592" cy="0"/>
          </a:xfrm>
          <a:prstGeom prst="line">
            <a:avLst/>
          </a:prstGeom>
          <a:noFill/>
          <a:ln w="12700">
            <a:solidFill>
              <a:srgbClr val="C4BCAE"/>
            </a:solidFill>
            <a:prstDash val="solid"/>
            <a:tailEnd type="triangle"/>
          </a:ln>
        </p:spPr>
      </p:sp>
      <p:sp>
        <p:nvSpPr>
          <p:cNvPr id="9" name="step-2-ring"/>
          <p:cNvSpPr/>
          <p:nvPr/>
        </p:nvSpPr>
        <p:spPr>
          <a:xfrm>
            <a:off x="2898648" y="1481328"/>
            <a:ext cx="347472" cy="347472"/>
          </a:xfrm>
          <a:prstGeom prst="ellipse">
            <a:avLst/>
          </a:prstGeom>
          <a:ln w="12700">
            <a:solidFill>
              <a:srgbClr val="A85A45"/>
            </a:solidFill>
            <a:prstDash val="solid"/>
          </a:ln>
        </p:spPr>
      </p:sp>
      <p:sp>
        <p:nvSpPr>
          <p:cNvPr id="10" name="step-2-num"/>
          <p:cNvSpPr txBox="1"/>
          <p:nvPr/>
        </p:nvSpPr>
        <p:spPr>
          <a:xfrm>
            <a:off x="2898648" y="1481328"/>
            <a:ext cx="347472" cy="347472"/>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2</a:t>
            </a:r>
            <a:endParaRPr lang="en-US" sz="1100" dirty="0"/>
          </a:p>
        </p:txBody>
      </p:sp>
      <p:sp>
        <p:nvSpPr>
          <p:cNvPr id="11" name="flow-1"/>
          <p:cNvSpPr/>
          <p:nvPr/>
        </p:nvSpPr>
        <p:spPr>
          <a:xfrm>
            <a:off x="2898648" y="1938528"/>
            <a:ext cx="1975104" cy="914400"/>
          </a:xfrm>
          <a:prstGeom prst="roundRect">
            <a:avLst>
              <a:gd name="adj" fmla="val 5000"/>
            </a:avLst>
          </a:prstGeom>
          <a:solidFill>
            <a:srgbClr val="FFFFFF"/>
          </a:solidFill>
          <a:ln w="9525">
            <a:solidFill>
              <a:srgbClr val="C4BCAE"/>
            </a:solidFill>
            <a:prstDash val="solid"/>
          </a:ln>
        </p:spPr>
      </p:sp>
      <p:sp>
        <p:nvSpPr>
          <p:cNvPr id="12" name="flow-1-label"/>
          <p:cNvSpPr txBox="1"/>
          <p:nvPr/>
        </p:nvSpPr>
        <p:spPr>
          <a:xfrm>
            <a:off x="2953512" y="1938528"/>
            <a:ext cx="1865376" cy="914400"/>
          </a:xfrm>
          <a:prstGeom prst="rect">
            <a:avLst/>
          </a:prstGeom>
          <a:noFill/>
          <a:ln/>
        </p:spPr>
        <p:txBody>
          <a:bodyPr wrap="square" lIns="0" tIns="0" rIns="0" bIns="0" rtlCol="0" anchor="ctr"/>
          <a:lstStyle/>
          <a:p>
            <a:pPr algn="ctr" indent="0" marL="0">
              <a:lnSpc>
                <a:spcPct val="105000"/>
              </a:lnSpc>
              <a:buNone/>
            </a:pPr>
            <a:r>
              <a:rPr lang="en-US" sz="1100" b="1" dirty="0">
                <a:solidFill>
                  <a:srgbClr val="201E1B"/>
                </a:solidFill>
                <a:latin typeface="Calibri" pitchFamily="34" charset="0"/>
                <a:ea typeface="Calibri" pitchFamily="34" charset="-122"/>
                <a:cs typeface="Calibri" pitchFamily="34" charset="-120"/>
              </a:rPr>
              <a:t>Gates and blocklist</a:t>
            </a:r>
            <a:endParaRPr lang="en-US" sz="1100" dirty="0"/>
          </a:p>
          <a:p>
            <a:pPr algn="ctr" indent="0" marL="0">
              <a:lnSpc>
                <a:spcPct val="105000"/>
              </a:lnSpc>
              <a:buNone/>
            </a:pPr>
            <a:r>
              <a:rPr lang="en-US" sz="850" dirty="0">
                <a:solidFill>
                  <a:srgbClr val="6E675E"/>
                </a:solidFill>
                <a:latin typeface="Calibri" pitchFamily="34" charset="0"/>
                <a:ea typeface="Calibri" pitchFamily="34" charset="-122"/>
                <a:cs typeface="Calibri" pitchFamily="34" charset="-120"/>
              </a:rPr>
              <a:t>Paused, locked, fullscreen, private window → stop</a:t>
            </a:r>
            <a:endParaRPr lang="en-US" sz="1100" dirty="0"/>
          </a:p>
        </p:txBody>
      </p:sp>
      <p:sp>
        <p:nvSpPr>
          <p:cNvPr id="13" name="flow-arr-1"/>
          <p:cNvSpPr/>
          <p:nvPr/>
        </p:nvSpPr>
        <p:spPr>
          <a:xfrm>
            <a:off x="4910328" y="2395728"/>
            <a:ext cx="164592" cy="0"/>
          </a:xfrm>
          <a:prstGeom prst="line">
            <a:avLst/>
          </a:prstGeom>
          <a:noFill/>
          <a:ln w="12700">
            <a:solidFill>
              <a:srgbClr val="C4BCAE"/>
            </a:solidFill>
            <a:prstDash val="solid"/>
            <a:tailEnd type="triangle"/>
          </a:ln>
        </p:spPr>
      </p:sp>
      <p:sp>
        <p:nvSpPr>
          <p:cNvPr id="14" name="step-3-ring"/>
          <p:cNvSpPr/>
          <p:nvPr/>
        </p:nvSpPr>
        <p:spPr>
          <a:xfrm>
            <a:off x="5111496" y="1481328"/>
            <a:ext cx="347472" cy="347472"/>
          </a:xfrm>
          <a:prstGeom prst="ellipse">
            <a:avLst/>
          </a:prstGeom>
          <a:ln w="12700">
            <a:solidFill>
              <a:srgbClr val="A85A45"/>
            </a:solidFill>
            <a:prstDash val="solid"/>
          </a:ln>
        </p:spPr>
      </p:sp>
      <p:sp>
        <p:nvSpPr>
          <p:cNvPr id="15" name="step-3-num"/>
          <p:cNvSpPr txBox="1"/>
          <p:nvPr/>
        </p:nvSpPr>
        <p:spPr>
          <a:xfrm>
            <a:off x="5111496" y="1481328"/>
            <a:ext cx="347472" cy="347472"/>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3</a:t>
            </a:r>
            <a:endParaRPr lang="en-US" sz="1100" dirty="0"/>
          </a:p>
        </p:txBody>
      </p:sp>
      <p:sp>
        <p:nvSpPr>
          <p:cNvPr id="16" name="flow-2"/>
          <p:cNvSpPr/>
          <p:nvPr/>
        </p:nvSpPr>
        <p:spPr>
          <a:xfrm>
            <a:off x="5111496" y="1938528"/>
            <a:ext cx="1975104" cy="914400"/>
          </a:xfrm>
          <a:prstGeom prst="roundRect">
            <a:avLst>
              <a:gd name="adj" fmla="val 5000"/>
            </a:avLst>
          </a:prstGeom>
          <a:solidFill>
            <a:srgbClr val="FFFFFF"/>
          </a:solidFill>
          <a:ln w="9525">
            <a:solidFill>
              <a:srgbClr val="C4BCAE"/>
            </a:solidFill>
            <a:prstDash val="solid"/>
          </a:ln>
        </p:spPr>
      </p:sp>
      <p:sp>
        <p:nvSpPr>
          <p:cNvPr id="17" name="flow-2-label"/>
          <p:cNvSpPr txBox="1"/>
          <p:nvPr/>
        </p:nvSpPr>
        <p:spPr>
          <a:xfrm>
            <a:off x="5166360" y="1938528"/>
            <a:ext cx="1865376" cy="914400"/>
          </a:xfrm>
          <a:prstGeom prst="rect">
            <a:avLst/>
          </a:prstGeom>
          <a:noFill/>
          <a:ln/>
        </p:spPr>
        <p:txBody>
          <a:bodyPr wrap="square" lIns="0" tIns="0" rIns="0" bIns="0" rtlCol="0" anchor="ctr"/>
          <a:lstStyle/>
          <a:p>
            <a:pPr algn="ctr" indent="0" marL="0">
              <a:lnSpc>
                <a:spcPct val="105000"/>
              </a:lnSpc>
              <a:buNone/>
            </a:pPr>
            <a:r>
              <a:rPr lang="en-US" sz="1100" b="1" dirty="0">
                <a:solidFill>
                  <a:srgbClr val="201E1B"/>
                </a:solidFill>
                <a:latin typeface="Calibri" pitchFamily="34" charset="0"/>
                <a:ea typeface="Calibri" pitchFamily="34" charset="-122"/>
                <a:cs typeface="Calibri" pitchFamily="34" charset="-120"/>
              </a:rPr>
              <a:t>Read the text</a:t>
            </a:r>
            <a:endParaRPr lang="en-US" sz="1100" dirty="0"/>
          </a:p>
          <a:p>
            <a:pPr algn="ctr" indent="0" marL="0">
              <a:lnSpc>
                <a:spcPct val="105000"/>
              </a:lnSpc>
              <a:buNone/>
            </a:pPr>
            <a:r>
              <a:rPr lang="en-US" sz="850" dirty="0">
                <a:solidFill>
                  <a:srgbClr val="6E675E"/>
                </a:solidFill>
                <a:latin typeface="Calibri" pitchFamily="34" charset="0"/>
                <a:ea typeface="Calibri" pitchFamily="34" charset="-122"/>
                <a:cs typeface="Calibri" pitchFamily="34" charset="-120"/>
              </a:rPr>
              <a:t>UI Automation → screen capture + OCR → vision model</a:t>
            </a:r>
            <a:endParaRPr lang="en-US" sz="1100" dirty="0"/>
          </a:p>
        </p:txBody>
      </p:sp>
      <p:sp>
        <p:nvSpPr>
          <p:cNvPr id="18" name="flow-arr-2"/>
          <p:cNvSpPr/>
          <p:nvPr/>
        </p:nvSpPr>
        <p:spPr>
          <a:xfrm>
            <a:off x="7123176" y="2395728"/>
            <a:ext cx="164592" cy="0"/>
          </a:xfrm>
          <a:prstGeom prst="line">
            <a:avLst/>
          </a:prstGeom>
          <a:noFill/>
          <a:ln w="12700">
            <a:solidFill>
              <a:srgbClr val="C4BCAE"/>
            </a:solidFill>
            <a:prstDash val="solid"/>
            <a:tailEnd type="triangle"/>
          </a:ln>
        </p:spPr>
      </p:sp>
      <p:sp>
        <p:nvSpPr>
          <p:cNvPr id="19" name="step-4-ring"/>
          <p:cNvSpPr/>
          <p:nvPr/>
        </p:nvSpPr>
        <p:spPr>
          <a:xfrm>
            <a:off x="7324344" y="1481328"/>
            <a:ext cx="347472" cy="347472"/>
          </a:xfrm>
          <a:prstGeom prst="ellipse">
            <a:avLst/>
          </a:prstGeom>
          <a:ln w="12700">
            <a:solidFill>
              <a:srgbClr val="A85A45"/>
            </a:solidFill>
            <a:prstDash val="solid"/>
          </a:ln>
        </p:spPr>
      </p:sp>
      <p:sp>
        <p:nvSpPr>
          <p:cNvPr id="20" name="step-4-num"/>
          <p:cNvSpPr txBox="1"/>
          <p:nvPr/>
        </p:nvSpPr>
        <p:spPr>
          <a:xfrm>
            <a:off x="7324344" y="1481328"/>
            <a:ext cx="347472" cy="347472"/>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4</a:t>
            </a:r>
            <a:endParaRPr lang="en-US" sz="1100" dirty="0"/>
          </a:p>
        </p:txBody>
      </p:sp>
      <p:sp>
        <p:nvSpPr>
          <p:cNvPr id="21" name="flow-3"/>
          <p:cNvSpPr/>
          <p:nvPr/>
        </p:nvSpPr>
        <p:spPr>
          <a:xfrm>
            <a:off x="7324344" y="1938528"/>
            <a:ext cx="1975104" cy="914400"/>
          </a:xfrm>
          <a:prstGeom prst="roundRect">
            <a:avLst>
              <a:gd name="adj" fmla="val 5000"/>
            </a:avLst>
          </a:prstGeom>
          <a:solidFill>
            <a:srgbClr val="FFFFFF"/>
          </a:solidFill>
          <a:ln w="9525">
            <a:solidFill>
              <a:srgbClr val="C4BCAE"/>
            </a:solidFill>
            <a:prstDash val="solid"/>
          </a:ln>
        </p:spPr>
      </p:sp>
      <p:sp>
        <p:nvSpPr>
          <p:cNvPr id="22" name="flow-3-label"/>
          <p:cNvSpPr txBox="1"/>
          <p:nvPr/>
        </p:nvSpPr>
        <p:spPr>
          <a:xfrm>
            <a:off x="7379208" y="1938528"/>
            <a:ext cx="1865376" cy="914400"/>
          </a:xfrm>
          <a:prstGeom prst="rect">
            <a:avLst/>
          </a:prstGeom>
          <a:noFill/>
          <a:ln/>
        </p:spPr>
        <p:txBody>
          <a:bodyPr wrap="square" lIns="0" tIns="0" rIns="0" bIns="0" rtlCol="0" anchor="ctr"/>
          <a:lstStyle/>
          <a:p>
            <a:pPr algn="ctr" indent="0" marL="0">
              <a:lnSpc>
                <a:spcPct val="105000"/>
              </a:lnSpc>
              <a:buNone/>
            </a:pPr>
            <a:r>
              <a:rPr lang="en-US" sz="1100" b="1" dirty="0">
                <a:solidFill>
                  <a:srgbClr val="201E1B"/>
                </a:solidFill>
                <a:latin typeface="Calibri" pitchFamily="34" charset="0"/>
                <a:ea typeface="Calibri" pitchFamily="34" charset="-122"/>
                <a:cs typeface="Calibri" pitchFamily="34" charset="-120"/>
              </a:rPr>
              <a:t>Redact</a:t>
            </a:r>
            <a:endParaRPr lang="en-US" sz="1100" dirty="0"/>
          </a:p>
          <a:p>
            <a:pPr algn="ctr" indent="0" marL="0">
              <a:lnSpc>
                <a:spcPct val="105000"/>
              </a:lnSpc>
              <a:buNone/>
            </a:pPr>
            <a:r>
              <a:rPr lang="en-US" sz="850" dirty="0">
                <a:solidFill>
                  <a:srgbClr val="6E675E"/>
                </a:solidFill>
                <a:latin typeface="Calibri" pitchFamily="34" charset="0"/>
                <a:ea typeface="Calibri" pitchFamily="34" charset="-122"/>
                <a:cs typeface="Calibri" pitchFamily="34" charset="-120"/>
              </a:rPr>
              <a:t>Checksum-validated: cards, Aadhaar, PAN, keys, OTPs</a:t>
            </a:r>
            <a:endParaRPr lang="en-US" sz="1100" dirty="0"/>
          </a:p>
        </p:txBody>
      </p:sp>
      <p:sp>
        <p:nvSpPr>
          <p:cNvPr id="23" name="flow-arr-3"/>
          <p:cNvSpPr/>
          <p:nvPr/>
        </p:nvSpPr>
        <p:spPr>
          <a:xfrm>
            <a:off x="9336024" y="2395728"/>
            <a:ext cx="164592" cy="0"/>
          </a:xfrm>
          <a:prstGeom prst="line">
            <a:avLst/>
          </a:prstGeom>
          <a:noFill/>
          <a:ln w="12700">
            <a:solidFill>
              <a:srgbClr val="C4BCAE"/>
            </a:solidFill>
            <a:prstDash val="solid"/>
            <a:tailEnd type="triangle"/>
          </a:ln>
        </p:spPr>
      </p:sp>
      <p:sp>
        <p:nvSpPr>
          <p:cNvPr id="24" name="step-5-ring"/>
          <p:cNvSpPr/>
          <p:nvPr/>
        </p:nvSpPr>
        <p:spPr>
          <a:xfrm>
            <a:off x="9537192" y="1481328"/>
            <a:ext cx="347472" cy="347472"/>
          </a:xfrm>
          <a:prstGeom prst="ellipse">
            <a:avLst/>
          </a:prstGeom>
          <a:ln w="12700">
            <a:solidFill>
              <a:srgbClr val="A85A45"/>
            </a:solidFill>
            <a:prstDash val="solid"/>
          </a:ln>
        </p:spPr>
      </p:sp>
      <p:sp>
        <p:nvSpPr>
          <p:cNvPr id="25" name="step-5-num"/>
          <p:cNvSpPr txBox="1"/>
          <p:nvPr/>
        </p:nvSpPr>
        <p:spPr>
          <a:xfrm>
            <a:off x="9537192" y="1481328"/>
            <a:ext cx="347472" cy="347472"/>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5</a:t>
            </a:r>
            <a:endParaRPr lang="en-US" sz="1100" dirty="0"/>
          </a:p>
        </p:txBody>
      </p:sp>
      <p:sp>
        <p:nvSpPr>
          <p:cNvPr id="26" name="flow-4"/>
          <p:cNvSpPr/>
          <p:nvPr/>
        </p:nvSpPr>
        <p:spPr>
          <a:xfrm>
            <a:off x="9537192" y="1938528"/>
            <a:ext cx="1975104" cy="914400"/>
          </a:xfrm>
          <a:prstGeom prst="roundRect">
            <a:avLst>
              <a:gd name="adj" fmla="val 5000"/>
            </a:avLst>
          </a:prstGeom>
          <a:solidFill>
            <a:srgbClr val="FFFFFF"/>
          </a:solidFill>
          <a:ln w="9525">
            <a:solidFill>
              <a:srgbClr val="C4BCAE"/>
            </a:solidFill>
            <a:prstDash val="solid"/>
          </a:ln>
        </p:spPr>
      </p:sp>
      <p:sp>
        <p:nvSpPr>
          <p:cNvPr id="27" name="flow-4-label"/>
          <p:cNvSpPr txBox="1"/>
          <p:nvPr/>
        </p:nvSpPr>
        <p:spPr>
          <a:xfrm>
            <a:off x="9592056" y="1938528"/>
            <a:ext cx="1865376" cy="914400"/>
          </a:xfrm>
          <a:prstGeom prst="rect">
            <a:avLst/>
          </a:prstGeom>
          <a:noFill/>
          <a:ln/>
        </p:spPr>
        <p:txBody>
          <a:bodyPr wrap="square" lIns="0" tIns="0" rIns="0" bIns="0" rtlCol="0" anchor="ctr"/>
          <a:lstStyle/>
          <a:p>
            <a:pPr algn="ctr" indent="0" marL="0">
              <a:lnSpc>
                <a:spcPct val="105000"/>
              </a:lnSpc>
              <a:buNone/>
            </a:pPr>
            <a:r>
              <a:rPr lang="en-US" sz="1100" b="1" dirty="0">
                <a:solidFill>
                  <a:srgbClr val="201E1B"/>
                </a:solidFill>
                <a:latin typeface="Calibri" pitchFamily="34" charset="0"/>
                <a:ea typeface="Calibri" pitchFamily="34" charset="-122"/>
                <a:cs typeface="Calibri" pitchFamily="34" charset="-120"/>
              </a:rPr>
              <a:t>Store encrypted</a:t>
            </a:r>
            <a:endParaRPr lang="en-US" sz="1100" dirty="0"/>
          </a:p>
          <a:p>
            <a:pPr algn="ctr" indent="0" marL="0">
              <a:lnSpc>
                <a:spcPct val="105000"/>
              </a:lnSpc>
              <a:buNone/>
            </a:pPr>
            <a:r>
              <a:rPr lang="en-US" sz="850" dirty="0">
                <a:solidFill>
                  <a:srgbClr val="6E675E"/>
                </a:solidFill>
                <a:latin typeface="Calibri" pitchFamily="34" charset="0"/>
                <a:ea typeface="Calibri" pitchFamily="34" charset="-122"/>
                <a:cs typeface="Calibri" pitchFamily="34" charset="-120"/>
              </a:rPr>
              <a:t>Session written as one item to SQLCipher</a:t>
            </a:r>
            <a:endParaRPr lang="en-US" sz="1100" dirty="0"/>
          </a:p>
        </p:txBody>
      </p:sp>
      <p:sp>
        <p:nvSpPr>
          <p:cNvPr id="28" name="elbow-down"/>
          <p:cNvSpPr/>
          <p:nvPr/>
        </p:nvSpPr>
        <p:spPr>
          <a:xfrm>
            <a:off x="10524744" y="2852928"/>
            <a:ext cx="0" cy="237744"/>
          </a:xfrm>
          <a:prstGeom prst="line">
            <a:avLst/>
          </a:prstGeom>
          <a:noFill/>
          <a:ln w="12700">
            <a:solidFill>
              <a:srgbClr val="C4BCAE"/>
            </a:solidFill>
            <a:prstDash val="solid"/>
          </a:ln>
        </p:spPr>
      </p:sp>
      <p:sp>
        <p:nvSpPr>
          <p:cNvPr id="29" name="elbow-across"/>
          <p:cNvSpPr/>
          <p:nvPr/>
        </p:nvSpPr>
        <p:spPr>
          <a:xfrm>
            <a:off x="2971800" y="3090672"/>
            <a:ext cx="7552944" cy="0"/>
          </a:xfrm>
          <a:prstGeom prst="line">
            <a:avLst/>
          </a:prstGeom>
          <a:noFill/>
          <a:ln w="12700">
            <a:solidFill>
              <a:srgbClr val="C4BCAE"/>
            </a:solidFill>
            <a:prstDash val="solid"/>
          </a:ln>
        </p:spPr>
      </p:sp>
      <p:sp>
        <p:nvSpPr>
          <p:cNvPr id="30" name="elbow-in"/>
          <p:cNvSpPr/>
          <p:nvPr/>
        </p:nvSpPr>
        <p:spPr>
          <a:xfrm>
            <a:off x="2971800" y="3090672"/>
            <a:ext cx="0" cy="201168"/>
          </a:xfrm>
          <a:prstGeom prst="line">
            <a:avLst/>
          </a:prstGeom>
          <a:noFill/>
          <a:ln w="12700">
            <a:solidFill>
              <a:srgbClr val="C4BCAE"/>
            </a:solidFill>
            <a:prstDash val="solid"/>
            <a:tailEnd type="triangle"/>
          </a:ln>
        </p:spPr>
      </p:sp>
      <p:sp>
        <p:nvSpPr>
          <p:cNvPr id="31" name="elbow-label"/>
          <p:cNvSpPr txBox="1"/>
          <p:nvPr/>
        </p:nvSpPr>
        <p:spPr>
          <a:xfrm>
            <a:off x="5394960" y="2852928"/>
            <a:ext cx="3108960" cy="201168"/>
          </a:xfrm>
          <a:prstGeom prst="rect">
            <a:avLst/>
          </a:prstGeom>
          <a:noFill/>
          <a:ln/>
        </p:spPr>
        <p:txBody>
          <a:bodyPr wrap="square" lIns="0" tIns="0" rIns="0" bIns="0" rtlCol="0" anchor="ctr"/>
          <a:lstStyle/>
          <a:p>
            <a:pPr algn="ctr" indent="0" marL="0">
              <a:buNone/>
            </a:pPr>
            <a:r>
              <a:rPr lang="en-US" sz="800" dirty="0">
                <a:solidFill>
                  <a:srgbClr val="6E675E"/>
                </a:solidFill>
                <a:latin typeface="Calibri" pitchFamily="34" charset="0"/>
                <a:ea typeface="Calibri" pitchFamily="34" charset="-122"/>
                <a:cs typeface="Calibri" pitchFamily="34" charset="-120"/>
              </a:rPr>
              <a:t>the stored item queues an extraction job</a:t>
            </a:r>
            <a:endParaRPr lang="en-US" sz="800" dirty="0"/>
          </a:p>
        </p:txBody>
      </p:sp>
      <p:sp>
        <p:nvSpPr>
          <p:cNvPr id="32" name="extract-box"/>
          <p:cNvSpPr/>
          <p:nvPr/>
        </p:nvSpPr>
        <p:spPr>
          <a:xfrm>
            <a:off x="685800" y="3310128"/>
            <a:ext cx="4572000" cy="786384"/>
          </a:xfrm>
          <a:prstGeom prst="roundRect">
            <a:avLst>
              <a:gd name="adj" fmla="val 5814"/>
            </a:avLst>
          </a:prstGeom>
          <a:solidFill>
            <a:srgbClr val="E7E3DA"/>
          </a:solidFill>
          <a:ln w="9525">
            <a:solidFill>
              <a:srgbClr val="C4BCAE"/>
            </a:solidFill>
            <a:prstDash val="solid"/>
          </a:ln>
        </p:spPr>
      </p:sp>
      <p:sp>
        <p:nvSpPr>
          <p:cNvPr id="33" name="extract-box-label"/>
          <p:cNvSpPr txBox="1"/>
          <p:nvPr/>
        </p:nvSpPr>
        <p:spPr>
          <a:xfrm>
            <a:off x="740664" y="3310128"/>
            <a:ext cx="4462272" cy="786384"/>
          </a:xfrm>
          <a:prstGeom prst="rect">
            <a:avLst/>
          </a:prstGeom>
          <a:noFill/>
          <a:ln/>
        </p:spPr>
        <p:txBody>
          <a:bodyPr wrap="square" lIns="0" tIns="0" rIns="0" bIns="0" rtlCol="0" anchor="ctr"/>
          <a:lstStyle/>
          <a:p>
            <a:pPr algn="ctr" indent="0" marL="0">
              <a:lnSpc>
                <a:spcPct val="105000"/>
              </a:lnSpc>
              <a:buNone/>
            </a:pPr>
            <a:r>
              <a:rPr lang="en-US" sz="1100" b="1" dirty="0">
                <a:solidFill>
                  <a:srgbClr val="201E1B"/>
                </a:solidFill>
                <a:latin typeface="Calibri" pitchFamily="34" charset="0"/>
                <a:ea typeface="Calibri" pitchFamily="34" charset="-122"/>
                <a:cs typeface="Calibri" pitchFamily="34" charset="-120"/>
              </a:rPr>
              <a:t>Extraction (background, preemptible)</a:t>
            </a:r>
            <a:endParaRPr lang="en-US" sz="1100" dirty="0"/>
          </a:p>
          <a:p>
            <a:pPr algn="ctr" indent="0" marL="0">
              <a:lnSpc>
                <a:spcPct val="105000"/>
              </a:lnSpc>
              <a:buNone/>
            </a:pPr>
            <a:r>
              <a:rPr lang="en-US" sz="850" dirty="0">
                <a:solidFill>
                  <a:srgbClr val="6E675E"/>
                </a:solidFill>
                <a:latin typeface="Calibri" pitchFamily="34" charset="0"/>
                <a:ea typeface="Calibri" pitchFamily="34" charset="-122"/>
                <a:cs typeface="Calibri" pitchFamily="34" charset="-120"/>
              </a:rPr>
              <a:t>Model proposes facts in JSON · code verifies the quote, classifies injection, redacts again, resolves dates and people</a:t>
            </a:r>
            <a:endParaRPr lang="en-US" sz="1100" dirty="0"/>
          </a:p>
        </p:txBody>
      </p:sp>
      <p:sp>
        <p:nvSpPr>
          <p:cNvPr id="34" name="extract-arrow"/>
          <p:cNvSpPr/>
          <p:nvPr/>
        </p:nvSpPr>
        <p:spPr>
          <a:xfrm>
            <a:off x="5321808" y="3703320"/>
            <a:ext cx="274320" cy="0"/>
          </a:xfrm>
          <a:prstGeom prst="line">
            <a:avLst/>
          </a:prstGeom>
          <a:noFill/>
          <a:ln w="12700">
            <a:solidFill>
              <a:srgbClr val="C4BCAE"/>
            </a:solidFill>
            <a:prstDash val="solid"/>
            <a:tailEnd type="triangle"/>
          </a:ln>
        </p:spPr>
      </p:sp>
      <p:sp>
        <p:nvSpPr>
          <p:cNvPr id="35" name="out-0"/>
          <p:cNvSpPr/>
          <p:nvPr/>
        </p:nvSpPr>
        <p:spPr>
          <a:xfrm>
            <a:off x="5669280" y="3310128"/>
            <a:ext cx="1901952" cy="786384"/>
          </a:xfrm>
          <a:prstGeom prst="roundRect">
            <a:avLst>
              <a:gd name="adj" fmla="val 5814"/>
            </a:avLst>
          </a:prstGeom>
          <a:solidFill>
            <a:srgbClr val="FFFFFF"/>
          </a:solidFill>
          <a:ln w="9525">
            <a:solidFill>
              <a:srgbClr val="C4BCAE"/>
            </a:solidFill>
            <a:prstDash val="solid"/>
          </a:ln>
        </p:spPr>
      </p:sp>
      <p:sp>
        <p:nvSpPr>
          <p:cNvPr id="36" name="out-0-label"/>
          <p:cNvSpPr txBox="1"/>
          <p:nvPr/>
        </p:nvSpPr>
        <p:spPr>
          <a:xfrm>
            <a:off x="5724144" y="3310128"/>
            <a:ext cx="1792224" cy="786384"/>
          </a:xfrm>
          <a:prstGeom prst="rect">
            <a:avLst/>
          </a:prstGeom>
          <a:noFill/>
          <a:ln/>
        </p:spPr>
        <p:txBody>
          <a:bodyPr wrap="square" lIns="0" tIns="0" rIns="0" bIns="0" rtlCol="0" anchor="ctr"/>
          <a:lstStyle/>
          <a:p>
            <a:pPr algn="ctr" indent="0" marL="0">
              <a:lnSpc>
                <a:spcPct val="105000"/>
              </a:lnSpc>
              <a:buNone/>
            </a:pPr>
            <a:r>
              <a:rPr lang="en-US" sz="1050" b="1" dirty="0">
                <a:solidFill>
                  <a:srgbClr val="201E1B"/>
                </a:solidFill>
                <a:latin typeface="Calibri" pitchFamily="34" charset="0"/>
                <a:ea typeface="Calibri" pitchFamily="34" charset="-122"/>
                <a:cs typeface="Calibri" pitchFamily="34" charset="-120"/>
              </a:rPr>
              <a:t>Ask with sources</a:t>
            </a:r>
            <a:endParaRPr lang="en-US" sz="1050" dirty="0"/>
          </a:p>
        </p:txBody>
      </p:sp>
      <p:sp>
        <p:nvSpPr>
          <p:cNvPr id="37" name="out-sub-0"/>
          <p:cNvSpPr txBox="1"/>
          <p:nvPr/>
        </p:nvSpPr>
        <p:spPr>
          <a:xfrm>
            <a:off x="5669280" y="4169664"/>
            <a:ext cx="1901952" cy="868680"/>
          </a:xfrm>
          <a:prstGeom prst="rect">
            <a:avLst/>
          </a:prstGeom>
          <a:noFill/>
          <a:ln/>
        </p:spPr>
        <p:txBody>
          <a:bodyPr wrap="square" lIns="0" tIns="0" rIns="0" bIns="0" rtlCol="0" anchor="t"/>
          <a:lstStyle/>
          <a:p>
            <a:pPr algn="l" indent="0" marL="0">
              <a:lnSpc>
                <a:spcPct val="110000"/>
              </a:lnSpc>
              <a:buNone/>
            </a:pPr>
            <a:r>
              <a:rPr lang="en-US" sz="880" dirty="0">
                <a:solidFill>
                  <a:srgbClr val="6E675E"/>
                </a:solidFill>
                <a:latin typeface="Calibri" pitchFamily="34" charset="0"/>
                <a:ea typeface="Calibri" pitchFamily="34" charset="-122"/>
                <a:cs typeface="Calibri" pitchFamily="34" charset="-120"/>
              </a:rPr>
              <a:t>Every sentence carries a citation; unverified sentences are hidden, not flagged</a:t>
            </a:r>
            <a:endParaRPr lang="en-US" sz="880" dirty="0"/>
          </a:p>
        </p:txBody>
      </p:sp>
      <p:sp>
        <p:nvSpPr>
          <p:cNvPr id="38" name="out-1"/>
          <p:cNvSpPr/>
          <p:nvPr/>
        </p:nvSpPr>
        <p:spPr>
          <a:xfrm>
            <a:off x="7772400" y="3310128"/>
            <a:ext cx="1901952" cy="786384"/>
          </a:xfrm>
          <a:prstGeom prst="roundRect">
            <a:avLst>
              <a:gd name="adj" fmla="val 5814"/>
            </a:avLst>
          </a:prstGeom>
          <a:solidFill>
            <a:srgbClr val="FFFFFF"/>
          </a:solidFill>
          <a:ln w="9525">
            <a:solidFill>
              <a:srgbClr val="C4BCAE"/>
            </a:solidFill>
            <a:prstDash val="solid"/>
          </a:ln>
        </p:spPr>
      </p:sp>
      <p:sp>
        <p:nvSpPr>
          <p:cNvPr id="39" name="out-1-label"/>
          <p:cNvSpPr txBox="1"/>
          <p:nvPr/>
        </p:nvSpPr>
        <p:spPr>
          <a:xfrm>
            <a:off x="7827264" y="3310128"/>
            <a:ext cx="1792224" cy="786384"/>
          </a:xfrm>
          <a:prstGeom prst="rect">
            <a:avLst/>
          </a:prstGeom>
          <a:noFill/>
          <a:ln/>
        </p:spPr>
        <p:txBody>
          <a:bodyPr wrap="square" lIns="0" tIns="0" rIns="0" bIns="0" rtlCol="0" anchor="ctr"/>
          <a:lstStyle/>
          <a:p>
            <a:pPr algn="ctr" indent="0" marL="0">
              <a:lnSpc>
                <a:spcPct val="105000"/>
              </a:lnSpc>
              <a:buNone/>
            </a:pPr>
            <a:r>
              <a:rPr lang="en-US" sz="1050" b="1" dirty="0">
                <a:solidFill>
                  <a:srgbClr val="201E1B"/>
                </a:solidFill>
                <a:latin typeface="Calibri" pitchFamily="34" charset="0"/>
                <a:ea typeface="Calibri" pitchFamily="34" charset="-122"/>
                <a:cs typeface="Calibri" pitchFamily="34" charset="-120"/>
              </a:rPr>
              <a:t>Open loops and brief</a:t>
            </a:r>
            <a:endParaRPr lang="en-US" sz="1050" dirty="0"/>
          </a:p>
        </p:txBody>
      </p:sp>
      <p:sp>
        <p:nvSpPr>
          <p:cNvPr id="40" name="out-sub-1"/>
          <p:cNvSpPr txBox="1"/>
          <p:nvPr/>
        </p:nvSpPr>
        <p:spPr>
          <a:xfrm>
            <a:off x="7772400" y="4169664"/>
            <a:ext cx="1901952" cy="868680"/>
          </a:xfrm>
          <a:prstGeom prst="rect">
            <a:avLst/>
          </a:prstGeom>
          <a:noFill/>
          <a:ln/>
        </p:spPr>
        <p:txBody>
          <a:bodyPr wrap="square" lIns="0" tIns="0" rIns="0" bIns="0" rtlCol="0" anchor="t"/>
          <a:lstStyle/>
          <a:p>
            <a:pPr algn="l" indent="0" marL="0">
              <a:lnSpc>
                <a:spcPct val="110000"/>
              </a:lnSpc>
              <a:buNone/>
            </a:pPr>
            <a:r>
              <a:rPr lang="en-US" sz="880" dirty="0">
                <a:solidFill>
                  <a:srgbClr val="6E675E"/>
                </a:solidFill>
                <a:latin typeface="Calibri" pitchFamily="34" charset="0"/>
                <a:ea typeface="Calibri" pitchFamily="34" charset="-122"/>
                <a:cs typeface="Calibri" pitchFamily="34" charset="-120"/>
              </a:rPr>
              <a:t>Commitments surfaced; nothing is ever closed without your confirmation</a:t>
            </a:r>
            <a:endParaRPr lang="en-US" sz="880" dirty="0"/>
          </a:p>
        </p:txBody>
      </p:sp>
      <p:sp>
        <p:nvSpPr>
          <p:cNvPr id="41" name="out-2"/>
          <p:cNvSpPr/>
          <p:nvPr/>
        </p:nvSpPr>
        <p:spPr>
          <a:xfrm>
            <a:off x="9875520" y="3310128"/>
            <a:ext cx="1901952" cy="786384"/>
          </a:xfrm>
          <a:prstGeom prst="roundRect">
            <a:avLst>
              <a:gd name="adj" fmla="val 5814"/>
            </a:avLst>
          </a:prstGeom>
          <a:solidFill>
            <a:srgbClr val="FFFFFF"/>
          </a:solidFill>
          <a:ln w="9525">
            <a:solidFill>
              <a:srgbClr val="C4BCAE"/>
            </a:solidFill>
            <a:prstDash val="solid"/>
          </a:ln>
        </p:spPr>
      </p:sp>
      <p:sp>
        <p:nvSpPr>
          <p:cNvPr id="42" name="out-2-label"/>
          <p:cNvSpPr txBox="1"/>
          <p:nvPr/>
        </p:nvSpPr>
        <p:spPr>
          <a:xfrm>
            <a:off x="9930384" y="3310128"/>
            <a:ext cx="1792224" cy="786384"/>
          </a:xfrm>
          <a:prstGeom prst="rect">
            <a:avLst/>
          </a:prstGeom>
          <a:noFill/>
          <a:ln/>
        </p:spPr>
        <p:txBody>
          <a:bodyPr wrap="square" lIns="0" tIns="0" rIns="0" bIns="0" rtlCol="0" anchor="ctr"/>
          <a:lstStyle/>
          <a:p>
            <a:pPr algn="ctr" indent="0" marL="0">
              <a:lnSpc>
                <a:spcPct val="105000"/>
              </a:lnSpc>
              <a:buNone/>
            </a:pPr>
            <a:r>
              <a:rPr lang="en-US" sz="1050" b="1" dirty="0">
                <a:solidFill>
                  <a:srgbClr val="201E1B"/>
                </a:solidFill>
                <a:latin typeface="Calibri" pitchFamily="34" charset="0"/>
                <a:ea typeface="Calibri" pitchFamily="34" charset="-122"/>
                <a:cs typeface="Calibri" pitchFamily="34" charset="-120"/>
              </a:rPr>
              <a:t>Contextual draft</a:t>
            </a:r>
            <a:endParaRPr lang="en-US" sz="1050" dirty="0"/>
          </a:p>
        </p:txBody>
      </p:sp>
      <p:sp>
        <p:nvSpPr>
          <p:cNvPr id="43" name="out-sub-2"/>
          <p:cNvSpPr txBox="1"/>
          <p:nvPr/>
        </p:nvSpPr>
        <p:spPr>
          <a:xfrm>
            <a:off x="9875520" y="4169664"/>
            <a:ext cx="1901952" cy="868680"/>
          </a:xfrm>
          <a:prstGeom prst="rect">
            <a:avLst/>
          </a:prstGeom>
          <a:noFill/>
          <a:ln/>
        </p:spPr>
        <p:txBody>
          <a:bodyPr wrap="square" lIns="0" tIns="0" rIns="0" bIns="0" rtlCol="0" anchor="t"/>
          <a:lstStyle/>
          <a:p>
            <a:pPr algn="l" indent="0" marL="0">
              <a:lnSpc>
                <a:spcPct val="110000"/>
              </a:lnSpc>
              <a:buNone/>
            </a:pPr>
            <a:r>
              <a:rPr lang="en-US" sz="880" dirty="0">
                <a:solidFill>
                  <a:srgbClr val="6E675E"/>
                </a:solidFill>
                <a:latin typeface="Calibri" pitchFamily="34" charset="0"/>
                <a:ea typeface="Calibri" pitchFamily="34" charset="-122"/>
                <a:cs typeface="Calibri" pitchFamily="34" charset="-120"/>
              </a:rPr>
              <a:t>Checked claim by claim, inserted only after you press Insert</a:t>
            </a:r>
            <a:endParaRPr lang="en-US" sz="880" dirty="0"/>
          </a:p>
        </p:txBody>
      </p:sp>
      <p:sp>
        <p:nvSpPr>
          <p:cNvPr id="44" name="sep"/>
          <p:cNvSpPr/>
          <p:nvPr/>
        </p:nvSpPr>
        <p:spPr>
          <a:xfrm>
            <a:off x="685800" y="5230368"/>
            <a:ext cx="10789920" cy="0"/>
          </a:xfrm>
          <a:prstGeom prst="line">
            <a:avLst/>
          </a:prstGeom>
          <a:noFill/>
          <a:ln w="6350">
            <a:solidFill>
              <a:srgbClr val="C4BCAE"/>
            </a:solidFill>
            <a:prstDash val="solid"/>
          </a:ln>
        </p:spPr>
      </p:sp>
      <p:sp>
        <p:nvSpPr>
          <p:cNvPr id="45" name="fact-dot-0"/>
          <p:cNvSpPr/>
          <p:nvPr/>
        </p:nvSpPr>
        <p:spPr>
          <a:xfrm>
            <a:off x="685800" y="5486400"/>
            <a:ext cx="100584" cy="100584"/>
          </a:xfrm>
          <a:prstGeom prst="ellipse">
            <a:avLst/>
          </a:prstGeom>
          <a:solidFill>
            <a:srgbClr val="6C7F6B"/>
          </a:solidFill>
          <a:ln w="12700">
            <a:solidFill>
              <a:srgbClr val="6C7F6B"/>
            </a:solidFill>
            <a:prstDash val="solid"/>
          </a:ln>
        </p:spPr>
      </p:sp>
      <p:sp>
        <p:nvSpPr>
          <p:cNvPr id="46" name="fact-0"/>
          <p:cNvSpPr txBox="1"/>
          <p:nvPr/>
        </p:nvSpPr>
        <p:spPr>
          <a:xfrm>
            <a:off x="868680" y="5376672"/>
            <a:ext cx="3364992" cy="548640"/>
          </a:xfrm>
          <a:prstGeom prst="rect">
            <a:avLst/>
          </a:prstGeom>
          <a:noFill/>
          <a:ln/>
        </p:spPr>
        <p:txBody>
          <a:bodyPr wrap="square" lIns="0" tIns="0" rIns="0" bIns="0" rtlCol="0" anchor="t"/>
          <a:lstStyle/>
          <a:p>
            <a:pPr algn="l" indent="0" marL="0">
              <a:lnSpc>
                <a:spcPct val="110000"/>
              </a:lnSpc>
              <a:buNone/>
            </a:pPr>
            <a:r>
              <a:rPr lang="en-US" sz="950" b="1" dirty="0">
                <a:solidFill>
                  <a:srgbClr val="201E1B"/>
                </a:solidFill>
                <a:latin typeface="Calibri" pitchFamily="34" charset="0"/>
                <a:ea typeface="Calibri" pitchFamily="34" charset="-122"/>
                <a:cs typeface="Calibri" pitchFamily="34" charset="-120"/>
              </a:rPr>
              <a:t>Capture starts paused  </a:t>
            </a:r>
            <a:pPr algn="l" indent="0" marL="0">
              <a:lnSpc>
                <a:spcPct val="110000"/>
              </a:lnSpc>
              <a:buNone/>
            </a:pPr>
            <a:r>
              <a:rPr lang="en-US" sz="950" dirty="0">
                <a:solidFill>
                  <a:srgbClr val="6E675E"/>
                </a:solidFill>
                <a:latin typeface="Calibri" pitchFamily="34" charset="0"/>
                <a:ea typeface="Calibri" pitchFamily="34" charset="-122"/>
                <a:cs typeface="Calibri" pitchFamily="34" charset="-120"/>
              </a:rPr>
              <a:t>Nothing is read until you switch it on; pausing discards buffered text.</a:t>
            </a:r>
            <a:endParaRPr lang="en-US" sz="950" dirty="0"/>
          </a:p>
        </p:txBody>
      </p:sp>
      <p:sp>
        <p:nvSpPr>
          <p:cNvPr id="47" name="fact-dot-1"/>
          <p:cNvSpPr/>
          <p:nvPr/>
        </p:nvSpPr>
        <p:spPr>
          <a:xfrm>
            <a:off x="4279392" y="5486400"/>
            <a:ext cx="100584" cy="100584"/>
          </a:xfrm>
          <a:prstGeom prst="ellipse">
            <a:avLst/>
          </a:prstGeom>
          <a:solidFill>
            <a:srgbClr val="6C7F6B"/>
          </a:solidFill>
          <a:ln w="12700">
            <a:solidFill>
              <a:srgbClr val="6C7F6B"/>
            </a:solidFill>
            <a:prstDash val="solid"/>
          </a:ln>
        </p:spPr>
      </p:sp>
      <p:sp>
        <p:nvSpPr>
          <p:cNvPr id="48" name="fact-1"/>
          <p:cNvSpPr txBox="1"/>
          <p:nvPr/>
        </p:nvSpPr>
        <p:spPr>
          <a:xfrm>
            <a:off x="4462272" y="5376672"/>
            <a:ext cx="3364992" cy="548640"/>
          </a:xfrm>
          <a:prstGeom prst="rect">
            <a:avLst/>
          </a:prstGeom>
          <a:noFill/>
          <a:ln/>
        </p:spPr>
        <p:txBody>
          <a:bodyPr wrap="square" lIns="0" tIns="0" rIns="0" bIns="0" rtlCol="0" anchor="t"/>
          <a:lstStyle/>
          <a:p>
            <a:pPr algn="l" indent="0" marL="0">
              <a:lnSpc>
                <a:spcPct val="110000"/>
              </a:lnSpc>
              <a:buNone/>
            </a:pPr>
            <a:r>
              <a:rPr lang="en-US" sz="950" b="1" dirty="0">
                <a:solidFill>
                  <a:srgbClr val="201E1B"/>
                </a:solidFill>
                <a:latin typeface="Calibri" pitchFamily="34" charset="0"/>
                <a:ea typeface="Calibri" pitchFamily="34" charset="-122"/>
                <a:cs typeface="Calibri" pitchFamily="34" charset="-120"/>
              </a:rPr>
              <a:t>No screen image is written  </a:t>
            </a:r>
            <a:pPr algn="l" indent="0" marL="0">
              <a:lnSpc>
                <a:spcPct val="110000"/>
              </a:lnSpc>
              <a:buNone/>
            </a:pPr>
            <a:r>
              <a:rPr lang="en-US" sz="950" dirty="0">
                <a:solidFill>
                  <a:srgbClr val="6E675E"/>
                </a:solidFill>
                <a:latin typeface="Calibri" pitchFamily="34" charset="0"/>
                <a:ea typeface="Calibri" pitchFamily="34" charset="-122"/>
                <a:cs typeface="Calibri" pitchFamily="34" charset="-120"/>
              </a:rPr>
              <a:t>Frames exist in memory only.</a:t>
            </a:r>
            <a:endParaRPr lang="en-US" sz="950" dirty="0"/>
          </a:p>
        </p:txBody>
      </p:sp>
      <p:sp>
        <p:nvSpPr>
          <p:cNvPr id="49" name="fact-dot-2"/>
          <p:cNvSpPr/>
          <p:nvPr/>
        </p:nvSpPr>
        <p:spPr>
          <a:xfrm>
            <a:off x="7872984" y="5486400"/>
            <a:ext cx="100584" cy="100584"/>
          </a:xfrm>
          <a:prstGeom prst="ellipse">
            <a:avLst/>
          </a:prstGeom>
          <a:solidFill>
            <a:srgbClr val="6C7F6B"/>
          </a:solidFill>
          <a:ln w="12700">
            <a:solidFill>
              <a:srgbClr val="6C7F6B"/>
            </a:solidFill>
            <a:prstDash val="solid"/>
          </a:ln>
        </p:spPr>
      </p:sp>
      <p:sp>
        <p:nvSpPr>
          <p:cNvPr id="50" name="fact-2"/>
          <p:cNvSpPr txBox="1"/>
          <p:nvPr/>
        </p:nvSpPr>
        <p:spPr>
          <a:xfrm>
            <a:off x="8055864" y="5376672"/>
            <a:ext cx="3364992" cy="548640"/>
          </a:xfrm>
          <a:prstGeom prst="rect">
            <a:avLst/>
          </a:prstGeom>
          <a:noFill/>
          <a:ln/>
        </p:spPr>
        <p:txBody>
          <a:bodyPr wrap="square" lIns="0" tIns="0" rIns="0" bIns="0" rtlCol="0" anchor="t"/>
          <a:lstStyle/>
          <a:p>
            <a:pPr algn="l" indent="0" marL="0">
              <a:lnSpc>
                <a:spcPct val="110000"/>
              </a:lnSpc>
              <a:buNone/>
            </a:pPr>
            <a:r>
              <a:rPr lang="en-US" sz="950" b="1" dirty="0">
                <a:solidFill>
                  <a:srgbClr val="201E1B"/>
                </a:solidFill>
                <a:latin typeface="Calibri" pitchFamily="34" charset="0"/>
                <a:ea typeface="Calibri" pitchFamily="34" charset="-122"/>
                <a:cs typeface="Calibri" pitchFamily="34" charset="-120"/>
              </a:rPr>
              <a:t>Redaction runs before storage  </a:t>
            </a:r>
            <a:pPr algn="l" indent="0" marL="0">
              <a:lnSpc>
                <a:spcPct val="110000"/>
              </a:lnSpc>
              <a:buNone/>
            </a:pPr>
            <a:r>
              <a:rPr lang="en-US" sz="950" dirty="0">
                <a:solidFill>
                  <a:srgbClr val="6E675E"/>
                </a:solidFill>
                <a:latin typeface="Calibri" pitchFamily="34" charset="0"/>
                <a:ea typeface="Calibri" pitchFamily="34" charset="-122"/>
                <a:cs typeface="Calibri" pitchFamily="34" charset="-120"/>
              </a:rPr>
              <a:t>And again on the model's own output.</a:t>
            </a:r>
            <a:endParaRPr lang="en-US" sz="950" dirty="0"/>
          </a:p>
        </p:txBody>
      </p:sp>
      <p:sp>
        <p:nvSpPr>
          <p:cNvPr id="25" name="Slide Number Placeholder 0"/>
          <p:cNvSpPr>
            <a:spLocks noGrp="1"/>
          </p:cNvSpPr>
          <p:nvPr>
            <p:ph type="sldNum" sz="quarter" idx="4294967295"/>
          </p:nvPr>
        </p:nvSpPr>
        <p:spPr>
          <a:xfrm>
            <a:off x="11247120" y="635508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577"/>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789920" cy="237744"/>
          </a:xfrm>
          <a:prstGeom prst="rect">
            <a:avLst/>
          </a:prstGeom>
          <a:noFill/>
          <a:ln/>
        </p:spPr>
        <p:txBody>
          <a:bodyPr wrap="square" lIns="0" tIns="0" rIns="0" bIns="0" rtlCol="0" anchor="ctr"/>
          <a:lstStyle/>
          <a:p>
            <a:pPr algn="l" indent="0" marL="0">
              <a:buNone/>
            </a:pPr>
            <a:r>
              <a:rPr lang="en-US" sz="950" b="1" spc="250" kern="0" dirty="0">
                <a:solidFill>
                  <a:srgbClr val="8C8577"/>
                </a:solidFill>
                <a:latin typeface="Calibri" pitchFamily="34" charset="0"/>
                <a:ea typeface="Calibri" pitchFamily="34" charset="-122"/>
                <a:cs typeface="Calibri" pitchFamily="34" charset="-120"/>
              </a:rPr>
              <a:t>ARCHITECTURE AT A GLANCE</a:t>
            </a:r>
            <a:endParaRPr lang="en-US" sz="950" dirty="0"/>
          </a:p>
        </p:txBody>
      </p:sp>
      <p:sp>
        <p:nvSpPr>
          <p:cNvPr id="3" name="Text 0"/>
          <p:cNvSpPr/>
          <p:nvPr>
            <p:ph idx="101" type="title" hasCustomPrompt="1"/>
          </p:nvPr>
        </p:nvSpPr>
        <p:spPr>
          <a:xfrm>
            <a:off x="685800" y="621792"/>
            <a:ext cx="10789920" cy="566928"/>
          </a:xfrm>
          <a:prstGeom prst="rect">
            <a:avLst/>
          </a:prstGeom>
          <a:noFill/>
          <a:ln/>
        </p:spPr>
        <p:txBody>
          <a:bodyPr wrap="square" lIns="0" tIns="0" rIns="0" bIns="0" rtlCol="0" anchor="ctr"/>
          <a:lstStyle/>
          <a:p>
            <a:pPr algn="l" indent="0" marL="0">
              <a:buNone/>
            </a:pPr>
            <a:r>
              <a:rPr lang="en-US" sz="3000" dirty="0">
                <a:solidFill>
                  <a:srgbClr val="201E1B"/>
                </a:solidFill>
                <a:latin typeface="Cambria" pitchFamily="34" charset="0"/>
                <a:ea typeface="Cambria" pitchFamily="34" charset="-122"/>
                <a:cs typeface="Cambria" pitchFamily="34" charset="-120"/>
              </a:rPr>
              <a:t>Three processes, one of which is allowed to fail</a:t>
            </a:r>
            <a:endParaRPr lang="en-US" sz="3000" dirty="0"/>
          </a:p>
        </p:txBody>
      </p:sp>
      <p:sp>
        <p:nvSpPr>
          <p:cNvPr id="4" name="bnd-ui"/>
          <p:cNvSpPr/>
          <p:nvPr/>
        </p:nvSpPr>
        <p:spPr>
          <a:xfrm>
            <a:off x="685800" y="1517904"/>
            <a:ext cx="2971800" cy="1481328"/>
          </a:xfrm>
          <a:prstGeom prst="roundRect">
            <a:avLst>
              <a:gd name="adj" fmla="val 1852"/>
            </a:avLst>
          </a:prstGeom>
          <a:ln w="9525">
            <a:solidFill>
              <a:srgbClr val="8C8577"/>
            </a:solidFill>
            <a:prstDash val="dash"/>
          </a:ln>
        </p:spPr>
      </p:sp>
      <p:sp>
        <p:nvSpPr>
          <p:cNvPr id="5" name="bnd-ui-cap"/>
          <p:cNvSpPr txBox="1"/>
          <p:nvPr/>
        </p:nvSpPr>
        <p:spPr>
          <a:xfrm>
            <a:off x="777240" y="1499616"/>
            <a:ext cx="2788920" cy="219456"/>
          </a:xfrm>
          <a:prstGeom prst="rect">
            <a:avLst/>
          </a:prstGeom>
          <a:noFill/>
          <a:ln/>
        </p:spPr>
        <p:txBody>
          <a:bodyPr wrap="square" lIns="0" tIns="0" rIns="0" bIns="0" rtlCol="0" anchor="ctr"/>
          <a:lstStyle/>
          <a:p>
            <a:pPr algn="l" indent="0" marL="0">
              <a:buNone/>
            </a:pPr>
            <a:r>
              <a:rPr lang="en-US" sz="850" b="1" spc="100" kern="0" dirty="0">
                <a:solidFill>
                  <a:srgbClr val="8C8577"/>
                </a:solidFill>
                <a:latin typeface="Calibri" pitchFamily="34" charset="0"/>
                <a:ea typeface="Calibri" pitchFamily="34" charset="-122"/>
                <a:cs typeface="Calibri" pitchFamily="34" charset="-120"/>
              </a:rPr>
              <a:t>INTERFACE PROCESS  ·  WEBVIEW2</a:t>
            </a:r>
            <a:endParaRPr lang="en-US" sz="850" dirty="0"/>
          </a:p>
        </p:txBody>
      </p:sp>
      <p:sp>
        <p:nvSpPr>
          <p:cNvPr id="6" name="ui-box"/>
          <p:cNvSpPr/>
          <p:nvPr/>
        </p:nvSpPr>
        <p:spPr>
          <a:xfrm>
            <a:off x="850392" y="1865376"/>
            <a:ext cx="2642616" cy="969264"/>
          </a:xfrm>
          <a:prstGeom prst="roundRect">
            <a:avLst>
              <a:gd name="adj" fmla="val 4717"/>
            </a:avLst>
          </a:prstGeom>
          <a:solidFill>
            <a:srgbClr val="FFFFFF"/>
          </a:solidFill>
          <a:ln w="9525">
            <a:solidFill>
              <a:srgbClr val="C4BCAE"/>
            </a:solidFill>
            <a:prstDash val="solid"/>
          </a:ln>
        </p:spPr>
      </p:sp>
      <p:sp>
        <p:nvSpPr>
          <p:cNvPr id="7" name="ui-box-label"/>
          <p:cNvSpPr txBox="1"/>
          <p:nvPr/>
        </p:nvSpPr>
        <p:spPr>
          <a:xfrm>
            <a:off x="905256" y="1865376"/>
            <a:ext cx="2532888" cy="969264"/>
          </a:xfrm>
          <a:prstGeom prst="rect">
            <a:avLst/>
          </a:prstGeom>
          <a:noFill/>
          <a:ln/>
        </p:spPr>
        <p:txBody>
          <a:bodyPr wrap="square" lIns="0" tIns="0" rIns="0" bIns="0" rtlCol="0" anchor="ctr"/>
          <a:lstStyle/>
          <a:p>
            <a:pPr algn="ctr" indent="0" marL="0">
              <a:lnSpc>
                <a:spcPct val="105000"/>
              </a:lnSpc>
              <a:buNone/>
            </a:pPr>
            <a:r>
              <a:rPr lang="en-US" sz="1100" b="1" dirty="0">
                <a:solidFill>
                  <a:srgbClr val="201E1B"/>
                </a:solidFill>
                <a:latin typeface="Calibri" pitchFamily="34" charset="0"/>
                <a:ea typeface="Calibri" pitchFamily="34" charset="-122"/>
                <a:cs typeface="Calibri" pitchFamily="34" charset="-120"/>
              </a:rPr>
              <a:t>Notch UI</a:t>
            </a:r>
            <a:endParaRPr lang="en-US" sz="1100" dirty="0"/>
          </a:p>
          <a:p>
            <a:pPr algn="ctr" indent="0" marL="0">
              <a:lnSpc>
                <a:spcPct val="105000"/>
              </a:lnSpc>
              <a:buNone/>
            </a:pPr>
            <a:r>
              <a:rPr lang="en-US" sz="800" dirty="0">
                <a:solidFill>
                  <a:srgbClr val="6E675E"/>
                </a:solidFill>
                <a:latin typeface="Calibri" pitchFamily="34" charset="0"/>
                <a:ea typeface="Calibri" pitchFamily="34" charset="-122"/>
                <a:cs typeface="Calibri" pitchFamily="34" charset="-120"/>
              </a:rPr>
              <a:t>pill · peek · expanded</a:t>
            </a:r>
            <a:endParaRPr lang="en-US" sz="1100" dirty="0"/>
          </a:p>
          <a:p>
            <a:pPr algn="ctr" indent="0" marL="0">
              <a:lnSpc>
                <a:spcPct val="105000"/>
              </a:lnSpc>
              <a:buNone/>
            </a:pPr>
            <a:r>
              <a:rPr lang="en-US" sz="800" dirty="0">
                <a:solidFill>
                  <a:srgbClr val="6E675E"/>
                </a:solidFill>
                <a:latin typeface="Calibri" pitchFamily="34" charset="0"/>
                <a:ea typeface="Calibri" pitchFamily="34" charset="-122"/>
                <a:cs typeface="Calibri" pitchFamily="34" charset="-120"/>
              </a:rPr>
              <a:t>Today · Loops · Search · Timeline · Ask · Diagnostics</a:t>
            </a:r>
            <a:endParaRPr lang="en-US" sz="1100" dirty="0"/>
          </a:p>
        </p:txBody>
      </p:sp>
      <p:sp>
        <p:nvSpPr>
          <p:cNvPr id="8" name="bnd-host"/>
          <p:cNvSpPr/>
          <p:nvPr/>
        </p:nvSpPr>
        <p:spPr>
          <a:xfrm>
            <a:off x="4133088" y="1517904"/>
            <a:ext cx="4892040" cy="3858768"/>
          </a:xfrm>
          <a:prstGeom prst="roundRect">
            <a:avLst>
              <a:gd name="adj" fmla="val 711"/>
            </a:avLst>
          </a:prstGeom>
          <a:ln w="9525">
            <a:solidFill>
              <a:srgbClr val="8C8577"/>
            </a:solidFill>
            <a:prstDash val="dash"/>
          </a:ln>
        </p:spPr>
      </p:sp>
      <p:sp>
        <p:nvSpPr>
          <p:cNvPr id="9" name="bnd-host-cap"/>
          <p:cNvSpPr txBox="1"/>
          <p:nvPr/>
        </p:nvSpPr>
        <p:spPr>
          <a:xfrm>
            <a:off x="4224528" y="1499616"/>
            <a:ext cx="4709160" cy="219456"/>
          </a:xfrm>
          <a:prstGeom prst="rect">
            <a:avLst/>
          </a:prstGeom>
          <a:noFill/>
          <a:ln/>
        </p:spPr>
        <p:txBody>
          <a:bodyPr wrap="square" lIns="0" tIns="0" rIns="0" bIns="0" rtlCol="0" anchor="ctr"/>
          <a:lstStyle/>
          <a:p>
            <a:pPr algn="l" indent="0" marL="0">
              <a:buNone/>
            </a:pPr>
            <a:r>
              <a:rPr lang="en-US" sz="850" b="1" spc="100" kern="0" dirty="0">
                <a:solidFill>
                  <a:srgbClr val="8C8577"/>
                </a:solidFill>
                <a:latin typeface="Calibri" pitchFamily="34" charset="0"/>
                <a:ea typeface="Calibri" pitchFamily="34" charset="-122"/>
                <a:cs typeface="Calibri" pitchFamily="34" charset="-120"/>
              </a:rPr>
              <a:t>HOST PROCESS  ·  tessara.exe</a:t>
            </a:r>
            <a:endParaRPr lang="en-US" sz="850" dirty="0"/>
          </a:p>
        </p:txBody>
      </p:sp>
      <p:sp>
        <p:nvSpPr>
          <p:cNvPr id="10" name="band-0"/>
          <p:cNvSpPr/>
          <p:nvPr/>
        </p:nvSpPr>
        <p:spPr>
          <a:xfrm>
            <a:off x="4315968" y="1883664"/>
            <a:ext cx="4526280" cy="576072"/>
          </a:xfrm>
          <a:prstGeom prst="roundRect">
            <a:avLst>
              <a:gd name="adj" fmla="val 7937"/>
            </a:avLst>
          </a:prstGeom>
          <a:solidFill>
            <a:srgbClr val="FFFFFF"/>
          </a:solidFill>
          <a:ln w="9525">
            <a:solidFill>
              <a:srgbClr val="C4BCAE"/>
            </a:solidFill>
            <a:prstDash val="solid"/>
          </a:ln>
        </p:spPr>
      </p:sp>
      <p:sp>
        <p:nvSpPr>
          <p:cNvPr id="11" name="band-0-label"/>
          <p:cNvSpPr txBox="1"/>
          <p:nvPr/>
        </p:nvSpPr>
        <p:spPr>
          <a:xfrm>
            <a:off x="4370832" y="1883664"/>
            <a:ext cx="4416552" cy="576072"/>
          </a:xfrm>
          <a:prstGeom prst="rect">
            <a:avLst/>
          </a:prstGeom>
          <a:noFill/>
          <a:ln/>
        </p:spPr>
        <p:txBody>
          <a:bodyPr wrap="square" lIns="0" tIns="0" rIns="0" bIns="0" rtlCol="0" anchor="ctr"/>
          <a:lstStyle/>
          <a:p>
            <a:pPr algn="ctr" indent="0" marL="0">
              <a:lnSpc>
                <a:spcPct val="105000"/>
              </a:lnSpc>
              <a:buNone/>
            </a:pPr>
            <a:r>
              <a:rPr lang="en-US" sz="1050" b="1" dirty="0">
                <a:solidFill>
                  <a:srgbClr val="201E1B"/>
                </a:solidFill>
                <a:latin typeface="Calibri" pitchFamily="34" charset="0"/>
                <a:ea typeface="Calibri" pitchFamily="34" charset="-122"/>
                <a:cs typeface="Calibri" pitchFamily="34" charset="-120"/>
              </a:rPr>
              <a:t>Acquisition</a:t>
            </a:r>
            <a:endParaRPr lang="en-US" sz="1050" dirty="0"/>
          </a:p>
          <a:p>
            <a:pPr algn="ctr" indent="0" marL="0">
              <a:lnSpc>
                <a:spcPct val="105000"/>
              </a:lnSpc>
              <a:buNone/>
            </a:pPr>
            <a:r>
              <a:rPr lang="en-US" sz="850" dirty="0">
                <a:solidFill>
                  <a:srgbClr val="6E675E"/>
                </a:solidFill>
                <a:latin typeface="Calibri" pitchFamily="34" charset="0"/>
                <a:ea typeface="Calibri" pitchFamily="34" charset="-122"/>
                <a:cs typeface="Calibri" pitchFamily="34" charset="-120"/>
              </a:rPr>
              <a:t>tsr-capture · tsr-win</a:t>
            </a:r>
            <a:endParaRPr lang="en-US" sz="1050" dirty="0"/>
          </a:p>
        </p:txBody>
      </p:sp>
      <p:sp>
        <p:nvSpPr>
          <p:cNvPr id="12" name="band-1"/>
          <p:cNvSpPr/>
          <p:nvPr/>
        </p:nvSpPr>
        <p:spPr>
          <a:xfrm>
            <a:off x="4315968" y="2532888"/>
            <a:ext cx="4526280" cy="576072"/>
          </a:xfrm>
          <a:prstGeom prst="roundRect">
            <a:avLst>
              <a:gd name="adj" fmla="val 7937"/>
            </a:avLst>
          </a:prstGeom>
          <a:solidFill>
            <a:srgbClr val="FFFFFF"/>
          </a:solidFill>
          <a:ln w="9525">
            <a:solidFill>
              <a:srgbClr val="C4BCAE"/>
            </a:solidFill>
            <a:prstDash val="solid"/>
          </a:ln>
        </p:spPr>
      </p:sp>
      <p:sp>
        <p:nvSpPr>
          <p:cNvPr id="13" name="band-1-label"/>
          <p:cNvSpPr txBox="1"/>
          <p:nvPr/>
        </p:nvSpPr>
        <p:spPr>
          <a:xfrm>
            <a:off x="4370832" y="2532888"/>
            <a:ext cx="4416552" cy="576072"/>
          </a:xfrm>
          <a:prstGeom prst="rect">
            <a:avLst/>
          </a:prstGeom>
          <a:noFill/>
          <a:ln/>
        </p:spPr>
        <p:txBody>
          <a:bodyPr wrap="square" lIns="0" tIns="0" rIns="0" bIns="0" rtlCol="0" anchor="ctr"/>
          <a:lstStyle/>
          <a:p>
            <a:pPr algn="ctr" indent="0" marL="0">
              <a:lnSpc>
                <a:spcPct val="105000"/>
              </a:lnSpc>
              <a:buNone/>
            </a:pPr>
            <a:r>
              <a:rPr lang="en-US" sz="1050" b="1" dirty="0">
                <a:solidFill>
                  <a:srgbClr val="201E1B"/>
                </a:solidFill>
                <a:latin typeface="Calibri" pitchFamily="34" charset="0"/>
                <a:ea typeface="Calibri" pitchFamily="34" charset="-122"/>
                <a:cs typeface="Calibri" pitchFamily="34" charset="-120"/>
              </a:rPr>
              <a:t>Policy</a:t>
            </a:r>
            <a:endParaRPr lang="en-US" sz="1050" dirty="0"/>
          </a:p>
          <a:p>
            <a:pPr algn="ctr" indent="0" marL="0">
              <a:lnSpc>
                <a:spcPct val="105000"/>
              </a:lnSpc>
              <a:buNone/>
            </a:pPr>
            <a:r>
              <a:rPr lang="en-US" sz="850" dirty="0">
                <a:solidFill>
                  <a:srgbClr val="6E675E"/>
                </a:solidFill>
                <a:latin typeface="Calibri" pitchFamily="34" charset="0"/>
                <a:ea typeface="Calibri" pitchFamily="34" charset="-122"/>
                <a:cs typeface="Calibri" pitchFamily="34" charset="-120"/>
              </a:rPr>
              <a:t>tsr-guard — blocklist, redaction, claims</a:t>
            </a:r>
            <a:endParaRPr lang="en-US" sz="1050" dirty="0"/>
          </a:p>
        </p:txBody>
      </p:sp>
      <p:sp>
        <p:nvSpPr>
          <p:cNvPr id="14" name="band-2"/>
          <p:cNvSpPr/>
          <p:nvPr/>
        </p:nvSpPr>
        <p:spPr>
          <a:xfrm>
            <a:off x="4315968" y="3182112"/>
            <a:ext cx="4526280" cy="576072"/>
          </a:xfrm>
          <a:prstGeom prst="roundRect">
            <a:avLst>
              <a:gd name="adj" fmla="val 7937"/>
            </a:avLst>
          </a:prstGeom>
          <a:solidFill>
            <a:srgbClr val="FFFFFF"/>
          </a:solidFill>
          <a:ln w="9525">
            <a:solidFill>
              <a:srgbClr val="C4BCAE"/>
            </a:solidFill>
            <a:prstDash val="solid"/>
          </a:ln>
        </p:spPr>
      </p:sp>
      <p:sp>
        <p:nvSpPr>
          <p:cNvPr id="15" name="band-2-label"/>
          <p:cNvSpPr txBox="1"/>
          <p:nvPr/>
        </p:nvSpPr>
        <p:spPr>
          <a:xfrm>
            <a:off x="4370832" y="3182112"/>
            <a:ext cx="4416552" cy="576072"/>
          </a:xfrm>
          <a:prstGeom prst="rect">
            <a:avLst/>
          </a:prstGeom>
          <a:noFill/>
          <a:ln/>
        </p:spPr>
        <p:txBody>
          <a:bodyPr wrap="square" lIns="0" tIns="0" rIns="0" bIns="0" rtlCol="0" anchor="ctr"/>
          <a:lstStyle/>
          <a:p>
            <a:pPr algn="ctr" indent="0" marL="0">
              <a:lnSpc>
                <a:spcPct val="105000"/>
              </a:lnSpc>
              <a:buNone/>
            </a:pPr>
            <a:r>
              <a:rPr lang="en-US" sz="1050" b="1" dirty="0">
                <a:solidFill>
                  <a:srgbClr val="201E1B"/>
                </a:solidFill>
                <a:latin typeface="Calibri" pitchFamily="34" charset="0"/>
                <a:ea typeface="Calibri" pitchFamily="34" charset="-122"/>
                <a:cs typeface="Calibri" pitchFamily="34" charset="-120"/>
              </a:rPr>
              <a:t>Memory</a:t>
            </a:r>
            <a:endParaRPr lang="en-US" sz="1050" dirty="0"/>
          </a:p>
          <a:p>
            <a:pPr algn="ctr" indent="0" marL="0">
              <a:lnSpc>
                <a:spcPct val="105000"/>
              </a:lnSpc>
              <a:buNone/>
            </a:pPr>
            <a:r>
              <a:rPr lang="en-US" sz="850" dirty="0">
                <a:solidFill>
                  <a:srgbClr val="6E675E"/>
                </a:solidFill>
                <a:latin typeface="Calibri" pitchFamily="34" charset="0"/>
                <a:ea typeface="Calibri" pitchFamily="34" charset="-122"/>
                <a:cs typeface="Calibri" pitchFamily="34" charset="-120"/>
              </a:rPr>
              <a:t>tsr-store (SQLCipher) · tsr-retrieval</a:t>
            </a:r>
            <a:endParaRPr lang="en-US" sz="1050" dirty="0"/>
          </a:p>
        </p:txBody>
      </p:sp>
      <p:sp>
        <p:nvSpPr>
          <p:cNvPr id="16" name="band-3"/>
          <p:cNvSpPr/>
          <p:nvPr/>
        </p:nvSpPr>
        <p:spPr>
          <a:xfrm>
            <a:off x="4315968" y="3831336"/>
            <a:ext cx="4526280" cy="576072"/>
          </a:xfrm>
          <a:prstGeom prst="roundRect">
            <a:avLst>
              <a:gd name="adj" fmla="val 7937"/>
            </a:avLst>
          </a:prstGeom>
          <a:solidFill>
            <a:srgbClr val="FFFFFF"/>
          </a:solidFill>
          <a:ln w="9525">
            <a:solidFill>
              <a:srgbClr val="C4BCAE"/>
            </a:solidFill>
            <a:prstDash val="solid"/>
          </a:ln>
        </p:spPr>
      </p:sp>
      <p:sp>
        <p:nvSpPr>
          <p:cNvPr id="17" name="band-3-label"/>
          <p:cNvSpPr txBox="1"/>
          <p:nvPr/>
        </p:nvSpPr>
        <p:spPr>
          <a:xfrm>
            <a:off x="4370832" y="3831336"/>
            <a:ext cx="4416552" cy="576072"/>
          </a:xfrm>
          <a:prstGeom prst="rect">
            <a:avLst/>
          </a:prstGeom>
          <a:noFill/>
          <a:ln/>
        </p:spPr>
        <p:txBody>
          <a:bodyPr wrap="square" lIns="0" tIns="0" rIns="0" bIns="0" rtlCol="0" anchor="ctr"/>
          <a:lstStyle/>
          <a:p>
            <a:pPr algn="ctr" indent="0" marL="0">
              <a:lnSpc>
                <a:spcPct val="105000"/>
              </a:lnSpc>
              <a:buNone/>
            </a:pPr>
            <a:r>
              <a:rPr lang="en-US" sz="1050" b="1" dirty="0">
                <a:solidFill>
                  <a:srgbClr val="201E1B"/>
                </a:solidFill>
                <a:latin typeface="Calibri" pitchFamily="34" charset="0"/>
                <a:ea typeface="Calibri" pitchFamily="34" charset="-122"/>
                <a:cs typeface="Calibri" pitchFamily="34" charset="-120"/>
              </a:rPr>
              <a:t>Reasoning</a:t>
            </a:r>
            <a:endParaRPr lang="en-US" sz="1050" dirty="0"/>
          </a:p>
          <a:p>
            <a:pPr algn="ctr" indent="0" marL="0">
              <a:lnSpc>
                <a:spcPct val="105000"/>
              </a:lnSpc>
              <a:buNone/>
            </a:pPr>
            <a:r>
              <a:rPr lang="en-US" sz="850" dirty="0">
                <a:solidFill>
                  <a:srgbClr val="6E675E"/>
                </a:solidFill>
                <a:latin typeface="Calibri" pitchFamily="34" charset="0"/>
                <a:ea typeface="Calibri" pitchFamily="34" charset="-122"/>
                <a:cs typeface="Calibri" pitchFamily="34" charset="-120"/>
              </a:rPr>
              <a:t>tsr-pipeline · tsr-draft</a:t>
            </a:r>
            <a:endParaRPr lang="en-US" sz="1050" dirty="0"/>
          </a:p>
        </p:txBody>
      </p:sp>
      <p:sp>
        <p:nvSpPr>
          <p:cNvPr id="18" name="band-4"/>
          <p:cNvSpPr/>
          <p:nvPr/>
        </p:nvSpPr>
        <p:spPr>
          <a:xfrm>
            <a:off x="4315968" y="4480560"/>
            <a:ext cx="4526280" cy="576072"/>
          </a:xfrm>
          <a:prstGeom prst="roundRect">
            <a:avLst>
              <a:gd name="adj" fmla="val 7937"/>
            </a:avLst>
          </a:prstGeom>
          <a:solidFill>
            <a:srgbClr val="FFFFFF"/>
          </a:solidFill>
          <a:ln w="9525">
            <a:solidFill>
              <a:srgbClr val="C4BCAE"/>
            </a:solidFill>
            <a:prstDash val="solid"/>
          </a:ln>
        </p:spPr>
      </p:sp>
      <p:sp>
        <p:nvSpPr>
          <p:cNvPr id="19" name="band-4-label"/>
          <p:cNvSpPr txBox="1"/>
          <p:nvPr/>
        </p:nvSpPr>
        <p:spPr>
          <a:xfrm>
            <a:off x="4370832" y="4480560"/>
            <a:ext cx="4416552" cy="576072"/>
          </a:xfrm>
          <a:prstGeom prst="rect">
            <a:avLst/>
          </a:prstGeom>
          <a:noFill/>
          <a:ln/>
        </p:spPr>
        <p:txBody>
          <a:bodyPr wrap="square" lIns="0" tIns="0" rIns="0" bIns="0" rtlCol="0" anchor="ctr"/>
          <a:lstStyle/>
          <a:p>
            <a:pPr algn="ctr" indent="0" marL="0">
              <a:lnSpc>
                <a:spcPct val="105000"/>
              </a:lnSpc>
              <a:buNone/>
            </a:pPr>
            <a:r>
              <a:rPr lang="en-US" sz="1050" b="1" dirty="0">
                <a:solidFill>
                  <a:srgbClr val="201E1B"/>
                </a:solidFill>
                <a:latin typeface="Calibri" pitchFamily="34" charset="0"/>
                <a:ea typeface="Calibri" pitchFamily="34" charset="-122"/>
                <a:cs typeface="Calibri" pitchFamily="34" charset="-120"/>
              </a:rPr>
              <a:t>Orchestration</a:t>
            </a:r>
            <a:endParaRPr lang="en-US" sz="1050" dirty="0"/>
          </a:p>
          <a:p>
            <a:pPr algn="ctr" indent="0" marL="0">
              <a:lnSpc>
                <a:spcPct val="105000"/>
              </a:lnSpc>
              <a:buNone/>
            </a:pPr>
            <a:r>
              <a:rPr lang="en-US" sz="850" dirty="0">
                <a:solidFill>
                  <a:srgbClr val="6E675E"/>
                </a:solidFill>
                <a:latin typeface="Calibri" pitchFamily="34" charset="0"/>
                <a:ea typeface="Calibri" pitchFamily="34" charset="-122"/>
                <a:cs typeface="Calibri" pitchFamily="34" charset="-120"/>
              </a:rPr>
              <a:t>tsr-infer (scheduler, supervisor) · tsr-net</a:t>
            </a:r>
            <a:endParaRPr lang="en-US" sz="1050" dirty="0"/>
          </a:p>
        </p:txBody>
      </p:sp>
      <p:sp>
        <p:nvSpPr>
          <p:cNvPr id="20" name="core-note"/>
          <p:cNvSpPr txBox="1"/>
          <p:nvPr/>
        </p:nvSpPr>
        <p:spPr>
          <a:xfrm>
            <a:off x="4315968" y="5120640"/>
            <a:ext cx="4526280" cy="201168"/>
          </a:xfrm>
          <a:prstGeom prst="rect">
            <a:avLst/>
          </a:prstGeom>
          <a:noFill/>
          <a:ln/>
        </p:spPr>
        <p:txBody>
          <a:bodyPr wrap="square" lIns="0" tIns="0" rIns="0" bIns="0" rtlCol="0" anchor="ctr"/>
          <a:lstStyle/>
          <a:p>
            <a:pPr algn="ctr" indent="0" marL="0">
              <a:buNone/>
            </a:pPr>
            <a:r>
              <a:rPr lang="en-US" sz="820" i="1" dirty="0">
                <a:solidFill>
                  <a:srgbClr val="6E675E"/>
                </a:solidFill>
                <a:latin typeface="Calibri" pitchFamily="34" charset="0"/>
                <a:ea typeface="Calibri" pitchFamily="34" charset="-122"/>
                <a:cs typeface="Calibri" pitchFamily="34" charset="-120"/>
              </a:rPr>
              <a:t>tsr-core underlies all five: Sensitive&lt;T&gt; and content-free logging</a:t>
            </a:r>
            <a:endParaRPr lang="en-US" sz="820" dirty="0"/>
          </a:p>
        </p:txBody>
      </p:sp>
      <p:sp>
        <p:nvSpPr>
          <p:cNvPr id="21" name="bnd-worker"/>
          <p:cNvSpPr/>
          <p:nvPr/>
        </p:nvSpPr>
        <p:spPr>
          <a:xfrm>
            <a:off x="9235440" y="1517904"/>
            <a:ext cx="2240280" cy="1316736"/>
          </a:xfrm>
          <a:prstGeom prst="roundRect">
            <a:avLst>
              <a:gd name="adj" fmla="val 2083"/>
            </a:avLst>
          </a:prstGeom>
          <a:ln w="9525">
            <a:solidFill>
              <a:srgbClr val="8C8577"/>
            </a:solidFill>
            <a:prstDash val="dash"/>
          </a:ln>
        </p:spPr>
      </p:sp>
      <p:sp>
        <p:nvSpPr>
          <p:cNvPr id="22" name="bnd-worker-cap"/>
          <p:cNvSpPr txBox="1"/>
          <p:nvPr/>
        </p:nvSpPr>
        <p:spPr>
          <a:xfrm>
            <a:off x="9326880" y="1499616"/>
            <a:ext cx="2057400" cy="219456"/>
          </a:xfrm>
          <a:prstGeom prst="rect">
            <a:avLst/>
          </a:prstGeom>
          <a:noFill/>
          <a:ln/>
        </p:spPr>
        <p:txBody>
          <a:bodyPr wrap="square" lIns="0" tIns="0" rIns="0" bIns="0" rtlCol="0" anchor="ctr"/>
          <a:lstStyle/>
          <a:p>
            <a:pPr algn="l" indent="0" marL="0">
              <a:buNone/>
            </a:pPr>
            <a:r>
              <a:rPr lang="en-US" sz="850" b="1" spc="100" kern="0" dirty="0">
                <a:solidFill>
                  <a:srgbClr val="8C8577"/>
                </a:solidFill>
                <a:latin typeface="Calibri" pitchFamily="34" charset="0"/>
                <a:ea typeface="Calibri" pitchFamily="34" charset="-122"/>
                <a:cs typeface="Calibri" pitchFamily="34" charset="-120"/>
              </a:rPr>
              <a:t>WORKER  ·  JOB OBJECT</a:t>
            </a:r>
            <a:endParaRPr lang="en-US" sz="850" dirty="0"/>
          </a:p>
        </p:txBody>
      </p:sp>
      <p:sp>
        <p:nvSpPr>
          <p:cNvPr id="23" name="worker-box"/>
          <p:cNvSpPr/>
          <p:nvPr/>
        </p:nvSpPr>
        <p:spPr>
          <a:xfrm>
            <a:off x="9381744" y="1865376"/>
            <a:ext cx="1947672" cy="786384"/>
          </a:xfrm>
          <a:prstGeom prst="roundRect">
            <a:avLst>
              <a:gd name="adj" fmla="val 5814"/>
            </a:avLst>
          </a:prstGeom>
          <a:solidFill>
            <a:srgbClr val="FFFFFF"/>
          </a:solidFill>
          <a:ln w="9525">
            <a:solidFill>
              <a:srgbClr val="C4BCAE"/>
            </a:solidFill>
            <a:prstDash val="solid"/>
          </a:ln>
        </p:spPr>
      </p:sp>
      <p:sp>
        <p:nvSpPr>
          <p:cNvPr id="24" name="worker-box-label"/>
          <p:cNvSpPr txBox="1"/>
          <p:nvPr/>
        </p:nvSpPr>
        <p:spPr>
          <a:xfrm>
            <a:off x="9436608" y="1865376"/>
            <a:ext cx="1837944" cy="786384"/>
          </a:xfrm>
          <a:prstGeom prst="rect">
            <a:avLst/>
          </a:prstGeom>
          <a:noFill/>
          <a:ln/>
        </p:spPr>
        <p:txBody>
          <a:bodyPr wrap="square" lIns="0" tIns="0" rIns="0" bIns="0" rtlCol="0" anchor="ctr"/>
          <a:lstStyle/>
          <a:p>
            <a:pPr algn="ctr" indent="0" marL="0">
              <a:lnSpc>
                <a:spcPct val="105000"/>
              </a:lnSpc>
              <a:buNone/>
            </a:pPr>
            <a:r>
              <a:rPr lang="en-US" sz="1050" b="1" dirty="0">
                <a:solidFill>
                  <a:srgbClr val="201E1B"/>
                </a:solidFill>
                <a:latin typeface="Calibri" pitchFamily="34" charset="0"/>
                <a:ea typeface="Calibri" pitchFamily="34" charset="-122"/>
                <a:cs typeface="Calibri" pitchFamily="34" charset="-120"/>
              </a:rPr>
              <a:t>llama-server.exe</a:t>
            </a:r>
            <a:endParaRPr lang="en-US" sz="1050" dirty="0"/>
          </a:p>
          <a:p>
            <a:pPr algn="ctr" indent="0" marL="0">
              <a:lnSpc>
                <a:spcPct val="105000"/>
              </a:lnSpc>
              <a:buNone/>
            </a:pPr>
            <a:r>
              <a:rPr lang="en-US" sz="850" dirty="0">
                <a:solidFill>
                  <a:srgbClr val="6E675E"/>
                </a:solidFill>
                <a:latin typeface="Calibri" pitchFamily="34" charset="0"/>
                <a:ea typeface="Calibri" pitchFamily="34" charset="-122"/>
                <a:cs typeface="Calibri" pitchFamily="34" charset="-120"/>
              </a:rPr>
              <a:t>Qwen3-VL-4B Q4_K_M</a:t>
            </a:r>
            <a:endParaRPr lang="en-US" sz="1050" dirty="0"/>
          </a:p>
        </p:txBody>
      </p:sp>
      <p:sp>
        <p:nvSpPr>
          <p:cNvPr id="25" name="worker-hw"/>
          <p:cNvSpPr/>
          <p:nvPr/>
        </p:nvSpPr>
        <p:spPr>
          <a:xfrm>
            <a:off x="10351008" y="2670048"/>
            <a:ext cx="0" cy="310896"/>
          </a:xfrm>
          <a:prstGeom prst="line">
            <a:avLst/>
          </a:prstGeom>
          <a:noFill/>
          <a:ln w="12700">
            <a:solidFill>
              <a:srgbClr val="C4BCAE"/>
            </a:solidFill>
            <a:prstDash val="solid"/>
            <a:tailEnd type="triangle"/>
          </a:ln>
        </p:spPr>
      </p:sp>
      <p:sp>
        <p:nvSpPr>
          <p:cNvPr id="26" name="backend-box"/>
          <p:cNvSpPr/>
          <p:nvPr/>
        </p:nvSpPr>
        <p:spPr>
          <a:xfrm>
            <a:off x="9381744" y="3017520"/>
            <a:ext cx="1947672" cy="749808"/>
          </a:xfrm>
          <a:prstGeom prst="roundRect">
            <a:avLst>
              <a:gd name="adj" fmla="val 6098"/>
            </a:avLst>
          </a:prstGeom>
          <a:solidFill>
            <a:srgbClr val="E7E3DA"/>
          </a:solidFill>
          <a:ln w="9525">
            <a:solidFill>
              <a:srgbClr val="C4BCAE"/>
            </a:solidFill>
            <a:prstDash val="solid"/>
          </a:ln>
        </p:spPr>
      </p:sp>
      <p:sp>
        <p:nvSpPr>
          <p:cNvPr id="27" name="backend-box-label"/>
          <p:cNvSpPr txBox="1"/>
          <p:nvPr/>
        </p:nvSpPr>
        <p:spPr>
          <a:xfrm>
            <a:off x="9436608" y="3017520"/>
            <a:ext cx="1837944" cy="749808"/>
          </a:xfrm>
          <a:prstGeom prst="rect">
            <a:avLst/>
          </a:prstGeom>
          <a:noFill/>
          <a:ln/>
        </p:spPr>
        <p:txBody>
          <a:bodyPr wrap="square" lIns="0" tIns="0" rIns="0" bIns="0" rtlCol="0" anchor="ctr"/>
          <a:lstStyle/>
          <a:p>
            <a:pPr algn="ctr" indent="0" marL="0">
              <a:lnSpc>
                <a:spcPct val="105000"/>
              </a:lnSpc>
              <a:buNone/>
            </a:pPr>
            <a:r>
              <a:rPr lang="en-US" sz="1000" b="1" dirty="0">
                <a:solidFill>
                  <a:srgbClr val="201E1B"/>
                </a:solidFill>
                <a:latin typeface="Calibri" pitchFamily="34" charset="0"/>
                <a:ea typeface="Calibri" pitchFamily="34" charset="-122"/>
                <a:cs typeface="Calibri" pitchFamily="34" charset="-120"/>
              </a:rPr>
              <a:t>Hardware backend</a:t>
            </a:r>
            <a:endParaRPr lang="en-US" sz="1000" dirty="0"/>
          </a:p>
          <a:p>
            <a:pPr algn="ctr" indent="0" marL="0">
              <a:lnSpc>
                <a:spcPct val="105000"/>
              </a:lnSpc>
              <a:buNone/>
            </a:pPr>
            <a:r>
              <a:rPr lang="en-US" sz="780" dirty="0">
                <a:solidFill>
                  <a:srgbClr val="6E675E"/>
                </a:solidFill>
                <a:latin typeface="Calibri" pitchFamily="34" charset="0"/>
                <a:ea typeface="Calibri" pitchFamily="34" charset="-122"/>
                <a:cs typeface="Calibri" pitchFamily="34" charset="-120"/>
              </a:rPr>
              <a:t>CUDA · ROCm · Vulkan</a:t>
            </a:r>
            <a:endParaRPr lang="en-US" sz="1000" dirty="0"/>
          </a:p>
          <a:p>
            <a:pPr algn="ctr" indent="0" marL="0">
              <a:lnSpc>
                <a:spcPct val="105000"/>
              </a:lnSpc>
              <a:buNone/>
            </a:pPr>
            <a:r>
              <a:rPr lang="en-US" sz="780" dirty="0">
                <a:solidFill>
                  <a:srgbClr val="6E675E"/>
                </a:solidFill>
                <a:latin typeface="Calibri" pitchFamily="34" charset="0"/>
                <a:ea typeface="Calibri" pitchFamily="34" charset="-122"/>
                <a:cs typeface="Calibri" pitchFamily="34" charset="-120"/>
              </a:rPr>
              <a:t>SYCL · Metal · OpenCL · CPU</a:t>
            </a:r>
            <a:endParaRPr lang="en-US" sz="1000" dirty="0"/>
          </a:p>
        </p:txBody>
      </p:sp>
      <p:sp>
        <p:nvSpPr>
          <p:cNvPr id="28" name="ui-host"/>
          <p:cNvSpPr/>
          <p:nvPr/>
        </p:nvSpPr>
        <p:spPr>
          <a:xfrm>
            <a:off x="3675888" y="2350008"/>
            <a:ext cx="420624" cy="0"/>
          </a:xfrm>
          <a:prstGeom prst="line">
            <a:avLst/>
          </a:prstGeom>
          <a:noFill/>
          <a:ln w="12700">
            <a:solidFill>
              <a:srgbClr val="C4BCAE"/>
            </a:solidFill>
            <a:prstDash val="solid"/>
            <a:tailEnd type="triangle"/>
          </a:ln>
        </p:spPr>
      </p:sp>
      <p:sp>
        <p:nvSpPr>
          <p:cNvPr id="29" name="lbl-ipc"/>
          <p:cNvSpPr txBox="1"/>
          <p:nvPr/>
        </p:nvSpPr>
        <p:spPr>
          <a:xfrm>
            <a:off x="3493008" y="2029968"/>
            <a:ext cx="822960" cy="237744"/>
          </a:xfrm>
          <a:prstGeom prst="rect">
            <a:avLst/>
          </a:prstGeom>
          <a:noFill/>
          <a:ln/>
        </p:spPr>
        <p:txBody>
          <a:bodyPr wrap="square" lIns="0" tIns="0" rIns="0" bIns="0" rtlCol="0" anchor="ctr"/>
          <a:lstStyle/>
          <a:p>
            <a:pPr algn="ctr" indent="0" marL="0">
              <a:buNone/>
            </a:pPr>
            <a:r>
              <a:rPr lang="en-US" sz="800" dirty="0">
                <a:solidFill>
                  <a:srgbClr val="6E675E"/>
                </a:solidFill>
                <a:latin typeface="Calibri" pitchFamily="34" charset="0"/>
                <a:ea typeface="Calibri" pitchFamily="34" charset="-122"/>
                <a:cs typeface="Calibri" pitchFamily="34" charset="-120"/>
              </a:rPr>
              <a:t>typed IPC</a:t>
            </a:r>
            <a:endParaRPr lang="en-US" sz="800" dirty="0"/>
          </a:p>
        </p:txBody>
      </p:sp>
      <p:sp>
        <p:nvSpPr>
          <p:cNvPr id="30" name="host-worker"/>
          <p:cNvSpPr/>
          <p:nvPr/>
        </p:nvSpPr>
        <p:spPr>
          <a:xfrm>
            <a:off x="8887968" y="2258568"/>
            <a:ext cx="310896" cy="0"/>
          </a:xfrm>
          <a:prstGeom prst="line">
            <a:avLst/>
          </a:prstGeom>
          <a:noFill/>
          <a:ln w="12700">
            <a:solidFill>
              <a:srgbClr val="C4BCAE"/>
            </a:solidFill>
            <a:prstDash val="solid"/>
            <a:tailEnd type="triangle"/>
          </a:ln>
        </p:spPr>
      </p:sp>
      <p:sp>
        <p:nvSpPr>
          <p:cNvPr id="31" name="why-card"/>
          <p:cNvSpPr/>
          <p:nvPr/>
        </p:nvSpPr>
        <p:spPr>
          <a:xfrm>
            <a:off x="9235440" y="4078224"/>
            <a:ext cx="2240280" cy="1298448"/>
          </a:xfrm>
          <a:prstGeom prst="roundRect">
            <a:avLst>
              <a:gd name="adj" fmla="val 2817"/>
            </a:avLst>
          </a:prstGeom>
          <a:solidFill>
            <a:srgbClr val="E7E3DA"/>
          </a:solidFill>
          <a:ln/>
        </p:spPr>
      </p:sp>
      <p:sp>
        <p:nvSpPr>
          <p:cNvPr id="32" name="why-text"/>
          <p:cNvSpPr txBox="1"/>
          <p:nvPr/>
        </p:nvSpPr>
        <p:spPr>
          <a:xfrm>
            <a:off x="9400032" y="4206240"/>
            <a:ext cx="1920240" cy="1060704"/>
          </a:xfrm>
          <a:prstGeom prst="rect">
            <a:avLst/>
          </a:prstGeom>
          <a:noFill/>
          <a:ln/>
        </p:spPr>
        <p:txBody>
          <a:bodyPr wrap="square" lIns="0" tIns="0" rIns="0" bIns="0" rtlCol="0" anchor="t"/>
          <a:lstStyle/>
          <a:p>
            <a:pPr algn="l" indent="0" marL="0">
              <a:lnSpc>
                <a:spcPct val="110000"/>
              </a:lnSpc>
              <a:buNone/>
            </a:pPr>
            <a:r>
              <a:rPr lang="en-US" sz="840" b="1" dirty="0">
                <a:solidFill>
                  <a:srgbClr val="201E1B"/>
                </a:solidFill>
                <a:latin typeface="Calibri" pitchFamily="34" charset="0"/>
                <a:ea typeface="Calibri" pitchFamily="34" charset="-122"/>
                <a:cs typeface="Calibri" pitchFamily="34" charset="-120"/>
              </a:rPr>
              <a:t>Why separate?</a:t>
            </a:r>
            <a:endParaRPr lang="en-US" sz="840" dirty="0"/>
          </a:p>
          <a:p>
            <a:pPr algn="l" indent="0" marL="0">
              <a:lnSpc>
                <a:spcPct val="110000"/>
              </a:lnSpc>
              <a:buNone/>
            </a:pPr>
            <a:r>
              <a:rPr lang="en-US" sz="840" dirty="0">
                <a:solidFill>
                  <a:srgbClr val="6E675E"/>
                </a:solidFill>
                <a:latin typeface="Calibri" pitchFamily="34" charset="0"/>
                <a:ea typeface="Calibri" pitchFamily="34" charset="-122"/>
                <a:cs typeface="Calibri" pitchFamily="34" charset="-120"/>
              </a:rPr>
              <a:t>The worker is created suspended, stripped of its environment and tied to a job that kills it when the host exits. A driver reset or out-of-memory crash takes down inference — never the application or the database.</a:t>
            </a:r>
            <a:endParaRPr lang="en-US" sz="840" dirty="0"/>
          </a:p>
        </p:txBody>
      </p:sp>
      <p:sp>
        <p:nvSpPr>
          <p:cNvPr id="33" name="arch-cap"/>
          <p:cNvSpPr txBox="1"/>
          <p:nvPr/>
        </p:nvSpPr>
        <p:spPr>
          <a:xfrm>
            <a:off x="685800" y="5541264"/>
            <a:ext cx="8412480" cy="310896"/>
          </a:xfrm>
          <a:prstGeom prst="rect">
            <a:avLst/>
          </a:prstGeom>
          <a:noFill/>
          <a:ln/>
        </p:spPr>
        <p:txBody>
          <a:bodyPr wrap="square" lIns="0" tIns="0" rIns="0" bIns="0" rtlCol="0" anchor="t"/>
          <a:lstStyle/>
          <a:p>
            <a:pPr algn="l" indent="0" marL="0">
              <a:buNone/>
            </a:pPr>
            <a:r>
              <a:rPr lang="en-US" sz="950" i="1" dirty="0">
                <a:solidFill>
                  <a:srgbClr val="6E675E"/>
                </a:solidFill>
                <a:latin typeface="Calibri" pitchFamily="34" charset="0"/>
                <a:ea typeface="Calibri" pitchFamily="34" charset="-122"/>
                <a:cs typeface="Calibri" pitchFamily="34" charset="-120"/>
              </a:rPr>
              <a:t>Dashed outlines are operating-system process boundaries. The host reaches the worker only over 127.0.0.1, and only after confirming that the process owning the listening socket is the child it created. It trusts neither of the other two: everything from the interface is validated, everything from the worker is an unverified proposal.</a:t>
            </a:r>
            <a:endParaRPr lang="en-US" sz="950" dirty="0"/>
          </a:p>
        </p:txBody>
      </p:sp>
      <p:sp>
        <p:nvSpPr>
          <p:cNvPr id="25" name="Slide Number Placeholder 0"/>
          <p:cNvSpPr>
            <a:spLocks noGrp="1"/>
          </p:cNvSpPr>
          <p:nvPr>
            <p:ph type="sldNum" sz="quarter" idx="4294967295"/>
          </p:nvPr>
        </p:nvSpPr>
        <p:spPr>
          <a:xfrm>
            <a:off x="11247120" y="635508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577"/>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789920" cy="237744"/>
          </a:xfrm>
          <a:prstGeom prst="rect">
            <a:avLst/>
          </a:prstGeom>
          <a:noFill/>
          <a:ln/>
        </p:spPr>
        <p:txBody>
          <a:bodyPr wrap="square" lIns="0" tIns="0" rIns="0" bIns="0" rtlCol="0" anchor="ctr"/>
          <a:lstStyle/>
          <a:p>
            <a:pPr algn="l" indent="0" marL="0">
              <a:buNone/>
            </a:pPr>
            <a:r>
              <a:rPr lang="en-US" sz="950" b="1" spc="250" kern="0" dirty="0">
                <a:solidFill>
                  <a:srgbClr val="8C8577"/>
                </a:solidFill>
                <a:latin typeface="Calibri" pitchFamily="34" charset="0"/>
                <a:ea typeface="Calibri" pitchFamily="34" charset="-122"/>
                <a:cs typeface="Calibri" pitchFamily="34" charset="-120"/>
              </a:rPr>
              <a:t>INSIDE THE ARCHITECTURE</a:t>
            </a:r>
            <a:endParaRPr lang="en-US" sz="950" dirty="0"/>
          </a:p>
        </p:txBody>
      </p:sp>
      <p:sp>
        <p:nvSpPr>
          <p:cNvPr id="3" name="Text 0"/>
          <p:cNvSpPr/>
          <p:nvPr>
            <p:ph idx="101" type="title" hasCustomPrompt="1"/>
          </p:nvPr>
        </p:nvSpPr>
        <p:spPr>
          <a:xfrm>
            <a:off x="685800" y="621792"/>
            <a:ext cx="10789920" cy="566928"/>
          </a:xfrm>
          <a:prstGeom prst="rect">
            <a:avLst/>
          </a:prstGeom>
          <a:noFill/>
          <a:ln/>
        </p:spPr>
        <p:txBody>
          <a:bodyPr wrap="square" lIns="0" tIns="0" rIns="0" bIns="0" rtlCol="0" anchor="ctr"/>
          <a:lstStyle/>
          <a:p>
            <a:pPr algn="l" indent="0" marL="0">
              <a:buNone/>
            </a:pPr>
            <a:r>
              <a:rPr lang="en-US" sz="3000" dirty="0">
                <a:solidFill>
                  <a:srgbClr val="201E1B"/>
                </a:solidFill>
                <a:latin typeface="Cambria" pitchFamily="34" charset="0"/>
                <a:ea typeface="Cambria" pitchFamily="34" charset="-122"/>
                <a:cs typeface="Cambria" pitchFamily="34" charset="-120"/>
              </a:rPr>
              <a:t>Boundaries drawn where the risk is, not where it is convenient</a:t>
            </a:r>
            <a:endParaRPr lang="en-US" sz="3000" dirty="0"/>
          </a:p>
        </p:txBody>
      </p:sp>
      <p:sp>
        <p:nvSpPr>
          <p:cNvPr id="4" name="mod-0"/>
          <p:cNvSpPr/>
          <p:nvPr/>
        </p:nvSpPr>
        <p:spPr>
          <a:xfrm>
            <a:off x="685800" y="1481328"/>
            <a:ext cx="2596896" cy="1005840"/>
          </a:xfrm>
          <a:prstGeom prst="roundRect">
            <a:avLst>
              <a:gd name="adj" fmla="val 3636"/>
            </a:avLst>
          </a:prstGeom>
          <a:solidFill>
            <a:srgbClr val="FFFFFF"/>
          </a:solidFill>
          <a:ln w="9525">
            <a:solidFill>
              <a:srgbClr val="E7E3DA"/>
            </a:solidFill>
            <a:prstDash val="solid"/>
          </a:ln>
        </p:spPr>
      </p:sp>
      <p:sp>
        <p:nvSpPr>
          <p:cNvPr id="5" name="mod-t-0"/>
          <p:cNvSpPr txBox="1"/>
          <p:nvPr/>
        </p:nvSpPr>
        <p:spPr>
          <a:xfrm>
            <a:off x="832104" y="1591056"/>
            <a:ext cx="2304288" cy="786384"/>
          </a:xfrm>
          <a:prstGeom prst="rect">
            <a:avLst/>
          </a:prstGeom>
          <a:noFill/>
          <a:ln/>
        </p:spPr>
        <p:txBody>
          <a:bodyPr wrap="square" lIns="0" tIns="0" rIns="0" bIns="0" rtlCol="0" anchor="t"/>
          <a:lstStyle/>
          <a:p>
            <a:pPr algn="l" indent="0" marL="0">
              <a:lnSpc>
                <a:spcPct val="110000"/>
              </a:lnSpc>
              <a:buNone/>
            </a:pPr>
            <a:r>
              <a:rPr lang="en-US" sz="1100" b="1" dirty="0">
                <a:solidFill>
                  <a:srgbClr val="201E1B"/>
                </a:solidFill>
                <a:latin typeface="Courier New" pitchFamily="34" charset="0"/>
                <a:ea typeface="Courier New" pitchFamily="34" charset="-122"/>
                <a:cs typeface="Courier New" pitchFamily="34" charset="-120"/>
              </a:rPr>
              <a:t>tsr-capture</a:t>
            </a:r>
            <a:pPr algn="l" indent="0" marL="0">
              <a:lnSpc>
                <a:spcPct val="110000"/>
              </a:lnSpc>
              <a:buNone/>
            </a:pPr>
            <a:r>
              <a:rPr lang="en-US" sz="800" dirty="0">
                <a:solidFill>
                  <a:srgbClr val="8C8577"/>
                </a:solidFill>
                <a:latin typeface="Calibri" pitchFamily="34" charset="0"/>
                <a:ea typeface="Calibri" pitchFamily="34" charset="-122"/>
                <a:cs typeface="Calibri" pitchFamily="34" charset="-120"/>
              </a:rPr>
              <a:t>   5,101 lines</a:t>
            </a:r>
            <a:endParaRPr lang="en-US" sz="1100" dirty="0"/>
          </a:p>
          <a:p>
            <a:pPr algn="l" indent="0" marL="0">
              <a:lnSpc>
                <a:spcPct val="110000"/>
              </a:lnSpc>
              <a:buNone/>
            </a:pPr>
            <a:r>
              <a:rPr lang="en-US" sz="880" dirty="0">
                <a:solidFill>
                  <a:srgbClr val="6E675E"/>
                </a:solidFill>
                <a:latin typeface="Calibri" pitchFamily="34" charset="0"/>
                <a:ea typeface="Calibri" pitchFamily="34" charset="-122"/>
                <a:cs typeface="Calibri" pitchFamily="34" charset="-120"/>
              </a:rPr>
              <a:t>Three-rung acquisition ladder, the 285 ms deadline worker, SimHash change detection, session aggregation.</a:t>
            </a:r>
            <a:endParaRPr lang="en-US" sz="1100" dirty="0"/>
          </a:p>
        </p:txBody>
      </p:sp>
      <p:sp>
        <p:nvSpPr>
          <p:cNvPr id="6" name="mod-1"/>
          <p:cNvSpPr/>
          <p:nvPr/>
        </p:nvSpPr>
        <p:spPr>
          <a:xfrm>
            <a:off x="3502152" y="1481328"/>
            <a:ext cx="2596896" cy="1005840"/>
          </a:xfrm>
          <a:prstGeom prst="roundRect">
            <a:avLst>
              <a:gd name="adj" fmla="val 3636"/>
            </a:avLst>
          </a:prstGeom>
          <a:solidFill>
            <a:srgbClr val="FFFFFF"/>
          </a:solidFill>
          <a:ln w="9525">
            <a:solidFill>
              <a:srgbClr val="E7E3DA"/>
            </a:solidFill>
            <a:prstDash val="solid"/>
          </a:ln>
        </p:spPr>
      </p:sp>
      <p:sp>
        <p:nvSpPr>
          <p:cNvPr id="7" name="mod-t-1"/>
          <p:cNvSpPr txBox="1"/>
          <p:nvPr/>
        </p:nvSpPr>
        <p:spPr>
          <a:xfrm>
            <a:off x="3648456" y="1591056"/>
            <a:ext cx="2304288" cy="786384"/>
          </a:xfrm>
          <a:prstGeom prst="rect">
            <a:avLst/>
          </a:prstGeom>
          <a:noFill/>
          <a:ln/>
        </p:spPr>
        <p:txBody>
          <a:bodyPr wrap="square" lIns="0" tIns="0" rIns="0" bIns="0" rtlCol="0" anchor="t"/>
          <a:lstStyle/>
          <a:p>
            <a:pPr algn="l" indent="0" marL="0">
              <a:lnSpc>
                <a:spcPct val="110000"/>
              </a:lnSpc>
              <a:buNone/>
            </a:pPr>
            <a:r>
              <a:rPr lang="en-US" sz="1100" b="1" dirty="0">
                <a:solidFill>
                  <a:srgbClr val="201E1B"/>
                </a:solidFill>
                <a:latin typeface="Courier New" pitchFamily="34" charset="0"/>
                <a:ea typeface="Courier New" pitchFamily="34" charset="-122"/>
                <a:cs typeface="Courier New" pitchFamily="34" charset="-120"/>
              </a:rPr>
              <a:t>tsr-guard</a:t>
            </a:r>
            <a:pPr algn="l" indent="0" marL="0">
              <a:lnSpc>
                <a:spcPct val="110000"/>
              </a:lnSpc>
              <a:buNone/>
            </a:pPr>
            <a:r>
              <a:rPr lang="en-US" sz="800" dirty="0">
                <a:solidFill>
                  <a:srgbClr val="8C8577"/>
                </a:solidFill>
                <a:latin typeface="Calibri" pitchFamily="34" charset="0"/>
                <a:ea typeface="Calibri" pitchFamily="34" charset="-122"/>
                <a:cs typeface="Calibri" pitchFamily="34" charset="-120"/>
              </a:rPr>
              <a:t>   1,651 lines</a:t>
            </a:r>
            <a:endParaRPr lang="en-US" sz="1100" dirty="0"/>
          </a:p>
          <a:p>
            <a:pPr algn="l" indent="0" marL="0">
              <a:lnSpc>
                <a:spcPct val="110000"/>
              </a:lnSpc>
              <a:buNone/>
            </a:pPr>
            <a:r>
              <a:rPr lang="en-US" sz="880" dirty="0">
                <a:solidFill>
                  <a:srgbClr val="6E675E"/>
                </a:solidFill>
                <a:latin typeface="Calibri" pitchFamily="34" charset="0"/>
                <a:ea typeface="Calibri" pitchFamily="34" charset="-122"/>
                <a:cs typeface="Calibri" pitchFamily="34" charset="-120"/>
              </a:rPr>
              <a:t>Blocklist, redaction engine, claim checker. Deliberately platform-neutral.</a:t>
            </a:r>
            <a:endParaRPr lang="en-US" sz="1100" dirty="0"/>
          </a:p>
        </p:txBody>
      </p:sp>
      <p:sp>
        <p:nvSpPr>
          <p:cNvPr id="8" name="mod-2"/>
          <p:cNvSpPr/>
          <p:nvPr/>
        </p:nvSpPr>
        <p:spPr>
          <a:xfrm>
            <a:off x="6318504" y="1481328"/>
            <a:ext cx="2596896" cy="1005840"/>
          </a:xfrm>
          <a:prstGeom prst="roundRect">
            <a:avLst>
              <a:gd name="adj" fmla="val 3636"/>
            </a:avLst>
          </a:prstGeom>
          <a:solidFill>
            <a:srgbClr val="FFFFFF"/>
          </a:solidFill>
          <a:ln w="9525">
            <a:solidFill>
              <a:srgbClr val="E7E3DA"/>
            </a:solidFill>
            <a:prstDash val="solid"/>
          </a:ln>
        </p:spPr>
      </p:sp>
      <p:sp>
        <p:nvSpPr>
          <p:cNvPr id="9" name="mod-t-2"/>
          <p:cNvSpPr txBox="1"/>
          <p:nvPr/>
        </p:nvSpPr>
        <p:spPr>
          <a:xfrm>
            <a:off x="6464808" y="1591056"/>
            <a:ext cx="2304288" cy="786384"/>
          </a:xfrm>
          <a:prstGeom prst="rect">
            <a:avLst/>
          </a:prstGeom>
          <a:noFill/>
          <a:ln/>
        </p:spPr>
        <p:txBody>
          <a:bodyPr wrap="square" lIns="0" tIns="0" rIns="0" bIns="0" rtlCol="0" anchor="t"/>
          <a:lstStyle/>
          <a:p>
            <a:pPr algn="l" indent="0" marL="0">
              <a:lnSpc>
                <a:spcPct val="110000"/>
              </a:lnSpc>
              <a:buNone/>
            </a:pPr>
            <a:r>
              <a:rPr lang="en-US" sz="1100" b="1" dirty="0">
                <a:solidFill>
                  <a:srgbClr val="201E1B"/>
                </a:solidFill>
                <a:latin typeface="Courier New" pitchFamily="34" charset="0"/>
                <a:ea typeface="Courier New" pitchFamily="34" charset="-122"/>
                <a:cs typeface="Courier New" pitchFamily="34" charset="-120"/>
              </a:rPr>
              <a:t>tsr-store</a:t>
            </a:r>
            <a:pPr algn="l" indent="0" marL="0">
              <a:lnSpc>
                <a:spcPct val="110000"/>
              </a:lnSpc>
              <a:buNone/>
            </a:pPr>
            <a:r>
              <a:rPr lang="en-US" sz="800" dirty="0">
                <a:solidFill>
                  <a:srgbClr val="8C8577"/>
                </a:solidFill>
                <a:latin typeface="Calibri" pitchFamily="34" charset="0"/>
                <a:ea typeface="Calibri" pitchFamily="34" charset="-122"/>
                <a:cs typeface="Calibri" pitchFamily="34" charset="-120"/>
              </a:rPr>
              <a:t>   3,081 lines</a:t>
            </a:r>
            <a:endParaRPr lang="en-US" sz="1100" dirty="0"/>
          </a:p>
          <a:p>
            <a:pPr algn="l" indent="0" marL="0">
              <a:lnSpc>
                <a:spcPct val="110000"/>
              </a:lnSpc>
              <a:buNone/>
            </a:pPr>
            <a:r>
              <a:rPr lang="en-US" sz="880" dirty="0">
                <a:solidFill>
                  <a:srgbClr val="6E675E"/>
                </a:solidFill>
                <a:latin typeface="Calibri" pitchFamily="34" charset="0"/>
                <a:ea typeface="Calibri" pitchFamily="34" charset="-122"/>
                <a:cs typeface="Calibri" pitchFamily="34" charset="-120"/>
              </a:rPr>
              <a:t>SQLCipher database, forward-only migrations, full-text indexes, repositories.</a:t>
            </a:r>
            <a:endParaRPr lang="en-US" sz="1100" dirty="0"/>
          </a:p>
        </p:txBody>
      </p:sp>
      <p:sp>
        <p:nvSpPr>
          <p:cNvPr id="10" name="mod-3"/>
          <p:cNvSpPr/>
          <p:nvPr/>
        </p:nvSpPr>
        <p:spPr>
          <a:xfrm>
            <a:off x="9134856" y="1481328"/>
            <a:ext cx="2596896" cy="1005840"/>
          </a:xfrm>
          <a:prstGeom prst="roundRect">
            <a:avLst>
              <a:gd name="adj" fmla="val 3636"/>
            </a:avLst>
          </a:prstGeom>
          <a:solidFill>
            <a:srgbClr val="FFFFFF"/>
          </a:solidFill>
          <a:ln w="9525">
            <a:solidFill>
              <a:srgbClr val="E7E3DA"/>
            </a:solidFill>
            <a:prstDash val="solid"/>
          </a:ln>
        </p:spPr>
      </p:sp>
      <p:sp>
        <p:nvSpPr>
          <p:cNvPr id="11" name="mod-t-3"/>
          <p:cNvSpPr txBox="1"/>
          <p:nvPr/>
        </p:nvSpPr>
        <p:spPr>
          <a:xfrm>
            <a:off x="9281160" y="1591056"/>
            <a:ext cx="2304288" cy="786384"/>
          </a:xfrm>
          <a:prstGeom prst="rect">
            <a:avLst/>
          </a:prstGeom>
          <a:noFill/>
          <a:ln/>
        </p:spPr>
        <p:txBody>
          <a:bodyPr wrap="square" lIns="0" tIns="0" rIns="0" bIns="0" rtlCol="0" anchor="t"/>
          <a:lstStyle/>
          <a:p>
            <a:pPr algn="l" indent="0" marL="0">
              <a:lnSpc>
                <a:spcPct val="110000"/>
              </a:lnSpc>
              <a:buNone/>
            </a:pPr>
            <a:r>
              <a:rPr lang="en-US" sz="1100" b="1" dirty="0">
                <a:solidFill>
                  <a:srgbClr val="201E1B"/>
                </a:solidFill>
                <a:latin typeface="Courier New" pitchFamily="34" charset="0"/>
                <a:ea typeface="Courier New" pitchFamily="34" charset="-122"/>
                <a:cs typeface="Courier New" pitchFamily="34" charset="-120"/>
              </a:rPr>
              <a:t>tsr-retrieval</a:t>
            </a:r>
            <a:pPr algn="l" indent="0" marL="0">
              <a:lnSpc>
                <a:spcPct val="110000"/>
              </a:lnSpc>
              <a:buNone/>
            </a:pPr>
            <a:r>
              <a:rPr lang="en-US" sz="800" dirty="0">
                <a:solidFill>
                  <a:srgbClr val="8C8577"/>
                </a:solidFill>
                <a:latin typeface="Calibri" pitchFamily="34" charset="0"/>
                <a:ea typeface="Calibri" pitchFamily="34" charset="-122"/>
                <a:cs typeface="Calibri" pitchFamily="34" charset="-120"/>
              </a:rPr>
              <a:t>   1,621 lines</a:t>
            </a:r>
            <a:endParaRPr lang="en-US" sz="1100" dirty="0"/>
          </a:p>
          <a:p>
            <a:pPr algn="l" indent="0" marL="0">
              <a:lnSpc>
                <a:spcPct val="110000"/>
              </a:lnSpc>
              <a:buNone/>
            </a:pPr>
            <a:r>
              <a:rPr lang="en-US" sz="880" dirty="0">
                <a:solidFill>
                  <a:srgbClr val="6E675E"/>
                </a:solidFill>
                <a:latin typeface="Calibri" pitchFamily="34" charset="0"/>
                <a:ea typeface="Calibri" pitchFamily="34" charset="-122"/>
                <a:cs typeface="Calibri" pitchFamily="34" charset="-120"/>
              </a:rPr>
              <a:t>Pinned ONNX runtime, chunking, int8 vectors, hybrid search, the Ask pipeline.</a:t>
            </a:r>
            <a:endParaRPr lang="en-US" sz="1100" dirty="0"/>
          </a:p>
        </p:txBody>
      </p:sp>
      <p:sp>
        <p:nvSpPr>
          <p:cNvPr id="12" name="mod-4"/>
          <p:cNvSpPr/>
          <p:nvPr/>
        </p:nvSpPr>
        <p:spPr>
          <a:xfrm>
            <a:off x="685800" y="2651760"/>
            <a:ext cx="2596896" cy="1005840"/>
          </a:xfrm>
          <a:prstGeom prst="roundRect">
            <a:avLst>
              <a:gd name="adj" fmla="val 3636"/>
            </a:avLst>
          </a:prstGeom>
          <a:solidFill>
            <a:srgbClr val="FFFFFF"/>
          </a:solidFill>
          <a:ln w="9525">
            <a:solidFill>
              <a:srgbClr val="E7E3DA"/>
            </a:solidFill>
            <a:prstDash val="solid"/>
          </a:ln>
        </p:spPr>
      </p:sp>
      <p:sp>
        <p:nvSpPr>
          <p:cNvPr id="13" name="mod-t-4"/>
          <p:cNvSpPr txBox="1"/>
          <p:nvPr/>
        </p:nvSpPr>
        <p:spPr>
          <a:xfrm>
            <a:off x="832104" y="2761488"/>
            <a:ext cx="2304288" cy="786384"/>
          </a:xfrm>
          <a:prstGeom prst="rect">
            <a:avLst/>
          </a:prstGeom>
          <a:noFill/>
          <a:ln/>
        </p:spPr>
        <p:txBody>
          <a:bodyPr wrap="square" lIns="0" tIns="0" rIns="0" bIns="0" rtlCol="0" anchor="t"/>
          <a:lstStyle/>
          <a:p>
            <a:pPr algn="l" indent="0" marL="0">
              <a:lnSpc>
                <a:spcPct val="110000"/>
              </a:lnSpc>
              <a:buNone/>
            </a:pPr>
            <a:r>
              <a:rPr lang="en-US" sz="1100" b="1" dirty="0">
                <a:solidFill>
                  <a:srgbClr val="201E1B"/>
                </a:solidFill>
                <a:latin typeface="Courier New" pitchFamily="34" charset="0"/>
                <a:ea typeface="Courier New" pitchFamily="34" charset="-122"/>
                <a:cs typeface="Courier New" pitchFamily="34" charset="-120"/>
              </a:rPr>
              <a:t>tsr-infer</a:t>
            </a:r>
            <a:pPr algn="l" indent="0" marL="0">
              <a:lnSpc>
                <a:spcPct val="110000"/>
              </a:lnSpc>
              <a:buNone/>
            </a:pPr>
            <a:r>
              <a:rPr lang="en-US" sz="800" dirty="0">
                <a:solidFill>
                  <a:srgbClr val="8C8577"/>
                </a:solidFill>
                <a:latin typeface="Calibri" pitchFamily="34" charset="0"/>
                <a:ea typeface="Calibri" pitchFamily="34" charset="-122"/>
                <a:cs typeface="Calibri" pitchFamily="34" charset="-120"/>
              </a:rPr>
              <a:t>   8,664 lines</a:t>
            </a:r>
            <a:endParaRPr lang="en-US" sz="1100" dirty="0"/>
          </a:p>
          <a:p>
            <a:pPr algn="l" indent="0" marL="0">
              <a:lnSpc>
                <a:spcPct val="110000"/>
              </a:lnSpc>
              <a:buNone/>
            </a:pPr>
            <a:r>
              <a:rPr lang="en-US" sz="880" dirty="0">
                <a:solidFill>
                  <a:srgbClr val="6E675E"/>
                </a:solidFill>
                <a:latin typeface="Calibri" pitchFamily="34" charset="0"/>
                <a:ea typeface="Calibri" pitchFamily="34" charset="-122"/>
                <a:cs typeface="Calibri" pitchFamily="34" charset="-120"/>
              </a:rPr>
              <a:t>Adapter discovery, GGUF parsing, backend selection, supervisor, loopback client, scheduler.</a:t>
            </a:r>
            <a:endParaRPr lang="en-US" sz="1100" dirty="0"/>
          </a:p>
        </p:txBody>
      </p:sp>
      <p:sp>
        <p:nvSpPr>
          <p:cNvPr id="14" name="mod-5"/>
          <p:cNvSpPr/>
          <p:nvPr/>
        </p:nvSpPr>
        <p:spPr>
          <a:xfrm>
            <a:off x="3502152" y="2651760"/>
            <a:ext cx="2596896" cy="1005840"/>
          </a:xfrm>
          <a:prstGeom prst="roundRect">
            <a:avLst>
              <a:gd name="adj" fmla="val 3636"/>
            </a:avLst>
          </a:prstGeom>
          <a:solidFill>
            <a:srgbClr val="FFFFFF"/>
          </a:solidFill>
          <a:ln w="9525">
            <a:solidFill>
              <a:srgbClr val="E7E3DA"/>
            </a:solidFill>
            <a:prstDash val="solid"/>
          </a:ln>
        </p:spPr>
      </p:sp>
      <p:sp>
        <p:nvSpPr>
          <p:cNvPr id="15" name="mod-t-5"/>
          <p:cNvSpPr txBox="1"/>
          <p:nvPr/>
        </p:nvSpPr>
        <p:spPr>
          <a:xfrm>
            <a:off x="3648456" y="2761488"/>
            <a:ext cx="2304288" cy="786384"/>
          </a:xfrm>
          <a:prstGeom prst="rect">
            <a:avLst/>
          </a:prstGeom>
          <a:noFill/>
          <a:ln/>
        </p:spPr>
        <p:txBody>
          <a:bodyPr wrap="square" lIns="0" tIns="0" rIns="0" bIns="0" rtlCol="0" anchor="t"/>
          <a:lstStyle/>
          <a:p>
            <a:pPr algn="l" indent="0" marL="0">
              <a:lnSpc>
                <a:spcPct val="110000"/>
              </a:lnSpc>
              <a:buNone/>
            </a:pPr>
            <a:r>
              <a:rPr lang="en-US" sz="1100" b="1" dirty="0">
                <a:solidFill>
                  <a:srgbClr val="201E1B"/>
                </a:solidFill>
                <a:latin typeface="Courier New" pitchFamily="34" charset="0"/>
                <a:ea typeface="Courier New" pitchFamily="34" charset="-122"/>
                <a:cs typeface="Courier New" pitchFamily="34" charset="-120"/>
              </a:rPr>
              <a:t>tsr-pipeline</a:t>
            </a:r>
            <a:pPr algn="l" indent="0" marL="0">
              <a:lnSpc>
                <a:spcPct val="110000"/>
              </a:lnSpc>
              <a:buNone/>
            </a:pPr>
            <a:r>
              <a:rPr lang="en-US" sz="800" dirty="0">
                <a:solidFill>
                  <a:srgbClr val="8C8577"/>
                </a:solidFill>
                <a:latin typeface="Calibri" pitchFamily="34" charset="0"/>
                <a:ea typeface="Calibri" pitchFamily="34" charset="-122"/>
                <a:cs typeface="Calibri" pitchFamily="34" charset="-120"/>
              </a:rPr>
              <a:t>   7,254 lines</a:t>
            </a:r>
            <a:endParaRPr lang="en-US" sz="1100" dirty="0"/>
          </a:p>
          <a:p>
            <a:pPr algn="l" indent="0" marL="0">
              <a:lnSpc>
                <a:spcPct val="110000"/>
              </a:lnSpc>
              <a:buNone/>
            </a:pPr>
            <a:r>
              <a:rPr lang="en-US" sz="880" dirty="0">
                <a:solidFill>
                  <a:srgbClr val="6E675E"/>
                </a:solidFill>
                <a:latin typeface="Calibri" pitchFamily="34" charset="0"/>
                <a:ea typeface="Calibri" pitchFamily="34" charset="-122"/>
                <a:cs typeface="Calibri" pitchFamily="34" charset="-120"/>
              </a:rPr>
              <a:t>Extraction, schema, evidence verification, injection guard, resolvers, rollups.</a:t>
            </a:r>
            <a:endParaRPr lang="en-US" sz="1100" dirty="0"/>
          </a:p>
        </p:txBody>
      </p:sp>
      <p:sp>
        <p:nvSpPr>
          <p:cNvPr id="16" name="mod-6"/>
          <p:cNvSpPr/>
          <p:nvPr/>
        </p:nvSpPr>
        <p:spPr>
          <a:xfrm>
            <a:off x="6318504" y="2651760"/>
            <a:ext cx="2596896" cy="1005840"/>
          </a:xfrm>
          <a:prstGeom prst="roundRect">
            <a:avLst>
              <a:gd name="adj" fmla="val 3636"/>
            </a:avLst>
          </a:prstGeom>
          <a:solidFill>
            <a:srgbClr val="FFFFFF"/>
          </a:solidFill>
          <a:ln w="9525">
            <a:solidFill>
              <a:srgbClr val="E7E3DA"/>
            </a:solidFill>
            <a:prstDash val="solid"/>
          </a:ln>
        </p:spPr>
      </p:sp>
      <p:sp>
        <p:nvSpPr>
          <p:cNvPr id="17" name="mod-t-6"/>
          <p:cNvSpPr txBox="1"/>
          <p:nvPr/>
        </p:nvSpPr>
        <p:spPr>
          <a:xfrm>
            <a:off x="6464808" y="2761488"/>
            <a:ext cx="2304288" cy="786384"/>
          </a:xfrm>
          <a:prstGeom prst="rect">
            <a:avLst/>
          </a:prstGeom>
          <a:noFill/>
          <a:ln/>
        </p:spPr>
        <p:txBody>
          <a:bodyPr wrap="square" lIns="0" tIns="0" rIns="0" bIns="0" rtlCol="0" anchor="t"/>
          <a:lstStyle/>
          <a:p>
            <a:pPr algn="l" indent="0" marL="0">
              <a:lnSpc>
                <a:spcPct val="110000"/>
              </a:lnSpc>
              <a:buNone/>
            </a:pPr>
            <a:r>
              <a:rPr lang="en-US" sz="1100" b="1" dirty="0">
                <a:solidFill>
                  <a:srgbClr val="201E1B"/>
                </a:solidFill>
                <a:latin typeface="Courier New" pitchFamily="34" charset="0"/>
                <a:ea typeface="Courier New" pitchFamily="34" charset="-122"/>
                <a:cs typeface="Courier New" pitchFamily="34" charset="-120"/>
              </a:rPr>
              <a:t>tsr-draft</a:t>
            </a:r>
            <a:pPr algn="l" indent="0" marL="0">
              <a:lnSpc>
                <a:spcPct val="110000"/>
              </a:lnSpc>
              <a:buNone/>
            </a:pPr>
            <a:r>
              <a:rPr lang="en-US" sz="800" dirty="0">
                <a:solidFill>
                  <a:srgbClr val="8C8577"/>
                </a:solidFill>
                <a:latin typeface="Calibri" pitchFamily="34" charset="0"/>
                <a:ea typeface="Calibri" pitchFamily="34" charset="-122"/>
                <a:cs typeface="Calibri" pitchFamily="34" charset="-120"/>
              </a:rPr>
              <a:t>   587 lines</a:t>
            </a:r>
            <a:endParaRPr lang="en-US" sz="1100" dirty="0"/>
          </a:p>
          <a:p>
            <a:pPr algn="l" indent="0" marL="0">
              <a:lnSpc>
                <a:spcPct val="110000"/>
              </a:lnSpc>
              <a:buNone/>
            </a:pPr>
            <a:r>
              <a:rPr lang="en-US" sz="880" dirty="0">
                <a:solidFill>
                  <a:srgbClr val="6E675E"/>
                </a:solidFill>
                <a:latin typeface="Calibri" pitchFamily="34" charset="0"/>
                <a:ea typeface="Calibri" pitchFamily="34" charset="-122"/>
                <a:cs typeface="Calibri" pitchFamily="34" charset="-120"/>
              </a:rPr>
              <a:t>Draft generation and the independent fact checker.</a:t>
            </a:r>
            <a:endParaRPr lang="en-US" sz="1100" dirty="0"/>
          </a:p>
        </p:txBody>
      </p:sp>
      <p:sp>
        <p:nvSpPr>
          <p:cNvPr id="18" name="mod-7"/>
          <p:cNvSpPr/>
          <p:nvPr/>
        </p:nvSpPr>
        <p:spPr>
          <a:xfrm>
            <a:off x="9134856" y="2651760"/>
            <a:ext cx="2596896" cy="1005840"/>
          </a:xfrm>
          <a:prstGeom prst="roundRect">
            <a:avLst>
              <a:gd name="adj" fmla="val 3636"/>
            </a:avLst>
          </a:prstGeom>
          <a:solidFill>
            <a:srgbClr val="FFFFFF"/>
          </a:solidFill>
          <a:ln w="9525">
            <a:solidFill>
              <a:srgbClr val="E7E3DA"/>
            </a:solidFill>
            <a:prstDash val="solid"/>
          </a:ln>
        </p:spPr>
      </p:sp>
      <p:sp>
        <p:nvSpPr>
          <p:cNvPr id="19" name="mod-t-7"/>
          <p:cNvSpPr txBox="1"/>
          <p:nvPr/>
        </p:nvSpPr>
        <p:spPr>
          <a:xfrm>
            <a:off x="9281160" y="2761488"/>
            <a:ext cx="2304288" cy="786384"/>
          </a:xfrm>
          <a:prstGeom prst="rect">
            <a:avLst/>
          </a:prstGeom>
          <a:noFill/>
          <a:ln/>
        </p:spPr>
        <p:txBody>
          <a:bodyPr wrap="square" lIns="0" tIns="0" rIns="0" bIns="0" rtlCol="0" anchor="t"/>
          <a:lstStyle/>
          <a:p>
            <a:pPr algn="l" indent="0" marL="0">
              <a:lnSpc>
                <a:spcPct val="110000"/>
              </a:lnSpc>
              <a:buNone/>
            </a:pPr>
            <a:r>
              <a:rPr lang="en-US" sz="1100" b="1" dirty="0">
                <a:solidFill>
                  <a:srgbClr val="201E1B"/>
                </a:solidFill>
                <a:latin typeface="Courier New" pitchFamily="34" charset="0"/>
                <a:ea typeface="Courier New" pitchFamily="34" charset="-122"/>
                <a:cs typeface="Courier New" pitchFamily="34" charset="-120"/>
              </a:rPr>
              <a:t>tsr-net</a:t>
            </a:r>
            <a:pPr algn="l" indent="0" marL="0">
              <a:lnSpc>
                <a:spcPct val="110000"/>
              </a:lnSpc>
              <a:buNone/>
            </a:pPr>
            <a:r>
              <a:rPr lang="en-US" sz="800" dirty="0">
                <a:solidFill>
                  <a:srgbClr val="8C8577"/>
                </a:solidFill>
                <a:latin typeface="Calibri" pitchFamily="34" charset="0"/>
                <a:ea typeface="Calibri" pitchFamily="34" charset="-122"/>
                <a:cs typeface="Calibri" pitchFamily="34" charset="-120"/>
              </a:rPr>
              <a:t>   1,115 lines</a:t>
            </a:r>
            <a:endParaRPr lang="en-US" sz="1100" dirty="0"/>
          </a:p>
          <a:p>
            <a:pPr algn="l" indent="0" marL="0">
              <a:lnSpc>
                <a:spcPct val="110000"/>
              </a:lnSpc>
              <a:buNone/>
            </a:pPr>
            <a:r>
              <a:rPr lang="en-US" sz="880" dirty="0">
                <a:solidFill>
                  <a:srgbClr val="6E675E"/>
                </a:solidFill>
                <a:latin typeface="Calibri" pitchFamily="34" charset="0"/>
                <a:ea typeface="Calibri" pitchFamily="34" charset="-122"/>
                <a:cs typeface="Calibri" pitchFamily="34" charset="-120"/>
              </a:rPr>
              <a:t>The only network-capable crate. Approval-gated, digest-verified downloads.</a:t>
            </a:r>
            <a:endParaRPr lang="en-US" sz="1100" dirty="0"/>
          </a:p>
        </p:txBody>
      </p:sp>
      <p:sp>
        <p:nvSpPr>
          <p:cNvPr id="20" name="modw-0"/>
          <p:cNvSpPr/>
          <p:nvPr/>
        </p:nvSpPr>
        <p:spPr>
          <a:xfrm>
            <a:off x="685800" y="3822192"/>
            <a:ext cx="5285232" cy="566928"/>
          </a:xfrm>
          <a:prstGeom prst="roundRect">
            <a:avLst>
              <a:gd name="adj" fmla="val 6452"/>
            </a:avLst>
          </a:prstGeom>
          <a:solidFill>
            <a:srgbClr val="FFFFFF"/>
          </a:solidFill>
          <a:ln w="9525">
            <a:solidFill>
              <a:srgbClr val="E7E3DA"/>
            </a:solidFill>
            <a:prstDash val="solid"/>
          </a:ln>
        </p:spPr>
      </p:sp>
      <p:sp>
        <p:nvSpPr>
          <p:cNvPr id="21" name="modw-t-0"/>
          <p:cNvSpPr txBox="1"/>
          <p:nvPr/>
        </p:nvSpPr>
        <p:spPr>
          <a:xfrm>
            <a:off x="832104" y="3822192"/>
            <a:ext cx="4992624" cy="566928"/>
          </a:xfrm>
          <a:prstGeom prst="rect">
            <a:avLst/>
          </a:prstGeom>
          <a:noFill/>
          <a:ln/>
        </p:spPr>
        <p:txBody>
          <a:bodyPr wrap="square" lIns="0" tIns="0" rIns="0" bIns="0" rtlCol="0" anchor="ctr"/>
          <a:lstStyle/>
          <a:p>
            <a:pPr algn="l" indent="0" marL="0">
              <a:lnSpc>
                <a:spcPct val="110000"/>
              </a:lnSpc>
              <a:buNone/>
            </a:pPr>
            <a:r>
              <a:rPr lang="en-US" sz="1100" b="1" dirty="0">
                <a:solidFill>
                  <a:srgbClr val="201E1B"/>
                </a:solidFill>
                <a:latin typeface="Courier New" pitchFamily="34" charset="0"/>
                <a:ea typeface="Courier New" pitchFamily="34" charset="-122"/>
                <a:cs typeface="Courier New" pitchFamily="34" charset="-120"/>
              </a:rPr>
              <a:t>tsr-win</a:t>
            </a:r>
            <a:pPr algn="l" indent="0" marL="0">
              <a:lnSpc>
                <a:spcPct val="110000"/>
              </a:lnSpc>
              <a:buNone/>
            </a:pPr>
            <a:r>
              <a:rPr lang="en-US" sz="800" dirty="0">
                <a:solidFill>
                  <a:srgbClr val="8C8577"/>
                </a:solidFill>
                <a:latin typeface="Calibri" pitchFamily="34" charset="0"/>
                <a:ea typeface="Calibri" pitchFamily="34" charset="-122"/>
                <a:cs typeface="Calibri" pitchFamily="34" charset="-120"/>
              </a:rPr>
              <a:t>   1,771 lines   </a:t>
            </a:r>
            <a:pPr algn="l" indent="0" marL="0">
              <a:lnSpc>
                <a:spcPct val="110000"/>
              </a:lnSpc>
              <a:buNone/>
            </a:pPr>
            <a:r>
              <a:rPr lang="en-US" sz="880" dirty="0">
                <a:solidFill>
                  <a:srgbClr val="6E675E"/>
                </a:solidFill>
                <a:latin typeface="Calibri" pitchFamily="34" charset="0"/>
                <a:ea typeface="Calibri" pitchFamily="34" charset="-122"/>
                <a:cs typeface="Calibri" pitchFamily="34" charset="-120"/>
              </a:rPr>
              <a:t>DPAPI, job objects, display affinity, window hooks, clipboard, TCP table.</a:t>
            </a:r>
            <a:endParaRPr lang="en-US" sz="1100" dirty="0"/>
          </a:p>
        </p:txBody>
      </p:sp>
      <p:sp>
        <p:nvSpPr>
          <p:cNvPr id="22" name="modw-1"/>
          <p:cNvSpPr/>
          <p:nvPr/>
        </p:nvSpPr>
        <p:spPr>
          <a:xfrm>
            <a:off x="6336792" y="3822192"/>
            <a:ext cx="5285232" cy="566928"/>
          </a:xfrm>
          <a:prstGeom prst="roundRect">
            <a:avLst>
              <a:gd name="adj" fmla="val 6452"/>
            </a:avLst>
          </a:prstGeom>
          <a:solidFill>
            <a:srgbClr val="FFFFFF"/>
          </a:solidFill>
          <a:ln w="9525">
            <a:solidFill>
              <a:srgbClr val="E7E3DA"/>
            </a:solidFill>
            <a:prstDash val="solid"/>
          </a:ln>
        </p:spPr>
      </p:sp>
      <p:sp>
        <p:nvSpPr>
          <p:cNvPr id="23" name="modw-t-1"/>
          <p:cNvSpPr txBox="1"/>
          <p:nvPr/>
        </p:nvSpPr>
        <p:spPr>
          <a:xfrm>
            <a:off x="6483096" y="3822192"/>
            <a:ext cx="4992624" cy="566928"/>
          </a:xfrm>
          <a:prstGeom prst="rect">
            <a:avLst/>
          </a:prstGeom>
          <a:noFill/>
          <a:ln/>
        </p:spPr>
        <p:txBody>
          <a:bodyPr wrap="square" lIns="0" tIns="0" rIns="0" bIns="0" rtlCol="0" anchor="ctr"/>
          <a:lstStyle/>
          <a:p>
            <a:pPr algn="l" indent="0" marL="0">
              <a:lnSpc>
                <a:spcPct val="110000"/>
              </a:lnSpc>
              <a:buNone/>
            </a:pPr>
            <a:r>
              <a:rPr lang="en-US" sz="1100" b="1" dirty="0">
                <a:solidFill>
                  <a:srgbClr val="201E1B"/>
                </a:solidFill>
                <a:latin typeface="Courier New" pitchFamily="34" charset="0"/>
                <a:ea typeface="Courier New" pitchFamily="34" charset="-122"/>
                <a:cs typeface="Courier New" pitchFamily="34" charset="-120"/>
              </a:rPr>
              <a:t>tsr-core</a:t>
            </a:r>
            <a:pPr algn="l" indent="0" marL="0">
              <a:lnSpc>
                <a:spcPct val="110000"/>
              </a:lnSpc>
              <a:buNone/>
            </a:pPr>
            <a:r>
              <a:rPr lang="en-US" sz="800" dirty="0">
                <a:solidFill>
                  <a:srgbClr val="8C8577"/>
                </a:solidFill>
                <a:latin typeface="Calibri" pitchFamily="34" charset="0"/>
                <a:ea typeface="Calibri" pitchFamily="34" charset="-122"/>
                <a:cs typeface="Calibri" pitchFamily="34" charset="-120"/>
              </a:rPr>
              <a:t>   475 lines   </a:t>
            </a:r>
            <a:pPr algn="l" indent="0" marL="0">
              <a:lnSpc>
                <a:spcPct val="110000"/>
              </a:lnSpc>
              <a:buNone/>
            </a:pPr>
            <a:r>
              <a:rPr lang="en-US" sz="880" dirty="0">
                <a:solidFill>
                  <a:srgbClr val="6E675E"/>
                </a:solidFill>
                <a:latin typeface="Calibri" pitchFamily="34" charset="0"/>
                <a:ea typeface="Calibri" pitchFamily="34" charset="-122"/>
                <a:cs typeface="Calibri" pitchFamily="34" charset="-120"/>
              </a:rPr>
              <a:t>Sensitive&lt;T&gt;, content-free logging allowlist.</a:t>
            </a:r>
            <a:endParaRPr lang="en-US" sz="1100" dirty="0"/>
          </a:p>
        </p:txBody>
      </p:sp>
      <p:sp>
        <p:nvSpPr>
          <p:cNvPr id="24" name="why-dot-0"/>
          <p:cNvSpPr/>
          <p:nvPr/>
        </p:nvSpPr>
        <p:spPr>
          <a:xfrm>
            <a:off x="685800" y="4846320"/>
            <a:ext cx="109728" cy="109728"/>
          </a:xfrm>
          <a:prstGeom prst="ellipse">
            <a:avLst/>
          </a:prstGeom>
          <a:solidFill>
            <a:srgbClr val="A85A45"/>
          </a:solidFill>
          <a:ln w="12700">
            <a:solidFill>
              <a:srgbClr val="A85A45"/>
            </a:solidFill>
            <a:prstDash val="solid"/>
          </a:ln>
        </p:spPr>
      </p:sp>
      <p:sp>
        <p:nvSpPr>
          <p:cNvPr id="25" name="why-0"/>
          <p:cNvSpPr txBox="1"/>
          <p:nvPr/>
        </p:nvSpPr>
        <p:spPr>
          <a:xfrm>
            <a:off x="886968" y="4736592"/>
            <a:ext cx="3383280" cy="1463040"/>
          </a:xfrm>
          <a:prstGeom prst="rect">
            <a:avLst/>
          </a:prstGeom>
          <a:noFill/>
          <a:ln/>
        </p:spPr>
        <p:txBody>
          <a:bodyPr wrap="square" lIns="0" tIns="0" rIns="0" bIns="0" rtlCol="0" anchor="t"/>
          <a:lstStyle/>
          <a:p>
            <a:pPr algn="l" indent="0" marL="0">
              <a:lnSpc>
                <a:spcPct val="114000"/>
              </a:lnSpc>
              <a:buNone/>
            </a:pPr>
            <a:r>
              <a:rPr lang="en-US" sz="960" b="1" dirty="0">
                <a:solidFill>
                  <a:srgbClr val="201E1B"/>
                </a:solidFill>
                <a:latin typeface="Calibri" pitchFamily="34" charset="0"/>
                <a:ea typeface="Calibri" pitchFamily="34" charset="-122"/>
                <a:cs typeface="Calibri" pitchFamily="34" charset="-120"/>
              </a:rPr>
              <a:t>Security code compiles without Windows</a:t>
            </a:r>
            <a:endParaRPr lang="en-US" sz="960" dirty="0"/>
          </a:p>
          <a:p>
            <a:pPr algn="l" indent="0" marL="0">
              <a:lnSpc>
                <a:spcPct val="114000"/>
              </a:lnSpc>
              <a:buNone/>
            </a:pPr>
            <a:r>
              <a:rPr lang="en-US" sz="960" dirty="0">
                <a:solidFill>
                  <a:srgbClr val="6E675E"/>
                </a:solidFill>
                <a:latin typeface="Calibri" pitchFamily="34" charset="0"/>
                <a:ea typeface="Calibri" pitchFamily="34" charset="-122"/>
                <a:cs typeface="Calibri" pitchFamily="34" charset="-120"/>
              </a:rPr>
              <a:t>tsr-guard, tsr-store, tsr-pipeline and tsr-retrieval have no Windows dependency, so the 355-case secrets corpus and the 152-case injection corpus run in ordinary CI.</a:t>
            </a:r>
            <a:endParaRPr lang="en-US" sz="960" dirty="0"/>
          </a:p>
        </p:txBody>
      </p:sp>
      <p:sp>
        <p:nvSpPr>
          <p:cNvPr id="26" name="why-dot-1"/>
          <p:cNvSpPr/>
          <p:nvPr/>
        </p:nvSpPr>
        <p:spPr>
          <a:xfrm>
            <a:off x="4297680" y="4846320"/>
            <a:ext cx="109728" cy="109728"/>
          </a:xfrm>
          <a:prstGeom prst="ellipse">
            <a:avLst/>
          </a:prstGeom>
          <a:solidFill>
            <a:srgbClr val="A85A45"/>
          </a:solidFill>
          <a:ln w="12700">
            <a:solidFill>
              <a:srgbClr val="A85A45"/>
            </a:solidFill>
            <a:prstDash val="solid"/>
          </a:ln>
        </p:spPr>
      </p:sp>
      <p:sp>
        <p:nvSpPr>
          <p:cNvPr id="27" name="why-1"/>
          <p:cNvSpPr txBox="1"/>
          <p:nvPr/>
        </p:nvSpPr>
        <p:spPr>
          <a:xfrm>
            <a:off x="4498848" y="4736592"/>
            <a:ext cx="3383280" cy="1463040"/>
          </a:xfrm>
          <a:prstGeom prst="rect">
            <a:avLst/>
          </a:prstGeom>
          <a:noFill/>
          <a:ln/>
        </p:spPr>
        <p:txBody>
          <a:bodyPr wrap="square" lIns="0" tIns="0" rIns="0" bIns="0" rtlCol="0" anchor="t"/>
          <a:lstStyle/>
          <a:p>
            <a:pPr algn="l" indent="0" marL="0">
              <a:lnSpc>
                <a:spcPct val="114000"/>
              </a:lnSpc>
              <a:buNone/>
            </a:pPr>
            <a:r>
              <a:rPr lang="en-US" sz="960" b="1" dirty="0">
                <a:solidFill>
                  <a:srgbClr val="201E1B"/>
                </a:solidFill>
                <a:latin typeface="Calibri" pitchFamily="34" charset="0"/>
                <a:ea typeface="Calibri" pitchFamily="34" charset="-122"/>
                <a:cs typeface="Calibri" pitchFamily="34" charset="-120"/>
              </a:rPr>
              <a:t>Network capability is a single crate</a:t>
            </a:r>
            <a:endParaRPr lang="en-US" sz="960" dirty="0"/>
          </a:p>
          <a:p>
            <a:pPr algn="l" indent="0" marL="0">
              <a:lnSpc>
                <a:spcPct val="114000"/>
              </a:lnSpc>
              <a:buNone/>
            </a:pPr>
            <a:r>
              <a:rPr lang="en-US" sz="960" dirty="0">
                <a:solidFill>
                  <a:srgbClr val="6E675E"/>
                </a:solidFill>
                <a:latin typeface="Calibri" pitchFamily="34" charset="0"/>
                <a:ea typeface="Calibri" pitchFamily="34" charset="-122"/>
                <a:cs typeface="Calibri" pitchFamily="34" charset="-120"/>
              </a:rPr>
              <a:t>A build-time checker walks the whole dependency graph and fails compilation if any other crate can reach a network-capable dependency. It is itself tested against broken fixtures.</a:t>
            </a:r>
            <a:endParaRPr lang="en-US" sz="960" dirty="0"/>
          </a:p>
        </p:txBody>
      </p:sp>
      <p:sp>
        <p:nvSpPr>
          <p:cNvPr id="28" name="why-dot-2"/>
          <p:cNvSpPr/>
          <p:nvPr/>
        </p:nvSpPr>
        <p:spPr>
          <a:xfrm>
            <a:off x="7909560" y="4846320"/>
            <a:ext cx="109728" cy="109728"/>
          </a:xfrm>
          <a:prstGeom prst="ellipse">
            <a:avLst/>
          </a:prstGeom>
          <a:solidFill>
            <a:srgbClr val="A85A45"/>
          </a:solidFill>
          <a:ln w="12700">
            <a:solidFill>
              <a:srgbClr val="A85A45"/>
            </a:solidFill>
            <a:prstDash val="solid"/>
          </a:ln>
        </p:spPr>
      </p:sp>
      <p:sp>
        <p:nvSpPr>
          <p:cNvPr id="29" name="why-2"/>
          <p:cNvSpPr txBox="1"/>
          <p:nvPr/>
        </p:nvSpPr>
        <p:spPr>
          <a:xfrm>
            <a:off x="8110728" y="4736592"/>
            <a:ext cx="3383280" cy="1463040"/>
          </a:xfrm>
          <a:prstGeom prst="rect">
            <a:avLst/>
          </a:prstGeom>
          <a:noFill/>
          <a:ln/>
        </p:spPr>
        <p:txBody>
          <a:bodyPr wrap="square" lIns="0" tIns="0" rIns="0" bIns="0" rtlCol="0" anchor="t"/>
          <a:lstStyle/>
          <a:p>
            <a:pPr algn="l" indent="0" marL="0">
              <a:lnSpc>
                <a:spcPct val="114000"/>
              </a:lnSpc>
              <a:buNone/>
            </a:pPr>
            <a:r>
              <a:rPr lang="en-US" sz="960" b="1" dirty="0">
                <a:solidFill>
                  <a:srgbClr val="201E1B"/>
                </a:solidFill>
                <a:latin typeface="Calibri" pitchFamily="34" charset="0"/>
                <a:ea typeface="Calibri" pitchFamily="34" charset="-122"/>
                <a:cs typeface="Calibri" pitchFamily="34" charset="-120"/>
              </a:rPr>
              <a:t>One crate per failure domain</a:t>
            </a:r>
            <a:endParaRPr lang="en-US" sz="960" dirty="0"/>
          </a:p>
          <a:p>
            <a:pPr algn="l" indent="0" marL="0">
              <a:lnSpc>
                <a:spcPct val="114000"/>
              </a:lnSpc>
              <a:buNone/>
            </a:pPr>
            <a:r>
              <a:rPr lang="en-US" sz="960" dirty="0">
                <a:solidFill>
                  <a:srgbClr val="6E675E"/>
                </a:solidFill>
                <a:latin typeface="Calibri" pitchFamily="34" charset="0"/>
                <a:ea typeface="Calibri" pitchFamily="34" charset="-122"/>
                <a:cs typeface="Calibri" pitchFamily="34" charset="-120"/>
              </a:rPr>
              <a:t>Acquisition can time out, inference can crash, downloads can be refused — each is contained by the boundary it sits behind rather than by discipline.</a:t>
            </a:r>
            <a:endParaRPr lang="en-US" sz="960" dirty="0"/>
          </a:p>
        </p:txBody>
      </p:sp>
      <p:sp>
        <p:nvSpPr>
          <p:cNvPr id="25" name="Slide Number Placeholder 0"/>
          <p:cNvSpPr>
            <a:spLocks noGrp="1"/>
          </p:cNvSpPr>
          <p:nvPr>
            <p:ph type="sldNum" sz="quarter" idx="4294967295"/>
          </p:nvPr>
        </p:nvSpPr>
        <p:spPr>
          <a:xfrm>
            <a:off x="11247120" y="635508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577"/>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789920" cy="237744"/>
          </a:xfrm>
          <a:prstGeom prst="rect">
            <a:avLst/>
          </a:prstGeom>
          <a:noFill/>
          <a:ln/>
        </p:spPr>
        <p:txBody>
          <a:bodyPr wrap="square" lIns="0" tIns="0" rIns="0" bIns="0" rtlCol="0" anchor="ctr"/>
          <a:lstStyle/>
          <a:p>
            <a:pPr algn="l" indent="0" marL="0">
              <a:buNone/>
            </a:pPr>
            <a:r>
              <a:rPr lang="en-US" sz="950" b="1" spc="250" kern="0" dirty="0">
                <a:solidFill>
                  <a:srgbClr val="8C8577"/>
                </a:solidFill>
                <a:latin typeface="Calibri" pitchFamily="34" charset="0"/>
                <a:ea typeface="Calibri" pitchFamily="34" charset="-122"/>
                <a:cs typeface="Calibri" pitchFamily="34" charset="-120"/>
              </a:rPr>
              <a:t>TECHNOLOGY STACK</a:t>
            </a:r>
            <a:endParaRPr lang="en-US" sz="950" dirty="0"/>
          </a:p>
        </p:txBody>
      </p:sp>
      <p:sp>
        <p:nvSpPr>
          <p:cNvPr id="3" name="Text 0"/>
          <p:cNvSpPr/>
          <p:nvPr>
            <p:ph idx="101" type="title" hasCustomPrompt="1"/>
          </p:nvPr>
        </p:nvSpPr>
        <p:spPr>
          <a:xfrm>
            <a:off x="685800" y="621792"/>
            <a:ext cx="10789920" cy="566928"/>
          </a:xfrm>
          <a:prstGeom prst="rect">
            <a:avLst/>
          </a:prstGeom>
          <a:noFill/>
          <a:ln/>
        </p:spPr>
        <p:txBody>
          <a:bodyPr wrap="square" lIns="0" tIns="0" rIns="0" bIns="0" rtlCol="0" anchor="ctr"/>
          <a:lstStyle/>
          <a:p>
            <a:pPr algn="l" indent="0" marL="0">
              <a:buNone/>
            </a:pPr>
            <a:r>
              <a:rPr lang="en-US" sz="3000" dirty="0">
                <a:solidFill>
                  <a:srgbClr val="201E1B"/>
                </a:solidFill>
                <a:latin typeface="Cambria" pitchFamily="34" charset="0"/>
                <a:ea typeface="Cambria" pitchFamily="34" charset="-122"/>
                <a:cs typeface="Cambria" pitchFamily="34" charset="-120"/>
              </a:rPr>
              <a:t>Every layer chosen for a constraint, not a preference</a:t>
            </a:r>
            <a:endParaRPr lang="en-US" sz="3000" dirty="0"/>
          </a:p>
        </p:txBody>
      </p:sp>
      <p:sp>
        <p:nvSpPr>
          <p:cNvPr id="4" name="stk-0"/>
          <p:cNvSpPr/>
          <p:nvPr/>
        </p:nvSpPr>
        <p:spPr>
          <a:xfrm>
            <a:off x="685800" y="1426464"/>
            <a:ext cx="10789920" cy="859536"/>
          </a:xfrm>
          <a:prstGeom prst="roundRect">
            <a:avLst>
              <a:gd name="adj" fmla="val 4255"/>
            </a:avLst>
          </a:prstGeom>
          <a:solidFill>
            <a:srgbClr val="FFFFFF"/>
          </a:solidFill>
          <a:ln w="9525">
            <a:solidFill>
              <a:srgbClr val="E7E3DA"/>
            </a:solidFill>
            <a:prstDash val="solid"/>
          </a:ln>
        </p:spPr>
      </p:sp>
      <p:sp>
        <p:nvSpPr>
          <p:cNvPr id="5" name="stk-l-0"/>
          <p:cNvSpPr txBox="1"/>
          <p:nvPr/>
        </p:nvSpPr>
        <p:spPr>
          <a:xfrm>
            <a:off x="868680" y="1444752"/>
            <a:ext cx="1737360" cy="822960"/>
          </a:xfrm>
          <a:prstGeom prst="rect">
            <a:avLst/>
          </a:prstGeom>
          <a:noFill/>
          <a:ln/>
        </p:spPr>
        <p:txBody>
          <a:bodyPr wrap="square" lIns="0" tIns="0" rIns="0" bIns="0" rtlCol="0" anchor="ctr"/>
          <a:lstStyle/>
          <a:p>
            <a:pPr algn="l" indent="0" marL="0">
              <a:buNone/>
            </a:pPr>
            <a:r>
              <a:rPr lang="en-US" sz="1100" b="1" dirty="0">
                <a:solidFill>
                  <a:srgbClr val="201E1B"/>
                </a:solidFill>
                <a:latin typeface="Calibri" pitchFamily="34" charset="0"/>
                <a:ea typeface="Calibri" pitchFamily="34" charset="-122"/>
                <a:cs typeface="Calibri" pitchFamily="34" charset="-120"/>
              </a:rPr>
              <a:t>Interface</a:t>
            </a:r>
            <a:endParaRPr lang="en-US" sz="1100" dirty="0"/>
          </a:p>
        </p:txBody>
      </p:sp>
      <p:sp>
        <p:nvSpPr>
          <p:cNvPr id="6" name="stk-t-0"/>
          <p:cNvSpPr txBox="1"/>
          <p:nvPr/>
        </p:nvSpPr>
        <p:spPr>
          <a:xfrm>
            <a:off x="2642616" y="1444752"/>
            <a:ext cx="2999232" cy="822960"/>
          </a:xfrm>
          <a:prstGeom prst="rect">
            <a:avLst/>
          </a:prstGeom>
          <a:noFill/>
          <a:ln/>
        </p:spPr>
        <p:txBody>
          <a:bodyPr wrap="square" lIns="0" tIns="0" rIns="0" bIns="0" rtlCol="0" anchor="ctr"/>
          <a:lstStyle/>
          <a:p>
            <a:pPr algn="l" indent="0" marL="0">
              <a:lnSpc>
                <a:spcPct val="112000"/>
              </a:lnSpc>
              <a:buNone/>
            </a:pPr>
            <a:r>
              <a:rPr lang="en-US" sz="860" dirty="0">
                <a:solidFill>
                  <a:srgbClr val="A85A45"/>
                </a:solidFill>
                <a:latin typeface="Courier New" pitchFamily="34" charset="0"/>
                <a:ea typeface="Courier New" pitchFamily="34" charset="-122"/>
                <a:cs typeface="Courier New" pitchFamily="34" charset="-120"/>
              </a:rPr>
              <a:t>React 19 · TypeScript · Vite · Tailwind · Tauri 2.12.5</a:t>
            </a:r>
            <a:endParaRPr lang="en-US" sz="860" dirty="0"/>
          </a:p>
        </p:txBody>
      </p:sp>
      <p:sp>
        <p:nvSpPr>
          <p:cNvPr id="7" name="stk-w-0"/>
          <p:cNvSpPr txBox="1"/>
          <p:nvPr/>
        </p:nvSpPr>
        <p:spPr>
          <a:xfrm>
            <a:off x="5806440" y="1444752"/>
            <a:ext cx="5449824" cy="822960"/>
          </a:xfrm>
          <a:prstGeom prst="rect">
            <a:avLst/>
          </a:prstGeom>
          <a:noFill/>
          <a:ln/>
        </p:spPr>
        <p:txBody>
          <a:bodyPr wrap="square" lIns="0" tIns="0" rIns="0" bIns="0" rtlCol="0" anchor="ctr"/>
          <a:lstStyle/>
          <a:p>
            <a:pPr algn="l" indent="0" marL="0">
              <a:lnSpc>
                <a:spcPct val="110000"/>
              </a:lnSpc>
              <a:buNone/>
            </a:pPr>
            <a:r>
              <a:rPr lang="en-US" sz="890" dirty="0">
                <a:solidFill>
                  <a:srgbClr val="6E675E"/>
                </a:solidFill>
                <a:latin typeface="Calibri" pitchFamily="34" charset="0"/>
                <a:ea typeface="Calibri" pitchFamily="34" charset="-122"/>
                <a:cs typeface="Calibri" pitchFamily="34" charset="-120"/>
              </a:rPr>
              <a:t>Tauri hosts the UI in the system WebView2 runtime instead of bundling a browser engine, which keeps the binary small. Trade-off: WebView2 is also the one component whose network behaviour the project does not control.</a:t>
            </a:r>
            <a:endParaRPr lang="en-US" sz="890" dirty="0"/>
          </a:p>
        </p:txBody>
      </p:sp>
      <p:sp>
        <p:nvSpPr>
          <p:cNvPr id="8" name="stk-1"/>
          <p:cNvSpPr/>
          <p:nvPr/>
        </p:nvSpPr>
        <p:spPr>
          <a:xfrm>
            <a:off x="685800" y="2331720"/>
            <a:ext cx="10789920" cy="859536"/>
          </a:xfrm>
          <a:prstGeom prst="roundRect">
            <a:avLst>
              <a:gd name="adj" fmla="val 4255"/>
            </a:avLst>
          </a:prstGeom>
          <a:solidFill>
            <a:srgbClr val="E7E3DA"/>
          </a:solidFill>
          <a:ln/>
        </p:spPr>
      </p:sp>
      <p:sp>
        <p:nvSpPr>
          <p:cNvPr id="9" name="stk-l-1"/>
          <p:cNvSpPr txBox="1"/>
          <p:nvPr/>
        </p:nvSpPr>
        <p:spPr>
          <a:xfrm>
            <a:off x="868680" y="2350008"/>
            <a:ext cx="1737360" cy="822960"/>
          </a:xfrm>
          <a:prstGeom prst="rect">
            <a:avLst/>
          </a:prstGeom>
          <a:noFill/>
          <a:ln/>
        </p:spPr>
        <p:txBody>
          <a:bodyPr wrap="square" lIns="0" tIns="0" rIns="0" bIns="0" rtlCol="0" anchor="ctr"/>
          <a:lstStyle/>
          <a:p>
            <a:pPr algn="l" indent="0" marL="0">
              <a:buNone/>
            </a:pPr>
            <a:r>
              <a:rPr lang="en-US" sz="1100" b="1" dirty="0">
                <a:solidFill>
                  <a:srgbClr val="201E1B"/>
                </a:solidFill>
                <a:latin typeface="Calibri" pitchFamily="34" charset="0"/>
                <a:ea typeface="Calibri" pitchFamily="34" charset="-122"/>
                <a:cs typeface="Calibri" pitchFamily="34" charset="-120"/>
              </a:rPr>
              <a:t>Host and orchestration</a:t>
            </a:r>
            <a:endParaRPr lang="en-US" sz="1100" dirty="0"/>
          </a:p>
        </p:txBody>
      </p:sp>
      <p:sp>
        <p:nvSpPr>
          <p:cNvPr id="10" name="stk-t-1"/>
          <p:cNvSpPr txBox="1"/>
          <p:nvPr/>
        </p:nvSpPr>
        <p:spPr>
          <a:xfrm>
            <a:off x="2642616" y="2350008"/>
            <a:ext cx="2999232" cy="822960"/>
          </a:xfrm>
          <a:prstGeom prst="rect">
            <a:avLst/>
          </a:prstGeom>
          <a:noFill/>
          <a:ln/>
        </p:spPr>
        <p:txBody>
          <a:bodyPr wrap="square" lIns="0" tIns="0" rIns="0" bIns="0" rtlCol="0" anchor="ctr"/>
          <a:lstStyle/>
          <a:p>
            <a:pPr algn="l" indent="0" marL="0">
              <a:lnSpc>
                <a:spcPct val="112000"/>
              </a:lnSpc>
              <a:buNone/>
            </a:pPr>
            <a:r>
              <a:rPr lang="en-US" sz="860" dirty="0">
                <a:solidFill>
                  <a:srgbClr val="A85A45"/>
                </a:solidFill>
                <a:latin typeface="Courier New" pitchFamily="34" charset="0"/>
                <a:ea typeface="Courier New" pitchFamily="34" charset="-122"/>
                <a:cs typeface="Courier New" pitchFamily="34" charset="-120"/>
              </a:rPr>
              <a:t>Rust 2024 (1.99+) · Cargo workspace, 10 crates</a:t>
            </a:r>
            <a:endParaRPr lang="en-US" sz="860" dirty="0"/>
          </a:p>
        </p:txBody>
      </p:sp>
      <p:sp>
        <p:nvSpPr>
          <p:cNvPr id="11" name="stk-w-1"/>
          <p:cNvSpPr txBox="1"/>
          <p:nvPr/>
        </p:nvSpPr>
        <p:spPr>
          <a:xfrm>
            <a:off x="5806440" y="2350008"/>
            <a:ext cx="5449824" cy="822960"/>
          </a:xfrm>
          <a:prstGeom prst="rect">
            <a:avLst/>
          </a:prstGeom>
          <a:noFill/>
          <a:ln/>
        </p:spPr>
        <p:txBody>
          <a:bodyPr wrap="square" lIns="0" tIns="0" rIns="0" bIns="0" rtlCol="0" anchor="ctr"/>
          <a:lstStyle/>
          <a:p>
            <a:pPr algn="l" indent="0" marL="0">
              <a:lnSpc>
                <a:spcPct val="110000"/>
              </a:lnSpc>
              <a:buNone/>
            </a:pPr>
            <a:r>
              <a:rPr lang="en-US" sz="890" dirty="0">
                <a:solidFill>
                  <a:srgbClr val="6E675E"/>
                </a:solidFill>
                <a:latin typeface="Calibri" pitchFamily="34" charset="0"/>
                <a:ea typeface="Calibri" pitchFamily="34" charset="-122"/>
                <a:cs typeface="Calibri" pitchFamily="34" charset="-120"/>
              </a:rPr>
              <a:t>Memory and thread safety matter because the capture path handles untrusted text on background threads. The workspace boundary is what makes the network check in slide 6 enforceable at compile time.</a:t>
            </a:r>
            <a:endParaRPr lang="en-US" sz="890" dirty="0"/>
          </a:p>
        </p:txBody>
      </p:sp>
      <p:sp>
        <p:nvSpPr>
          <p:cNvPr id="12" name="stk-2"/>
          <p:cNvSpPr/>
          <p:nvPr/>
        </p:nvSpPr>
        <p:spPr>
          <a:xfrm>
            <a:off x="685800" y="3236976"/>
            <a:ext cx="10789920" cy="859536"/>
          </a:xfrm>
          <a:prstGeom prst="roundRect">
            <a:avLst>
              <a:gd name="adj" fmla="val 4255"/>
            </a:avLst>
          </a:prstGeom>
          <a:solidFill>
            <a:srgbClr val="FFFFFF"/>
          </a:solidFill>
          <a:ln w="9525">
            <a:solidFill>
              <a:srgbClr val="E7E3DA"/>
            </a:solidFill>
            <a:prstDash val="solid"/>
          </a:ln>
        </p:spPr>
      </p:sp>
      <p:sp>
        <p:nvSpPr>
          <p:cNvPr id="13" name="stk-l-2"/>
          <p:cNvSpPr txBox="1"/>
          <p:nvPr/>
        </p:nvSpPr>
        <p:spPr>
          <a:xfrm>
            <a:off x="868680" y="3255264"/>
            <a:ext cx="1737360" cy="822960"/>
          </a:xfrm>
          <a:prstGeom prst="rect">
            <a:avLst/>
          </a:prstGeom>
          <a:noFill/>
          <a:ln/>
        </p:spPr>
        <p:txBody>
          <a:bodyPr wrap="square" lIns="0" tIns="0" rIns="0" bIns="0" rtlCol="0" anchor="ctr"/>
          <a:lstStyle/>
          <a:p>
            <a:pPr algn="l" indent="0" marL="0">
              <a:buNone/>
            </a:pPr>
            <a:r>
              <a:rPr lang="en-US" sz="1100" b="1" dirty="0">
                <a:solidFill>
                  <a:srgbClr val="201E1B"/>
                </a:solidFill>
                <a:latin typeface="Calibri" pitchFamily="34" charset="0"/>
                <a:ea typeface="Calibri" pitchFamily="34" charset="-122"/>
                <a:cs typeface="Calibri" pitchFamily="34" charset="-120"/>
              </a:rPr>
              <a:t>Operating system</a:t>
            </a:r>
            <a:endParaRPr lang="en-US" sz="1100" dirty="0"/>
          </a:p>
        </p:txBody>
      </p:sp>
      <p:sp>
        <p:nvSpPr>
          <p:cNvPr id="14" name="stk-t-2"/>
          <p:cNvSpPr txBox="1"/>
          <p:nvPr/>
        </p:nvSpPr>
        <p:spPr>
          <a:xfrm>
            <a:off x="2642616" y="3255264"/>
            <a:ext cx="2999232" cy="822960"/>
          </a:xfrm>
          <a:prstGeom prst="rect">
            <a:avLst/>
          </a:prstGeom>
          <a:noFill/>
          <a:ln/>
        </p:spPr>
        <p:txBody>
          <a:bodyPr wrap="square" lIns="0" tIns="0" rIns="0" bIns="0" rtlCol="0" anchor="ctr"/>
          <a:lstStyle/>
          <a:p>
            <a:pPr algn="l" indent="0" marL="0">
              <a:lnSpc>
                <a:spcPct val="112000"/>
              </a:lnSpc>
              <a:buNone/>
            </a:pPr>
            <a:r>
              <a:rPr lang="en-US" sz="860" dirty="0">
                <a:solidFill>
                  <a:srgbClr val="A85A45"/>
                </a:solidFill>
                <a:latin typeface="Courier New" pitchFamily="34" charset="0"/>
                <a:ea typeface="Courier New" pitchFamily="34" charset="-122"/>
                <a:cs typeface="Courier New" pitchFamily="34" charset="-120"/>
              </a:rPr>
              <a:t>UI Automation · Windows Graphics Capture · WinRT OCR · DPAPI · Job Objects · display affinity</a:t>
            </a:r>
            <a:endParaRPr lang="en-US" sz="860" dirty="0"/>
          </a:p>
        </p:txBody>
      </p:sp>
      <p:sp>
        <p:nvSpPr>
          <p:cNvPr id="15" name="stk-w-2"/>
          <p:cNvSpPr txBox="1"/>
          <p:nvPr/>
        </p:nvSpPr>
        <p:spPr>
          <a:xfrm>
            <a:off x="5806440" y="3255264"/>
            <a:ext cx="5449824" cy="822960"/>
          </a:xfrm>
          <a:prstGeom prst="rect">
            <a:avLst/>
          </a:prstGeom>
          <a:noFill/>
          <a:ln/>
        </p:spPr>
        <p:txBody>
          <a:bodyPr wrap="square" lIns="0" tIns="0" rIns="0" bIns="0" rtlCol="0" anchor="ctr"/>
          <a:lstStyle/>
          <a:p>
            <a:pPr algn="l" indent="0" marL="0">
              <a:lnSpc>
                <a:spcPct val="110000"/>
              </a:lnSpc>
              <a:buNone/>
            </a:pPr>
            <a:r>
              <a:rPr lang="en-US" sz="890" dirty="0">
                <a:solidFill>
                  <a:srgbClr val="6E675E"/>
                </a:solidFill>
                <a:latin typeface="Calibri" pitchFamily="34" charset="0"/>
                <a:ea typeface="Calibri" pitchFamily="34" charset="-122"/>
                <a:cs typeface="Calibri" pitchFamily="34" charset="-120"/>
              </a:rPr>
              <a:t>There is no single way to read another application's text on Windows, so all three mechanisms are used in sequence. DPAPI ties the database key to the Windows login; job objects guarantee the worker dies with the host.</a:t>
            </a:r>
            <a:endParaRPr lang="en-US" sz="890" dirty="0"/>
          </a:p>
        </p:txBody>
      </p:sp>
      <p:sp>
        <p:nvSpPr>
          <p:cNvPr id="16" name="stk-3"/>
          <p:cNvSpPr/>
          <p:nvPr/>
        </p:nvSpPr>
        <p:spPr>
          <a:xfrm>
            <a:off x="685800" y="4142232"/>
            <a:ext cx="10789920" cy="859536"/>
          </a:xfrm>
          <a:prstGeom prst="roundRect">
            <a:avLst>
              <a:gd name="adj" fmla="val 4255"/>
            </a:avLst>
          </a:prstGeom>
          <a:solidFill>
            <a:srgbClr val="E7E3DA"/>
          </a:solidFill>
          <a:ln/>
        </p:spPr>
      </p:sp>
      <p:sp>
        <p:nvSpPr>
          <p:cNvPr id="17" name="stk-l-3"/>
          <p:cNvSpPr txBox="1"/>
          <p:nvPr/>
        </p:nvSpPr>
        <p:spPr>
          <a:xfrm>
            <a:off x="868680" y="4160520"/>
            <a:ext cx="1737360" cy="822960"/>
          </a:xfrm>
          <a:prstGeom prst="rect">
            <a:avLst/>
          </a:prstGeom>
          <a:noFill/>
          <a:ln/>
        </p:spPr>
        <p:txBody>
          <a:bodyPr wrap="square" lIns="0" tIns="0" rIns="0" bIns="0" rtlCol="0" anchor="ctr"/>
          <a:lstStyle/>
          <a:p>
            <a:pPr algn="l" indent="0" marL="0">
              <a:buNone/>
            </a:pPr>
            <a:r>
              <a:rPr lang="en-US" sz="1100" b="1" dirty="0">
                <a:solidFill>
                  <a:srgbClr val="201E1B"/>
                </a:solidFill>
                <a:latin typeface="Calibri" pitchFamily="34" charset="0"/>
                <a:ea typeface="Calibri" pitchFamily="34" charset="-122"/>
                <a:cs typeface="Calibri" pitchFamily="34" charset="-120"/>
              </a:rPr>
              <a:t>Storage and retrieval</a:t>
            </a:r>
            <a:endParaRPr lang="en-US" sz="1100" dirty="0"/>
          </a:p>
        </p:txBody>
      </p:sp>
      <p:sp>
        <p:nvSpPr>
          <p:cNvPr id="18" name="stk-t-3"/>
          <p:cNvSpPr txBox="1"/>
          <p:nvPr/>
        </p:nvSpPr>
        <p:spPr>
          <a:xfrm>
            <a:off x="2642616" y="4160520"/>
            <a:ext cx="2999232" cy="822960"/>
          </a:xfrm>
          <a:prstGeom prst="rect">
            <a:avLst/>
          </a:prstGeom>
          <a:noFill/>
          <a:ln/>
        </p:spPr>
        <p:txBody>
          <a:bodyPr wrap="square" lIns="0" tIns="0" rIns="0" bIns="0" rtlCol="0" anchor="ctr"/>
          <a:lstStyle/>
          <a:p>
            <a:pPr algn="l" indent="0" marL="0">
              <a:lnSpc>
                <a:spcPct val="112000"/>
              </a:lnSpc>
              <a:buNone/>
            </a:pPr>
            <a:r>
              <a:rPr lang="en-US" sz="860" dirty="0">
                <a:solidFill>
                  <a:srgbClr val="A85A45"/>
                </a:solidFill>
                <a:latin typeface="Courier New" pitchFamily="34" charset="0"/>
                <a:ea typeface="Courier New" pitchFamily="34" charset="-122"/>
                <a:cs typeface="Courier New" pitchFamily="34" charset="-120"/>
              </a:rPr>
              <a:t>SQLCipher via rusqlite 0.41.0 · SQLite FTS5 · fastembed 7.5.0 on ONNX Runtime 1.31</a:t>
            </a:r>
            <a:endParaRPr lang="en-US" sz="860" dirty="0"/>
          </a:p>
        </p:txBody>
      </p:sp>
      <p:sp>
        <p:nvSpPr>
          <p:cNvPr id="19" name="stk-w-3"/>
          <p:cNvSpPr txBox="1"/>
          <p:nvPr/>
        </p:nvSpPr>
        <p:spPr>
          <a:xfrm>
            <a:off x="5806440" y="4160520"/>
            <a:ext cx="5449824" cy="822960"/>
          </a:xfrm>
          <a:prstGeom prst="rect">
            <a:avLst/>
          </a:prstGeom>
          <a:noFill/>
          <a:ln/>
        </p:spPr>
        <p:txBody>
          <a:bodyPr wrap="square" lIns="0" tIns="0" rIns="0" bIns="0" rtlCol="0" anchor="ctr"/>
          <a:lstStyle/>
          <a:p>
            <a:pPr algn="l" indent="0" marL="0">
              <a:lnSpc>
                <a:spcPct val="110000"/>
              </a:lnSpc>
              <a:buNone/>
            </a:pPr>
            <a:r>
              <a:rPr lang="en-US" sz="890" dirty="0">
                <a:solidFill>
                  <a:srgbClr val="6E675E"/>
                </a:solidFill>
                <a:latin typeface="Calibri" pitchFamily="34" charset="0"/>
                <a:ea typeface="Calibri" pitchFamily="34" charset="-122"/>
                <a:cs typeface="Calibri" pitchFamily="34" charset="-120"/>
              </a:rPr>
              <a:t>Whole-database AES-256 encryption including indexes and the write-ahead log. Default features of the embedding crates are switched off because they would pull in an HTTP client and a build-time download.</a:t>
            </a:r>
            <a:endParaRPr lang="en-US" sz="890" dirty="0"/>
          </a:p>
        </p:txBody>
      </p:sp>
      <p:sp>
        <p:nvSpPr>
          <p:cNvPr id="20" name="stk-4"/>
          <p:cNvSpPr/>
          <p:nvPr/>
        </p:nvSpPr>
        <p:spPr>
          <a:xfrm>
            <a:off x="685800" y="5047488"/>
            <a:ext cx="10789920" cy="859536"/>
          </a:xfrm>
          <a:prstGeom prst="roundRect">
            <a:avLst>
              <a:gd name="adj" fmla="val 4255"/>
            </a:avLst>
          </a:prstGeom>
          <a:solidFill>
            <a:srgbClr val="FFFFFF"/>
          </a:solidFill>
          <a:ln w="9525">
            <a:solidFill>
              <a:srgbClr val="E7E3DA"/>
            </a:solidFill>
            <a:prstDash val="solid"/>
          </a:ln>
        </p:spPr>
      </p:sp>
      <p:sp>
        <p:nvSpPr>
          <p:cNvPr id="21" name="stk-l-4"/>
          <p:cNvSpPr txBox="1"/>
          <p:nvPr/>
        </p:nvSpPr>
        <p:spPr>
          <a:xfrm>
            <a:off x="868680" y="5065776"/>
            <a:ext cx="1737360" cy="822960"/>
          </a:xfrm>
          <a:prstGeom prst="rect">
            <a:avLst/>
          </a:prstGeom>
          <a:noFill/>
          <a:ln/>
        </p:spPr>
        <p:txBody>
          <a:bodyPr wrap="square" lIns="0" tIns="0" rIns="0" bIns="0" rtlCol="0" anchor="ctr"/>
          <a:lstStyle/>
          <a:p>
            <a:pPr algn="l" indent="0" marL="0">
              <a:buNone/>
            </a:pPr>
            <a:r>
              <a:rPr lang="en-US" sz="1100" b="1" dirty="0">
                <a:solidFill>
                  <a:srgbClr val="201E1B"/>
                </a:solidFill>
                <a:latin typeface="Calibri" pitchFamily="34" charset="0"/>
                <a:ea typeface="Calibri" pitchFamily="34" charset="-122"/>
                <a:cs typeface="Calibri" pitchFamily="34" charset="-120"/>
              </a:rPr>
              <a:t>Inference</a:t>
            </a:r>
            <a:endParaRPr lang="en-US" sz="1100" dirty="0"/>
          </a:p>
        </p:txBody>
      </p:sp>
      <p:sp>
        <p:nvSpPr>
          <p:cNvPr id="22" name="stk-t-4"/>
          <p:cNvSpPr txBox="1"/>
          <p:nvPr/>
        </p:nvSpPr>
        <p:spPr>
          <a:xfrm>
            <a:off x="2642616" y="5065776"/>
            <a:ext cx="2999232" cy="822960"/>
          </a:xfrm>
          <a:prstGeom prst="rect">
            <a:avLst/>
          </a:prstGeom>
          <a:noFill/>
          <a:ln/>
        </p:spPr>
        <p:txBody>
          <a:bodyPr wrap="square" lIns="0" tIns="0" rIns="0" bIns="0" rtlCol="0" anchor="ctr"/>
          <a:lstStyle/>
          <a:p>
            <a:pPr algn="l" indent="0" marL="0">
              <a:lnSpc>
                <a:spcPct val="112000"/>
              </a:lnSpc>
              <a:buNone/>
            </a:pPr>
            <a:r>
              <a:rPr lang="en-US" sz="860" dirty="0">
                <a:solidFill>
                  <a:srgbClr val="A85A45"/>
                </a:solidFill>
                <a:latin typeface="Courier New" pitchFamily="34" charset="0"/>
                <a:ea typeface="Courier New" pitchFamily="34" charset="-122"/>
                <a:cs typeface="Courier New" pitchFamily="34" charset="-120"/>
              </a:rPr>
              <a:t>llama.cpp b11900 · Qwen3-VL-4B-Instruct Q4_K_M · multilingual-e5-small</a:t>
            </a:r>
            <a:endParaRPr lang="en-US" sz="860" dirty="0"/>
          </a:p>
        </p:txBody>
      </p:sp>
      <p:sp>
        <p:nvSpPr>
          <p:cNvPr id="23" name="stk-w-4"/>
          <p:cNvSpPr txBox="1"/>
          <p:nvPr/>
        </p:nvSpPr>
        <p:spPr>
          <a:xfrm>
            <a:off x="5806440" y="5065776"/>
            <a:ext cx="5449824" cy="822960"/>
          </a:xfrm>
          <a:prstGeom prst="rect">
            <a:avLst/>
          </a:prstGeom>
          <a:noFill/>
          <a:ln/>
        </p:spPr>
        <p:txBody>
          <a:bodyPr wrap="square" lIns="0" tIns="0" rIns="0" bIns="0" rtlCol="0" anchor="ctr"/>
          <a:lstStyle/>
          <a:p>
            <a:pPr algn="l" indent="0" marL="0">
              <a:lnSpc>
                <a:spcPct val="110000"/>
              </a:lnSpc>
              <a:buNone/>
            </a:pPr>
            <a:r>
              <a:rPr lang="en-US" sz="890" dirty="0">
                <a:solidFill>
                  <a:srgbClr val="6E675E"/>
                </a:solidFill>
                <a:latin typeface="Calibri" pitchFamily="34" charset="0"/>
                <a:ea typeface="Calibri" pitchFamily="34" charset="-122"/>
                <a:cs typeface="Calibri" pitchFamily="34" charset="-120"/>
              </a:rPr>
              <a:t>The engine is an external, hash-verified binary rather than a linked library — the whole basis of the hardware independence on the next slide. Quantisation brings a 4B vision-language model to about 2.4 GB.</a:t>
            </a:r>
            <a:endParaRPr lang="en-US" sz="890" dirty="0"/>
          </a:p>
        </p:txBody>
      </p:sp>
      <p:sp>
        <p:nvSpPr>
          <p:cNvPr id="24" name="stk-cap"/>
          <p:cNvSpPr txBox="1"/>
          <p:nvPr/>
        </p:nvSpPr>
        <p:spPr>
          <a:xfrm>
            <a:off x="685800" y="6016752"/>
            <a:ext cx="10789920" cy="310896"/>
          </a:xfrm>
          <a:prstGeom prst="rect">
            <a:avLst/>
          </a:prstGeom>
          <a:noFill/>
          <a:ln/>
        </p:spPr>
        <p:txBody>
          <a:bodyPr wrap="square" lIns="0" tIns="0" rIns="0" bIns="0" rtlCol="0" anchor="t"/>
          <a:lstStyle/>
          <a:p>
            <a:pPr algn="l" indent="0" marL="0">
              <a:buNone/>
            </a:pPr>
            <a:r>
              <a:rPr lang="en-US" sz="900" i="1" dirty="0">
                <a:solidFill>
                  <a:srgbClr val="6E675E"/>
                </a:solidFill>
                <a:latin typeface="Calibri" pitchFamily="34" charset="0"/>
                <a:ea typeface="Calibri" pitchFamily="34" charset="-122"/>
                <a:cs typeface="Calibri" pitchFamily="34" charset="-120"/>
              </a:rPr>
              <a:t>Versions are read from Cargo.toml. Security-sensitive dependencies are pinned to exact patch versions, not compatible ranges.</a:t>
            </a:r>
            <a:endParaRPr lang="en-US" sz="900" dirty="0"/>
          </a:p>
        </p:txBody>
      </p:sp>
      <p:sp>
        <p:nvSpPr>
          <p:cNvPr id="25" name="Slide Number Placeholder 0"/>
          <p:cNvSpPr>
            <a:spLocks noGrp="1"/>
          </p:cNvSpPr>
          <p:nvPr>
            <p:ph type="sldNum" sz="quarter" idx="4294967295"/>
          </p:nvPr>
        </p:nvSpPr>
        <p:spPr>
          <a:xfrm>
            <a:off x="11247120" y="635508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577"/>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789920" cy="237744"/>
          </a:xfrm>
          <a:prstGeom prst="rect">
            <a:avLst/>
          </a:prstGeom>
          <a:noFill/>
          <a:ln/>
        </p:spPr>
        <p:txBody>
          <a:bodyPr wrap="square" lIns="0" tIns="0" rIns="0" bIns="0" rtlCol="0" anchor="ctr"/>
          <a:lstStyle/>
          <a:p>
            <a:pPr algn="l" indent="0" marL="0">
              <a:buNone/>
            </a:pPr>
            <a:r>
              <a:rPr lang="en-US" sz="950" b="1" spc="250" kern="0" dirty="0">
                <a:solidFill>
                  <a:srgbClr val="8C8577"/>
                </a:solidFill>
                <a:latin typeface="Calibri" pitchFamily="34" charset="0"/>
                <a:ea typeface="Calibri" pitchFamily="34" charset="-122"/>
                <a:cs typeface="Calibri" pitchFamily="34" charset="-120"/>
              </a:rPr>
              <a:t>IMPLEMENTATION DEEP DIVE</a:t>
            </a:r>
            <a:endParaRPr lang="en-US" sz="950" dirty="0"/>
          </a:p>
        </p:txBody>
      </p:sp>
      <p:sp>
        <p:nvSpPr>
          <p:cNvPr id="3" name="Text 0"/>
          <p:cNvSpPr/>
          <p:nvPr>
            <p:ph idx="101" type="title" hasCustomPrompt="1"/>
          </p:nvPr>
        </p:nvSpPr>
        <p:spPr>
          <a:xfrm>
            <a:off x="685800" y="621792"/>
            <a:ext cx="10789920" cy="566928"/>
          </a:xfrm>
          <a:prstGeom prst="rect">
            <a:avLst/>
          </a:prstGeom>
          <a:noFill/>
          <a:ln/>
        </p:spPr>
        <p:txBody>
          <a:bodyPr wrap="square" lIns="0" tIns="0" rIns="0" bIns="0" rtlCol="0" anchor="ctr"/>
          <a:lstStyle/>
          <a:p>
            <a:pPr algn="l" indent="0" marL="0">
              <a:buNone/>
            </a:pPr>
            <a:r>
              <a:rPr lang="en-US" sz="3000" dirty="0">
                <a:solidFill>
                  <a:srgbClr val="201E1B"/>
                </a:solidFill>
                <a:latin typeface="Cambria" pitchFamily="34" charset="0"/>
                <a:ea typeface="Cambria" pitchFamily="34" charset="-122"/>
                <a:cs typeface="Cambria" pitchFamily="34" charset="-120"/>
              </a:rPr>
              <a:t>Three decisions that define the system</a:t>
            </a:r>
            <a:endParaRPr lang="en-US" sz="3000" dirty="0"/>
          </a:p>
        </p:txBody>
      </p:sp>
      <p:sp>
        <p:nvSpPr>
          <p:cNvPr id="4" name="imp-0"/>
          <p:cNvSpPr/>
          <p:nvPr/>
        </p:nvSpPr>
        <p:spPr>
          <a:xfrm>
            <a:off x="685800" y="1371600"/>
            <a:ext cx="3438144" cy="4462272"/>
          </a:xfrm>
          <a:prstGeom prst="roundRect">
            <a:avLst>
              <a:gd name="adj" fmla="val 1064"/>
            </a:avLst>
          </a:prstGeom>
          <a:solidFill>
            <a:srgbClr val="FFFFFF"/>
          </a:solidFill>
          <a:ln w="9525">
            <a:solidFill>
              <a:srgbClr val="E7E3DA"/>
            </a:solidFill>
            <a:prstDash val="solid"/>
          </a:ln>
        </p:spPr>
      </p:sp>
      <p:sp>
        <p:nvSpPr>
          <p:cNvPr id="5" name="step-1-ring"/>
          <p:cNvSpPr/>
          <p:nvPr/>
        </p:nvSpPr>
        <p:spPr>
          <a:xfrm>
            <a:off x="868680" y="1536192"/>
            <a:ext cx="329184" cy="329184"/>
          </a:xfrm>
          <a:prstGeom prst="ellipse">
            <a:avLst/>
          </a:prstGeom>
          <a:ln w="12700">
            <a:solidFill>
              <a:srgbClr val="A85A45"/>
            </a:solidFill>
            <a:prstDash val="solid"/>
          </a:ln>
        </p:spPr>
      </p:sp>
      <p:sp>
        <p:nvSpPr>
          <p:cNvPr id="6" name="step-1-num"/>
          <p:cNvSpPr txBox="1"/>
          <p:nvPr/>
        </p:nvSpPr>
        <p:spPr>
          <a:xfrm>
            <a:off x="868680" y="1536192"/>
            <a:ext cx="329184" cy="329184"/>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1</a:t>
            </a:r>
            <a:endParaRPr lang="en-US" sz="1100" dirty="0"/>
          </a:p>
        </p:txBody>
      </p:sp>
      <p:sp>
        <p:nvSpPr>
          <p:cNvPr id="7" name="imp-t-0"/>
          <p:cNvSpPr txBox="1"/>
          <p:nvPr/>
        </p:nvSpPr>
        <p:spPr>
          <a:xfrm>
            <a:off x="1289304" y="1536192"/>
            <a:ext cx="2651760" cy="329184"/>
          </a:xfrm>
          <a:prstGeom prst="rect">
            <a:avLst/>
          </a:prstGeom>
          <a:noFill/>
          <a:ln/>
        </p:spPr>
        <p:txBody>
          <a:bodyPr wrap="square" lIns="0" tIns="0" rIns="0" bIns="0" rtlCol="0" anchor="ctr"/>
          <a:lstStyle/>
          <a:p>
            <a:pPr algn="l" indent="0" marL="0">
              <a:buNone/>
            </a:pPr>
            <a:r>
              <a:rPr lang="en-US" sz="1300" b="1" dirty="0">
                <a:solidFill>
                  <a:srgbClr val="201E1B"/>
                </a:solidFill>
                <a:latin typeface="Calibri" pitchFamily="34" charset="0"/>
                <a:ea typeface="Calibri" pitchFamily="34" charset="-122"/>
                <a:cs typeface="Calibri" pitchFamily="34" charset="-120"/>
              </a:rPr>
              <a:t>Hardware independence</a:t>
            </a:r>
            <a:endParaRPr lang="en-US" sz="1300" dirty="0"/>
          </a:p>
        </p:txBody>
      </p:sp>
      <p:sp>
        <p:nvSpPr>
          <p:cNvPr id="8" name="imp-lab-0-0"/>
          <p:cNvSpPr txBox="1"/>
          <p:nvPr/>
        </p:nvSpPr>
        <p:spPr>
          <a:xfrm>
            <a:off x="868680" y="1993392"/>
            <a:ext cx="3072384" cy="182880"/>
          </a:xfrm>
          <a:prstGeom prst="rect">
            <a:avLst/>
          </a:prstGeom>
          <a:noFill/>
          <a:ln/>
        </p:spPr>
        <p:txBody>
          <a:bodyPr wrap="square" lIns="0" tIns="0" rIns="0" bIns="0" rtlCol="0" anchor="ctr"/>
          <a:lstStyle/>
          <a:p>
            <a:pPr algn="l" indent="0" marL="0">
              <a:buNone/>
            </a:pPr>
            <a:r>
              <a:rPr lang="en-US" sz="760" b="1" spc="140" kern="0" dirty="0">
                <a:solidFill>
                  <a:srgbClr val="8C8577"/>
                </a:solidFill>
                <a:latin typeface="Calibri" pitchFamily="34" charset="0"/>
                <a:ea typeface="Calibri" pitchFamily="34" charset="-122"/>
                <a:cs typeface="Calibri" pitchFamily="34" charset="-120"/>
              </a:rPr>
              <a:t>PROBLEM</a:t>
            </a:r>
            <a:endParaRPr lang="en-US" sz="760" dirty="0"/>
          </a:p>
        </p:txBody>
      </p:sp>
      <p:sp>
        <p:nvSpPr>
          <p:cNvPr id="9" name="imp-txt-0-0"/>
          <p:cNvSpPr txBox="1"/>
          <p:nvPr/>
        </p:nvSpPr>
        <p:spPr>
          <a:xfrm>
            <a:off x="868680" y="2176272"/>
            <a:ext cx="3072384" cy="566928"/>
          </a:xfrm>
          <a:prstGeom prst="rect">
            <a:avLst/>
          </a:prstGeom>
          <a:noFill/>
          <a:ln/>
        </p:spPr>
        <p:txBody>
          <a:bodyPr wrap="square" lIns="0" tIns="0" rIns="0" bIns="0" rtlCol="0" anchor="t"/>
          <a:lstStyle/>
          <a:p>
            <a:pPr algn="l" indent="0" marL="0">
              <a:lnSpc>
                <a:spcPct val="112000"/>
              </a:lnSpc>
              <a:buNone/>
            </a:pPr>
            <a:r>
              <a:rPr lang="en-US" sz="920" dirty="0">
                <a:solidFill>
                  <a:srgbClr val="6E675E"/>
                </a:solidFill>
                <a:latin typeface="Calibri" pitchFamily="34" charset="0"/>
                <a:ea typeface="Calibri" pitchFamily="34" charset="-122"/>
                <a:cs typeface="Calibri" pitchFamily="34" charset="-120"/>
              </a:rPr>
              <a:t>GPU vendors ship incompatible runtimes. Linking one serves one vendor; linking all is unshippable.</a:t>
            </a:r>
            <a:endParaRPr lang="en-US" sz="920" dirty="0"/>
          </a:p>
        </p:txBody>
      </p:sp>
      <p:sp>
        <p:nvSpPr>
          <p:cNvPr id="10" name="imp-lab-0-1"/>
          <p:cNvSpPr txBox="1"/>
          <p:nvPr/>
        </p:nvSpPr>
        <p:spPr>
          <a:xfrm>
            <a:off x="868680" y="2834640"/>
            <a:ext cx="3072384" cy="182880"/>
          </a:xfrm>
          <a:prstGeom prst="rect">
            <a:avLst/>
          </a:prstGeom>
          <a:noFill/>
          <a:ln/>
        </p:spPr>
        <p:txBody>
          <a:bodyPr wrap="square" lIns="0" tIns="0" rIns="0" bIns="0" rtlCol="0" anchor="ctr"/>
          <a:lstStyle/>
          <a:p>
            <a:pPr algn="l" indent="0" marL="0">
              <a:buNone/>
            </a:pPr>
            <a:r>
              <a:rPr lang="en-US" sz="760" b="1" spc="140" kern="0" dirty="0">
                <a:solidFill>
                  <a:srgbClr val="8C8577"/>
                </a:solidFill>
                <a:latin typeface="Calibri" pitchFamily="34" charset="0"/>
                <a:ea typeface="Calibri" pitchFamily="34" charset="-122"/>
                <a:cs typeface="Calibri" pitchFamily="34" charset="-120"/>
              </a:rPr>
              <a:t>APPROACH</a:t>
            </a:r>
            <a:endParaRPr lang="en-US" sz="760" dirty="0"/>
          </a:p>
        </p:txBody>
      </p:sp>
      <p:sp>
        <p:nvSpPr>
          <p:cNvPr id="11" name="imp-txt-0-1"/>
          <p:cNvSpPr txBox="1"/>
          <p:nvPr/>
        </p:nvSpPr>
        <p:spPr>
          <a:xfrm>
            <a:off x="868680" y="3017520"/>
            <a:ext cx="3072384" cy="1554480"/>
          </a:xfrm>
          <a:prstGeom prst="rect">
            <a:avLst/>
          </a:prstGeom>
          <a:noFill/>
          <a:ln/>
        </p:spPr>
        <p:txBody>
          <a:bodyPr wrap="square" lIns="0" tIns="0" rIns="0" bIns="0" rtlCol="0" anchor="t"/>
          <a:lstStyle/>
          <a:p>
            <a:pPr algn="l" indent="0" marL="0">
              <a:lnSpc>
                <a:spcPct val="112000"/>
              </a:lnSpc>
              <a:buNone/>
            </a:pPr>
            <a:r>
              <a:rPr lang="en-US" sz="920" dirty="0">
                <a:solidFill>
                  <a:srgbClr val="6E675E"/>
                </a:solidFill>
                <a:latin typeface="Calibri" pitchFamily="34" charset="0"/>
                <a:ea typeface="Calibri" pitchFamily="34" charset="-122"/>
                <a:cs typeface="Calibri" pitchFamily="34" charset="-120"/>
              </a:rPr>
              <a:t>Backends live outside the binary as separately pinned builds. At run time: enumerate adapters without loading any vendor runtime, hash-verify every file of each build against a compiled-in manifest, probe each build for real with a device-listing flag, read the model's own GGUF header, then rank candidates with the CPU always last.</a:t>
            </a:r>
            <a:endParaRPr lang="en-US" sz="920" dirty="0"/>
          </a:p>
        </p:txBody>
      </p:sp>
      <p:sp>
        <p:nvSpPr>
          <p:cNvPr id="12" name="imp-lab-0-2"/>
          <p:cNvSpPr txBox="1"/>
          <p:nvPr/>
        </p:nvSpPr>
        <p:spPr>
          <a:xfrm>
            <a:off x="868680" y="4663440"/>
            <a:ext cx="3072384" cy="182880"/>
          </a:xfrm>
          <a:prstGeom prst="rect">
            <a:avLst/>
          </a:prstGeom>
          <a:noFill/>
          <a:ln/>
        </p:spPr>
        <p:txBody>
          <a:bodyPr wrap="square" lIns="0" tIns="0" rIns="0" bIns="0" rtlCol="0" anchor="ctr"/>
          <a:lstStyle/>
          <a:p>
            <a:pPr algn="l" indent="0" marL="0">
              <a:buNone/>
            </a:pPr>
            <a:r>
              <a:rPr lang="en-US" sz="760" b="1" spc="140" kern="0" dirty="0">
                <a:solidFill>
                  <a:srgbClr val="6C7F6B"/>
                </a:solidFill>
                <a:latin typeface="Calibri" pitchFamily="34" charset="0"/>
                <a:ea typeface="Calibri" pitchFamily="34" charset="-122"/>
                <a:cs typeface="Calibri" pitchFamily="34" charset="-120"/>
              </a:rPr>
              <a:t>RESULT</a:t>
            </a:r>
            <a:endParaRPr lang="en-US" sz="760" dirty="0"/>
          </a:p>
        </p:txBody>
      </p:sp>
      <p:sp>
        <p:nvSpPr>
          <p:cNvPr id="13" name="imp-txt-0-2"/>
          <p:cNvSpPr txBox="1"/>
          <p:nvPr/>
        </p:nvSpPr>
        <p:spPr>
          <a:xfrm>
            <a:off x="868680" y="4846320"/>
            <a:ext cx="3072384" cy="676656"/>
          </a:xfrm>
          <a:prstGeom prst="rect">
            <a:avLst/>
          </a:prstGeom>
          <a:noFill/>
          <a:ln/>
        </p:spPr>
        <p:txBody>
          <a:bodyPr wrap="square" lIns="0" tIns="0" rIns="0" bIns="0" rtlCol="0" anchor="t"/>
          <a:lstStyle/>
          <a:p>
            <a:pPr algn="l" indent="0" marL="0">
              <a:lnSpc>
                <a:spcPct val="112000"/>
              </a:lnSpc>
              <a:buNone/>
            </a:pPr>
            <a:r>
              <a:rPr lang="en-US" sz="920" dirty="0">
                <a:solidFill>
                  <a:srgbClr val="201E1B"/>
                </a:solidFill>
                <a:latin typeface="Calibri" pitchFamily="34" charset="0"/>
                <a:ea typeface="Calibri" pitchFamily="34" charset="-122"/>
                <a:cs typeface="Calibri" pitchFamily="34" charset="-120"/>
              </a:rPr>
              <a:t>No vendor library is in the dependency graph; the application builds and runs with no GPU SDK installed. The model is never re-quantised to fit — an unsupported pairing is skipped.</a:t>
            </a:r>
            <a:endParaRPr lang="en-US" sz="920" dirty="0"/>
          </a:p>
        </p:txBody>
      </p:sp>
      <p:sp>
        <p:nvSpPr>
          <p:cNvPr id="14" name="imp-rule-0"/>
          <p:cNvSpPr/>
          <p:nvPr/>
        </p:nvSpPr>
        <p:spPr>
          <a:xfrm>
            <a:off x="868680" y="5358384"/>
            <a:ext cx="3072384" cy="0"/>
          </a:xfrm>
          <a:prstGeom prst="line">
            <a:avLst/>
          </a:prstGeom>
          <a:noFill/>
          <a:ln w="9525">
            <a:solidFill>
              <a:srgbClr val="E7E3DA"/>
            </a:solidFill>
            <a:prstDash val="solid"/>
          </a:ln>
        </p:spPr>
      </p:sp>
      <p:sp>
        <p:nvSpPr>
          <p:cNvPr id="15" name="imp-cav-0"/>
          <p:cNvSpPr txBox="1"/>
          <p:nvPr/>
        </p:nvSpPr>
        <p:spPr>
          <a:xfrm>
            <a:off x="868680" y="5422392"/>
            <a:ext cx="3072384" cy="384048"/>
          </a:xfrm>
          <a:prstGeom prst="rect">
            <a:avLst/>
          </a:prstGeom>
          <a:noFill/>
          <a:ln/>
        </p:spPr>
        <p:txBody>
          <a:bodyPr wrap="square" lIns="0" tIns="0" rIns="0" bIns="0" rtlCol="0" anchor="t"/>
          <a:lstStyle/>
          <a:p>
            <a:pPr algn="l" indent="0" marL="0">
              <a:lnSpc>
                <a:spcPct val="110000"/>
              </a:lnSpc>
              <a:buNone/>
            </a:pPr>
            <a:r>
              <a:rPr lang="en-US" sz="840" i="1" dirty="0">
                <a:solidFill>
                  <a:srgbClr val="8C8577"/>
                </a:solidFill>
                <a:latin typeface="Calibri" pitchFamily="34" charset="0"/>
                <a:ea typeface="Calibri" pitchFamily="34" charset="-122"/>
                <a:cs typeface="Calibri" pitchFamily="34" charset="-120"/>
              </a:rPr>
              <a:t>Two backend families verified on real hardware; five on simulated adapter reports only.</a:t>
            </a:r>
            <a:endParaRPr lang="en-US" sz="840" dirty="0"/>
          </a:p>
        </p:txBody>
      </p:sp>
      <p:sp>
        <p:nvSpPr>
          <p:cNvPr id="16" name="imp-1"/>
          <p:cNvSpPr/>
          <p:nvPr/>
        </p:nvSpPr>
        <p:spPr>
          <a:xfrm>
            <a:off x="4361688" y="1371600"/>
            <a:ext cx="3438144" cy="4462272"/>
          </a:xfrm>
          <a:prstGeom prst="roundRect">
            <a:avLst>
              <a:gd name="adj" fmla="val 1064"/>
            </a:avLst>
          </a:prstGeom>
          <a:solidFill>
            <a:srgbClr val="FFFFFF"/>
          </a:solidFill>
          <a:ln w="9525">
            <a:solidFill>
              <a:srgbClr val="E7E3DA"/>
            </a:solidFill>
            <a:prstDash val="solid"/>
          </a:ln>
        </p:spPr>
      </p:sp>
      <p:sp>
        <p:nvSpPr>
          <p:cNvPr id="17" name="step-2-ring"/>
          <p:cNvSpPr/>
          <p:nvPr/>
        </p:nvSpPr>
        <p:spPr>
          <a:xfrm>
            <a:off x="4544568" y="1536192"/>
            <a:ext cx="329184" cy="329184"/>
          </a:xfrm>
          <a:prstGeom prst="ellipse">
            <a:avLst/>
          </a:prstGeom>
          <a:ln w="12700">
            <a:solidFill>
              <a:srgbClr val="A85A45"/>
            </a:solidFill>
            <a:prstDash val="solid"/>
          </a:ln>
        </p:spPr>
      </p:sp>
      <p:sp>
        <p:nvSpPr>
          <p:cNvPr id="18" name="step-2-num"/>
          <p:cNvSpPr txBox="1"/>
          <p:nvPr/>
        </p:nvSpPr>
        <p:spPr>
          <a:xfrm>
            <a:off x="4544568" y="1536192"/>
            <a:ext cx="329184" cy="329184"/>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2</a:t>
            </a:r>
            <a:endParaRPr lang="en-US" sz="1100" dirty="0"/>
          </a:p>
        </p:txBody>
      </p:sp>
      <p:sp>
        <p:nvSpPr>
          <p:cNvPr id="19" name="imp-t-1"/>
          <p:cNvSpPr txBox="1"/>
          <p:nvPr/>
        </p:nvSpPr>
        <p:spPr>
          <a:xfrm>
            <a:off x="4965192" y="1536192"/>
            <a:ext cx="2651760" cy="329184"/>
          </a:xfrm>
          <a:prstGeom prst="rect">
            <a:avLst/>
          </a:prstGeom>
          <a:noFill/>
          <a:ln/>
        </p:spPr>
        <p:txBody>
          <a:bodyPr wrap="square" lIns="0" tIns="0" rIns="0" bIns="0" rtlCol="0" anchor="ctr"/>
          <a:lstStyle/>
          <a:p>
            <a:pPr algn="l" indent="0" marL="0">
              <a:buNone/>
            </a:pPr>
            <a:r>
              <a:rPr lang="en-US" sz="1300" b="1" dirty="0">
                <a:solidFill>
                  <a:srgbClr val="201E1B"/>
                </a:solidFill>
                <a:latin typeface="Calibri" pitchFamily="34" charset="0"/>
                <a:ea typeface="Calibri" pitchFamily="34" charset="-122"/>
                <a:cs typeface="Calibri" pitchFamily="34" charset="-120"/>
              </a:rPr>
              <a:t>The 285 ms deadline</a:t>
            </a:r>
            <a:endParaRPr lang="en-US" sz="1300" dirty="0"/>
          </a:p>
        </p:txBody>
      </p:sp>
      <p:sp>
        <p:nvSpPr>
          <p:cNvPr id="20" name="imp-lab-1-0"/>
          <p:cNvSpPr txBox="1"/>
          <p:nvPr/>
        </p:nvSpPr>
        <p:spPr>
          <a:xfrm>
            <a:off x="4544568" y="1993392"/>
            <a:ext cx="3072384" cy="182880"/>
          </a:xfrm>
          <a:prstGeom prst="rect">
            <a:avLst/>
          </a:prstGeom>
          <a:noFill/>
          <a:ln/>
        </p:spPr>
        <p:txBody>
          <a:bodyPr wrap="square" lIns="0" tIns="0" rIns="0" bIns="0" rtlCol="0" anchor="ctr"/>
          <a:lstStyle/>
          <a:p>
            <a:pPr algn="l" indent="0" marL="0">
              <a:buNone/>
            </a:pPr>
            <a:r>
              <a:rPr lang="en-US" sz="760" b="1" spc="140" kern="0" dirty="0">
                <a:solidFill>
                  <a:srgbClr val="8C8577"/>
                </a:solidFill>
                <a:latin typeface="Calibri" pitchFamily="34" charset="0"/>
                <a:ea typeface="Calibri" pitchFamily="34" charset="-122"/>
                <a:cs typeface="Calibri" pitchFamily="34" charset="-120"/>
              </a:rPr>
              <a:t>PROBLEM</a:t>
            </a:r>
            <a:endParaRPr lang="en-US" sz="760" dirty="0"/>
          </a:p>
        </p:txBody>
      </p:sp>
      <p:sp>
        <p:nvSpPr>
          <p:cNvPr id="21" name="imp-txt-1-0"/>
          <p:cNvSpPr txBox="1"/>
          <p:nvPr/>
        </p:nvSpPr>
        <p:spPr>
          <a:xfrm>
            <a:off x="4544568" y="2176272"/>
            <a:ext cx="3072384" cy="566928"/>
          </a:xfrm>
          <a:prstGeom prst="rect">
            <a:avLst/>
          </a:prstGeom>
          <a:noFill/>
          <a:ln/>
        </p:spPr>
        <p:txBody>
          <a:bodyPr wrap="square" lIns="0" tIns="0" rIns="0" bIns="0" rtlCol="0" anchor="t"/>
          <a:lstStyle/>
          <a:p>
            <a:pPr algn="l" indent="0" marL="0">
              <a:lnSpc>
                <a:spcPct val="112000"/>
              </a:lnSpc>
              <a:buNone/>
            </a:pPr>
            <a:r>
              <a:rPr lang="en-US" sz="920" dirty="0">
                <a:solidFill>
                  <a:srgbClr val="6E675E"/>
                </a:solidFill>
                <a:latin typeface="Calibri" pitchFamily="34" charset="0"/>
                <a:ea typeface="Calibri" pitchFamily="34" charset="-122"/>
                <a:cs typeface="Calibri" pitchFamily="34" charset="-120"/>
              </a:rPr>
              <a:t>Accessibility reads are synchronous calls into another process. Microsoft Word blocked for 2.8 seconds in measurement.</a:t>
            </a:r>
            <a:endParaRPr lang="en-US" sz="920" dirty="0"/>
          </a:p>
        </p:txBody>
      </p:sp>
      <p:sp>
        <p:nvSpPr>
          <p:cNvPr id="22" name="imp-lab-1-1"/>
          <p:cNvSpPr txBox="1"/>
          <p:nvPr/>
        </p:nvSpPr>
        <p:spPr>
          <a:xfrm>
            <a:off x="4544568" y="2834640"/>
            <a:ext cx="3072384" cy="182880"/>
          </a:xfrm>
          <a:prstGeom prst="rect">
            <a:avLst/>
          </a:prstGeom>
          <a:noFill/>
          <a:ln/>
        </p:spPr>
        <p:txBody>
          <a:bodyPr wrap="square" lIns="0" tIns="0" rIns="0" bIns="0" rtlCol="0" anchor="ctr"/>
          <a:lstStyle/>
          <a:p>
            <a:pPr algn="l" indent="0" marL="0">
              <a:buNone/>
            </a:pPr>
            <a:r>
              <a:rPr lang="en-US" sz="760" b="1" spc="140" kern="0" dirty="0">
                <a:solidFill>
                  <a:srgbClr val="8C8577"/>
                </a:solidFill>
                <a:latin typeface="Calibri" pitchFamily="34" charset="0"/>
                <a:ea typeface="Calibri" pitchFamily="34" charset="-122"/>
                <a:cs typeface="Calibri" pitchFamily="34" charset="-120"/>
              </a:rPr>
              <a:t>APPROACH</a:t>
            </a:r>
            <a:endParaRPr lang="en-US" sz="760" dirty="0"/>
          </a:p>
        </p:txBody>
      </p:sp>
      <p:sp>
        <p:nvSpPr>
          <p:cNvPr id="23" name="imp-txt-1-1"/>
          <p:cNvSpPr txBox="1"/>
          <p:nvPr/>
        </p:nvSpPr>
        <p:spPr>
          <a:xfrm>
            <a:off x="4544568" y="3017520"/>
            <a:ext cx="3072384" cy="1554480"/>
          </a:xfrm>
          <a:prstGeom prst="rect">
            <a:avLst/>
          </a:prstGeom>
          <a:noFill/>
          <a:ln/>
        </p:spPr>
        <p:txBody>
          <a:bodyPr wrap="square" lIns="0" tIns="0" rIns="0" bIns="0" rtlCol="0" anchor="t"/>
          <a:lstStyle/>
          <a:p>
            <a:pPr algn="l" indent="0" marL="0">
              <a:lnSpc>
                <a:spcPct val="112000"/>
              </a:lnSpc>
              <a:buNone/>
            </a:pPr>
            <a:r>
              <a:rPr lang="en-US" sz="920" dirty="0">
                <a:solidFill>
                  <a:srgbClr val="6E675E"/>
                </a:solidFill>
                <a:latin typeface="Calibri" pitchFamily="34" charset="0"/>
                <a:ea typeface="Calibri" pitchFamily="34" charset="-122"/>
                <a:cs typeface="Calibri" pitchFamily="34" charset="-120"/>
              </a:rPr>
              <a:t>Reads run on a dedicated apartment-threaded worker. The caller waits 285 ms and then proceeds without a result; the abandoned read finishes in the background and its answer is discarded.</a:t>
            </a:r>
            <a:endParaRPr lang="en-US" sz="920" dirty="0"/>
          </a:p>
        </p:txBody>
      </p:sp>
      <p:sp>
        <p:nvSpPr>
          <p:cNvPr id="24" name="imp-lab-1-2"/>
          <p:cNvSpPr txBox="1"/>
          <p:nvPr/>
        </p:nvSpPr>
        <p:spPr>
          <a:xfrm>
            <a:off x="4544568" y="4663440"/>
            <a:ext cx="3072384" cy="182880"/>
          </a:xfrm>
          <a:prstGeom prst="rect">
            <a:avLst/>
          </a:prstGeom>
          <a:noFill/>
          <a:ln/>
        </p:spPr>
        <p:txBody>
          <a:bodyPr wrap="square" lIns="0" tIns="0" rIns="0" bIns="0" rtlCol="0" anchor="ctr"/>
          <a:lstStyle/>
          <a:p>
            <a:pPr algn="l" indent="0" marL="0">
              <a:buNone/>
            </a:pPr>
            <a:r>
              <a:rPr lang="en-US" sz="760" b="1" spc="140" kern="0" dirty="0">
                <a:solidFill>
                  <a:srgbClr val="6C7F6B"/>
                </a:solidFill>
                <a:latin typeface="Calibri" pitchFamily="34" charset="0"/>
                <a:ea typeface="Calibri" pitchFamily="34" charset="-122"/>
                <a:cs typeface="Calibri" pitchFamily="34" charset="-120"/>
              </a:rPr>
              <a:t>RESULT</a:t>
            </a:r>
            <a:endParaRPr lang="en-US" sz="760" dirty="0"/>
          </a:p>
        </p:txBody>
      </p:sp>
      <p:sp>
        <p:nvSpPr>
          <p:cNvPr id="25" name="imp-txt-1-2"/>
          <p:cNvSpPr txBox="1"/>
          <p:nvPr/>
        </p:nvSpPr>
        <p:spPr>
          <a:xfrm>
            <a:off x="4544568" y="4846320"/>
            <a:ext cx="3072384" cy="676656"/>
          </a:xfrm>
          <a:prstGeom prst="rect">
            <a:avLst/>
          </a:prstGeom>
          <a:noFill/>
          <a:ln/>
        </p:spPr>
        <p:txBody>
          <a:bodyPr wrap="square" lIns="0" tIns="0" rIns="0" bIns="0" rtlCol="0" anchor="t"/>
          <a:lstStyle/>
          <a:p>
            <a:pPr algn="l" indent="0" marL="0">
              <a:lnSpc>
                <a:spcPct val="112000"/>
              </a:lnSpc>
              <a:buNone/>
            </a:pPr>
            <a:r>
              <a:rPr lang="en-US" sz="920" dirty="0">
                <a:solidFill>
                  <a:srgbClr val="201E1B"/>
                </a:solidFill>
                <a:latin typeface="Calibri" pitchFamily="34" charset="0"/>
                <a:ea typeface="Calibri" pitchFamily="34" charset="-122"/>
                <a:cs typeface="Calibri" pitchFamily="34" charset="-120"/>
              </a:rPr>
              <a:t>Across 16 windows and 9 applications the capture loop never blocked longer than 294 ms, while the abandoned reads themselves ran on for up to 732 ms.</a:t>
            </a:r>
            <a:endParaRPr lang="en-US" sz="920" dirty="0"/>
          </a:p>
        </p:txBody>
      </p:sp>
      <p:sp>
        <p:nvSpPr>
          <p:cNvPr id="26" name="imp-rule-1"/>
          <p:cNvSpPr/>
          <p:nvPr/>
        </p:nvSpPr>
        <p:spPr>
          <a:xfrm>
            <a:off x="4544568" y="5358384"/>
            <a:ext cx="3072384" cy="0"/>
          </a:xfrm>
          <a:prstGeom prst="line">
            <a:avLst/>
          </a:prstGeom>
          <a:noFill/>
          <a:ln w="9525">
            <a:solidFill>
              <a:srgbClr val="E7E3DA"/>
            </a:solidFill>
            <a:prstDash val="solid"/>
          </a:ln>
        </p:spPr>
      </p:sp>
      <p:sp>
        <p:nvSpPr>
          <p:cNvPr id="27" name="imp-cav-1"/>
          <p:cNvSpPr txBox="1"/>
          <p:nvPr/>
        </p:nvSpPr>
        <p:spPr>
          <a:xfrm>
            <a:off x="4544568" y="5422392"/>
            <a:ext cx="3072384" cy="384048"/>
          </a:xfrm>
          <a:prstGeom prst="rect">
            <a:avLst/>
          </a:prstGeom>
          <a:noFill/>
          <a:ln/>
        </p:spPr>
        <p:txBody>
          <a:bodyPr wrap="square" lIns="0" tIns="0" rIns="0" bIns="0" rtlCol="0" anchor="t"/>
          <a:lstStyle/>
          <a:p>
            <a:pPr algn="l" indent="0" marL="0">
              <a:lnSpc>
                <a:spcPct val="110000"/>
              </a:lnSpc>
              <a:buNone/>
            </a:pPr>
            <a:r>
              <a:rPr lang="en-US" sz="840" i="1" dirty="0">
                <a:solidFill>
                  <a:srgbClr val="8C8577"/>
                </a:solidFill>
                <a:latin typeface="Calibri" pitchFamily="34" charset="0"/>
                <a:ea typeface="Calibri" pitchFamily="34" charset="-122"/>
                <a:cs typeface="Calibri" pitchFamily="34" charset="-120"/>
              </a:rPr>
              <a:t>Word, PowerPoint and File Explorer hit the deadline every time and are served by OCR instead.</a:t>
            </a:r>
            <a:endParaRPr lang="en-US" sz="840" dirty="0"/>
          </a:p>
        </p:txBody>
      </p:sp>
      <p:sp>
        <p:nvSpPr>
          <p:cNvPr id="28" name="imp-2"/>
          <p:cNvSpPr/>
          <p:nvPr/>
        </p:nvSpPr>
        <p:spPr>
          <a:xfrm>
            <a:off x="8037576" y="1371600"/>
            <a:ext cx="3438144" cy="4462272"/>
          </a:xfrm>
          <a:prstGeom prst="roundRect">
            <a:avLst>
              <a:gd name="adj" fmla="val 1064"/>
            </a:avLst>
          </a:prstGeom>
          <a:solidFill>
            <a:srgbClr val="FFFFFF"/>
          </a:solidFill>
          <a:ln w="9525">
            <a:solidFill>
              <a:srgbClr val="E7E3DA"/>
            </a:solidFill>
            <a:prstDash val="solid"/>
          </a:ln>
        </p:spPr>
      </p:sp>
      <p:sp>
        <p:nvSpPr>
          <p:cNvPr id="29" name="step-3-ring"/>
          <p:cNvSpPr/>
          <p:nvPr/>
        </p:nvSpPr>
        <p:spPr>
          <a:xfrm>
            <a:off x="8220456" y="1536192"/>
            <a:ext cx="329184" cy="329184"/>
          </a:xfrm>
          <a:prstGeom prst="ellipse">
            <a:avLst/>
          </a:prstGeom>
          <a:ln w="12700">
            <a:solidFill>
              <a:srgbClr val="A85A45"/>
            </a:solidFill>
            <a:prstDash val="solid"/>
          </a:ln>
        </p:spPr>
      </p:sp>
      <p:sp>
        <p:nvSpPr>
          <p:cNvPr id="30" name="step-3-num"/>
          <p:cNvSpPr txBox="1"/>
          <p:nvPr/>
        </p:nvSpPr>
        <p:spPr>
          <a:xfrm>
            <a:off x="8220456" y="1536192"/>
            <a:ext cx="329184" cy="329184"/>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3</a:t>
            </a:r>
            <a:endParaRPr lang="en-US" sz="1100" dirty="0"/>
          </a:p>
        </p:txBody>
      </p:sp>
      <p:sp>
        <p:nvSpPr>
          <p:cNvPr id="31" name="imp-t-2"/>
          <p:cNvSpPr txBox="1"/>
          <p:nvPr/>
        </p:nvSpPr>
        <p:spPr>
          <a:xfrm>
            <a:off x="8641080" y="1536192"/>
            <a:ext cx="2651760" cy="329184"/>
          </a:xfrm>
          <a:prstGeom prst="rect">
            <a:avLst/>
          </a:prstGeom>
          <a:noFill/>
          <a:ln/>
        </p:spPr>
        <p:txBody>
          <a:bodyPr wrap="square" lIns="0" tIns="0" rIns="0" bIns="0" rtlCol="0" anchor="ctr"/>
          <a:lstStyle/>
          <a:p>
            <a:pPr algn="l" indent="0" marL="0">
              <a:buNone/>
            </a:pPr>
            <a:r>
              <a:rPr lang="en-US" sz="1300" b="1" dirty="0">
                <a:solidFill>
                  <a:srgbClr val="201E1B"/>
                </a:solidFill>
                <a:latin typeface="Calibri" pitchFamily="34" charset="0"/>
                <a:ea typeface="Calibri" pitchFamily="34" charset="-122"/>
                <a:cs typeface="Calibri" pitchFamily="34" charset="-120"/>
              </a:rPr>
              <a:t>Evidence, or nothing</a:t>
            </a:r>
            <a:endParaRPr lang="en-US" sz="1300" dirty="0"/>
          </a:p>
        </p:txBody>
      </p:sp>
      <p:sp>
        <p:nvSpPr>
          <p:cNvPr id="32" name="imp-lab-2-0"/>
          <p:cNvSpPr txBox="1"/>
          <p:nvPr/>
        </p:nvSpPr>
        <p:spPr>
          <a:xfrm>
            <a:off x="8220456" y="1993392"/>
            <a:ext cx="3072384" cy="182880"/>
          </a:xfrm>
          <a:prstGeom prst="rect">
            <a:avLst/>
          </a:prstGeom>
          <a:noFill/>
          <a:ln/>
        </p:spPr>
        <p:txBody>
          <a:bodyPr wrap="square" lIns="0" tIns="0" rIns="0" bIns="0" rtlCol="0" anchor="ctr"/>
          <a:lstStyle/>
          <a:p>
            <a:pPr algn="l" indent="0" marL="0">
              <a:buNone/>
            </a:pPr>
            <a:r>
              <a:rPr lang="en-US" sz="760" b="1" spc="140" kern="0" dirty="0">
                <a:solidFill>
                  <a:srgbClr val="8C8577"/>
                </a:solidFill>
                <a:latin typeface="Calibri" pitchFamily="34" charset="0"/>
                <a:ea typeface="Calibri" pitchFamily="34" charset="-122"/>
                <a:cs typeface="Calibri" pitchFamily="34" charset="-120"/>
              </a:rPr>
              <a:t>PROBLEM</a:t>
            </a:r>
            <a:endParaRPr lang="en-US" sz="760" dirty="0"/>
          </a:p>
        </p:txBody>
      </p:sp>
      <p:sp>
        <p:nvSpPr>
          <p:cNvPr id="33" name="imp-txt-2-0"/>
          <p:cNvSpPr txBox="1"/>
          <p:nvPr/>
        </p:nvSpPr>
        <p:spPr>
          <a:xfrm>
            <a:off x="8220456" y="2176272"/>
            <a:ext cx="3072384" cy="566928"/>
          </a:xfrm>
          <a:prstGeom prst="rect">
            <a:avLst/>
          </a:prstGeom>
          <a:noFill/>
          <a:ln/>
        </p:spPr>
        <p:txBody>
          <a:bodyPr wrap="square" lIns="0" tIns="0" rIns="0" bIns="0" rtlCol="0" anchor="t"/>
          <a:lstStyle/>
          <a:p>
            <a:pPr algn="l" indent="0" marL="0">
              <a:lnSpc>
                <a:spcPct val="112000"/>
              </a:lnSpc>
              <a:buNone/>
            </a:pPr>
            <a:r>
              <a:rPr lang="en-US" sz="920" dirty="0">
                <a:solidFill>
                  <a:srgbClr val="6E675E"/>
                </a:solidFill>
                <a:latin typeface="Calibri" pitchFamily="34" charset="0"/>
                <a:ea typeface="Calibri" pitchFamily="34" charset="-122"/>
                <a:cs typeface="Calibri" pitchFamily="34" charset="-120"/>
              </a:rPr>
              <a:t>A model asked to summarise will produce fluent statements the source does not support — and a memory system is believed later.</a:t>
            </a:r>
            <a:endParaRPr lang="en-US" sz="920" dirty="0"/>
          </a:p>
        </p:txBody>
      </p:sp>
      <p:sp>
        <p:nvSpPr>
          <p:cNvPr id="34" name="imp-lab-2-1"/>
          <p:cNvSpPr txBox="1"/>
          <p:nvPr/>
        </p:nvSpPr>
        <p:spPr>
          <a:xfrm>
            <a:off x="8220456" y="2834640"/>
            <a:ext cx="3072384" cy="182880"/>
          </a:xfrm>
          <a:prstGeom prst="rect">
            <a:avLst/>
          </a:prstGeom>
          <a:noFill/>
          <a:ln/>
        </p:spPr>
        <p:txBody>
          <a:bodyPr wrap="square" lIns="0" tIns="0" rIns="0" bIns="0" rtlCol="0" anchor="ctr"/>
          <a:lstStyle/>
          <a:p>
            <a:pPr algn="l" indent="0" marL="0">
              <a:buNone/>
            </a:pPr>
            <a:r>
              <a:rPr lang="en-US" sz="760" b="1" spc="140" kern="0" dirty="0">
                <a:solidFill>
                  <a:srgbClr val="8C8577"/>
                </a:solidFill>
                <a:latin typeface="Calibri" pitchFamily="34" charset="0"/>
                <a:ea typeface="Calibri" pitchFamily="34" charset="-122"/>
                <a:cs typeface="Calibri" pitchFamily="34" charset="-120"/>
              </a:rPr>
              <a:t>APPROACH</a:t>
            </a:r>
            <a:endParaRPr lang="en-US" sz="760" dirty="0"/>
          </a:p>
        </p:txBody>
      </p:sp>
      <p:sp>
        <p:nvSpPr>
          <p:cNvPr id="35" name="imp-txt-2-1"/>
          <p:cNvSpPr txBox="1"/>
          <p:nvPr/>
        </p:nvSpPr>
        <p:spPr>
          <a:xfrm>
            <a:off x="8220456" y="3017520"/>
            <a:ext cx="3072384" cy="1554480"/>
          </a:xfrm>
          <a:prstGeom prst="rect">
            <a:avLst/>
          </a:prstGeom>
          <a:noFill/>
          <a:ln/>
        </p:spPr>
        <p:txBody>
          <a:bodyPr wrap="square" lIns="0" tIns="0" rIns="0" bIns="0" rtlCol="0" anchor="t"/>
          <a:lstStyle/>
          <a:p>
            <a:pPr algn="l" indent="0" marL="0">
              <a:lnSpc>
                <a:spcPct val="112000"/>
              </a:lnSpc>
              <a:buNone/>
            </a:pPr>
            <a:r>
              <a:rPr lang="en-US" sz="920" dirty="0">
                <a:solidFill>
                  <a:srgbClr val="6E675E"/>
                </a:solidFill>
                <a:latin typeface="Calibri" pitchFamily="34" charset="0"/>
                <a:ea typeface="Calibri" pitchFamily="34" charset="-122"/>
                <a:cs typeface="Calibri" pitchFamily="34" charset="-120"/>
              </a:rPr>
              <a:t>Every proposed fact must carry a quotation. Code looks for it: exact substring, then after normalisation, then a fuzzy word-set match at Dice ≥ 0.9. A fact whose quote is absent is discarded, never repaired. The schema requires at least one evidence row and a trigger deletes a fact when its last one goes.</a:t>
            </a:r>
            <a:endParaRPr lang="en-US" sz="920" dirty="0"/>
          </a:p>
        </p:txBody>
      </p:sp>
      <p:sp>
        <p:nvSpPr>
          <p:cNvPr id="36" name="imp-lab-2-2"/>
          <p:cNvSpPr txBox="1"/>
          <p:nvPr/>
        </p:nvSpPr>
        <p:spPr>
          <a:xfrm>
            <a:off x="8220456" y="4663440"/>
            <a:ext cx="3072384" cy="182880"/>
          </a:xfrm>
          <a:prstGeom prst="rect">
            <a:avLst/>
          </a:prstGeom>
          <a:noFill/>
          <a:ln/>
        </p:spPr>
        <p:txBody>
          <a:bodyPr wrap="square" lIns="0" tIns="0" rIns="0" bIns="0" rtlCol="0" anchor="ctr"/>
          <a:lstStyle/>
          <a:p>
            <a:pPr algn="l" indent="0" marL="0">
              <a:buNone/>
            </a:pPr>
            <a:r>
              <a:rPr lang="en-US" sz="760" b="1" spc="140" kern="0" dirty="0">
                <a:solidFill>
                  <a:srgbClr val="6C7F6B"/>
                </a:solidFill>
                <a:latin typeface="Calibri" pitchFamily="34" charset="0"/>
                <a:ea typeface="Calibri" pitchFamily="34" charset="-122"/>
                <a:cs typeface="Calibri" pitchFamily="34" charset="-120"/>
              </a:rPr>
              <a:t>RESULT</a:t>
            </a:r>
            <a:endParaRPr lang="en-US" sz="760" dirty="0"/>
          </a:p>
        </p:txBody>
      </p:sp>
      <p:sp>
        <p:nvSpPr>
          <p:cNvPr id="37" name="imp-txt-2-2"/>
          <p:cNvSpPr txBox="1"/>
          <p:nvPr/>
        </p:nvSpPr>
        <p:spPr>
          <a:xfrm>
            <a:off x="8220456" y="4846320"/>
            <a:ext cx="3072384" cy="676656"/>
          </a:xfrm>
          <a:prstGeom prst="rect">
            <a:avLst/>
          </a:prstGeom>
          <a:noFill/>
          <a:ln/>
        </p:spPr>
        <p:txBody>
          <a:bodyPr wrap="square" lIns="0" tIns="0" rIns="0" bIns="0" rtlCol="0" anchor="t"/>
          <a:lstStyle/>
          <a:p>
            <a:pPr algn="l" indent="0" marL="0">
              <a:lnSpc>
                <a:spcPct val="112000"/>
              </a:lnSpc>
              <a:buNone/>
            </a:pPr>
            <a:r>
              <a:rPr lang="en-US" sz="920" dirty="0">
                <a:solidFill>
                  <a:srgbClr val="201E1B"/>
                </a:solidFill>
                <a:latin typeface="Calibri" pitchFamily="34" charset="0"/>
                <a:ea typeface="Calibri" pitchFamily="34" charset="-122"/>
                <a:cs typeface="Calibri" pitchFamily="34" charset="-120"/>
              </a:rPr>
              <a:t>Of 97 facts stored in the real-model run, zero carried evidence absent from the source, and zero rows violated the schema.</a:t>
            </a:r>
            <a:endParaRPr lang="en-US" sz="920" dirty="0"/>
          </a:p>
        </p:txBody>
      </p:sp>
      <p:sp>
        <p:nvSpPr>
          <p:cNvPr id="38" name="imp-rule-2"/>
          <p:cNvSpPr/>
          <p:nvPr/>
        </p:nvSpPr>
        <p:spPr>
          <a:xfrm>
            <a:off x="8220456" y="5358384"/>
            <a:ext cx="3072384" cy="0"/>
          </a:xfrm>
          <a:prstGeom prst="line">
            <a:avLst/>
          </a:prstGeom>
          <a:noFill/>
          <a:ln w="9525">
            <a:solidFill>
              <a:srgbClr val="E7E3DA"/>
            </a:solidFill>
            <a:prstDash val="solid"/>
          </a:ln>
        </p:spPr>
      </p:sp>
      <p:sp>
        <p:nvSpPr>
          <p:cNvPr id="39" name="imp-cav-2"/>
          <p:cNvSpPr txBox="1"/>
          <p:nvPr/>
        </p:nvSpPr>
        <p:spPr>
          <a:xfrm>
            <a:off x="8220456" y="5422392"/>
            <a:ext cx="3072384" cy="384048"/>
          </a:xfrm>
          <a:prstGeom prst="rect">
            <a:avLst/>
          </a:prstGeom>
          <a:noFill/>
          <a:ln/>
        </p:spPr>
        <p:txBody>
          <a:bodyPr wrap="square" lIns="0" tIns="0" rIns="0" bIns="0" rtlCol="0" anchor="t"/>
          <a:lstStyle/>
          <a:p>
            <a:pPr algn="l" indent="0" marL="0">
              <a:lnSpc>
                <a:spcPct val="110000"/>
              </a:lnSpc>
              <a:buNone/>
            </a:pPr>
            <a:r>
              <a:rPr lang="en-US" sz="840" i="1" dirty="0">
                <a:solidFill>
                  <a:srgbClr val="8C8577"/>
                </a:solidFill>
                <a:latin typeface="Calibri" pitchFamily="34" charset="0"/>
                <a:ea typeface="Calibri" pitchFamily="34" charset="-122"/>
                <a:cs typeface="Calibri" pitchFamily="34" charset="-120"/>
              </a:rPr>
              <a:t>Provenance is guaranteed; completeness is not — recall is the weak half (slide 12).</a:t>
            </a:r>
            <a:endParaRPr lang="en-US" sz="840" dirty="0"/>
          </a:p>
        </p:txBody>
      </p:sp>
      <p:sp>
        <p:nvSpPr>
          <p:cNvPr id="40" name="imp-cap"/>
          <p:cNvSpPr txBox="1"/>
          <p:nvPr/>
        </p:nvSpPr>
        <p:spPr>
          <a:xfrm>
            <a:off x="685800" y="5943600"/>
            <a:ext cx="10789920" cy="310896"/>
          </a:xfrm>
          <a:prstGeom prst="rect">
            <a:avLst/>
          </a:prstGeom>
          <a:noFill/>
          <a:ln/>
        </p:spPr>
        <p:txBody>
          <a:bodyPr wrap="square" lIns="0" tIns="0" rIns="0" bIns="0" rtlCol="0" anchor="t"/>
          <a:lstStyle/>
          <a:p>
            <a:pPr algn="l" indent="0" marL="0">
              <a:buNone/>
            </a:pPr>
            <a:r>
              <a:rPr lang="en-US" sz="900" i="1" dirty="0">
                <a:solidFill>
                  <a:srgbClr val="6E675E"/>
                </a:solidFill>
                <a:latin typeface="Calibri" pitchFamily="34" charset="0"/>
                <a:ea typeface="Calibri" pitchFamily="34" charset="-122"/>
                <a:cs typeface="Calibri" pitchFamily="34" charset="-120"/>
              </a:rPr>
              <a:t>A fourth decision underlies all three: the scheduler preempts background extraction by dropping its HTTP stream, so an interactive request never waits behind a summary.</a:t>
            </a:r>
            <a:endParaRPr lang="en-US" sz="900" dirty="0"/>
          </a:p>
        </p:txBody>
      </p:sp>
      <p:sp>
        <p:nvSpPr>
          <p:cNvPr id="25" name="Slide Number Placeholder 0"/>
          <p:cNvSpPr>
            <a:spLocks noGrp="1"/>
          </p:cNvSpPr>
          <p:nvPr>
            <p:ph type="sldNum" sz="quarter" idx="4294967295"/>
          </p:nvPr>
        </p:nvSpPr>
        <p:spPr>
          <a:xfrm>
            <a:off x="11247120" y="635508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577"/>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789920" cy="237744"/>
          </a:xfrm>
          <a:prstGeom prst="rect">
            <a:avLst/>
          </a:prstGeom>
          <a:noFill/>
          <a:ln/>
        </p:spPr>
        <p:txBody>
          <a:bodyPr wrap="square" lIns="0" tIns="0" rIns="0" bIns="0" rtlCol="0" anchor="ctr"/>
          <a:lstStyle/>
          <a:p>
            <a:pPr algn="l" indent="0" marL="0">
              <a:buNone/>
            </a:pPr>
            <a:r>
              <a:rPr lang="en-US" sz="950" b="1" spc="250" kern="0" dirty="0">
                <a:solidFill>
                  <a:srgbClr val="8C8577"/>
                </a:solidFill>
                <a:latin typeface="Calibri" pitchFamily="34" charset="0"/>
                <a:ea typeface="Calibri" pitchFamily="34" charset="-122"/>
                <a:cs typeface="Calibri" pitchFamily="34" charset="-120"/>
              </a:rPr>
              <a:t>SECURITY AND USER PROTECTION</a:t>
            </a:r>
            <a:endParaRPr lang="en-US" sz="950" dirty="0"/>
          </a:p>
        </p:txBody>
      </p:sp>
      <p:sp>
        <p:nvSpPr>
          <p:cNvPr id="3" name="Text 0"/>
          <p:cNvSpPr/>
          <p:nvPr>
            <p:ph idx="101" type="title" hasCustomPrompt="1"/>
          </p:nvPr>
        </p:nvSpPr>
        <p:spPr>
          <a:xfrm>
            <a:off x="685800" y="621792"/>
            <a:ext cx="10789920" cy="566928"/>
          </a:xfrm>
          <a:prstGeom prst="rect">
            <a:avLst/>
          </a:prstGeom>
          <a:noFill/>
          <a:ln/>
        </p:spPr>
        <p:txBody>
          <a:bodyPr wrap="square" lIns="0" tIns="0" rIns="0" bIns="0" rtlCol="0" anchor="ctr"/>
          <a:lstStyle/>
          <a:p>
            <a:pPr algn="l" indent="0" marL="0">
              <a:buNone/>
            </a:pPr>
            <a:r>
              <a:rPr lang="en-US" sz="3000" dirty="0">
                <a:solidFill>
                  <a:srgbClr val="201E1B"/>
                </a:solidFill>
                <a:latin typeface="Cambria" pitchFamily="34" charset="0"/>
                <a:ea typeface="Cambria" pitchFamily="34" charset="-122"/>
                <a:cs typeface="Cambria" pitchFamily="34" charset="-120"/>
              </a:rPr>
              <a:t>What is enforced, what is merely present, and what is out of reach</a:t>
            </a:r>
            <a:endParaRPr lang="en-US" sz="3000" dirty="0"/>
          </a:p>
        </p:txBody>
      </p:sp>
      <p:sp>
        <p:nvSpPr>
          <p:cNvPr id="4" name="sec-dot-0"/>
          <p:cNvSpPr/>
          <p:nvPr/>
        </p:nvSpPr>
        <p:spPr>
          <a:xfrm>
            <a:off x="704088" y="1554480"/>
            <a:ext cx="109728" cy="109728"/>
          </a:xfrm>
          <a:prstGeom prst="ellipse">
            <a:avLst/>
          </a:prstGeom>
          <a:solidFill>
            <a:srgbClr val="4A5A66"/>
          </a:solidFill>
          <a:ln w="12700">
            <a:solidFill>
              <a:srgbClr val="4A5A66"/>
            </a:solidFill>
            <a:prstDash val="solid"/>
          </a:ln>
        </p:spPr>
      </p:sp>
      <p:sp>
        <p:nvSpPr>
          <p:cNvPr id="5" name="sec-0"/>
          <p:cNvSpPr txBox="1"/>
          <p:nvPr/>
        </p:nvSpPr>
        <p:spPr>
          <a:xfrm>
            <a:off x="923544" y="1426464"/>
            <a:ext cx="5532120" cy="841248"/>
          </a:xfrm>
          <a:prstGeom prst="rect">
            <a:avLst/>
          </a:prstGeom>
          <a:noFill/>
          <a:ln/>
        </p:spPr>
        <p:txBody>
          <a:bodyPr wrap="square" lIns="0" tIns="0" rIns="0" bIns="0" rtlCol="0" anchor="t"/>
          <a:lstStyle/>
          <a:p>
            <a:pPr algn="l" indent="0" marL="0">
              <a:lnSpc>
                <a:spcPct val="114000"/>
              </a:lnSpc>
              <a:buNone/>
            </a:pPr>
            <a:r>
              <a:rPr lang="en-US" sz="980" b="1" dirty="0">
                <a:solidFill>
                  <a:srgbClr val="201E1B"/>
                </a:solidFill>
                <a:latin typeface="Calibri" pitchFamily="34" charset="0"/>
                <a:ea typeface="Calibri" pitchFamily="34" charset="-122"/>
                <a:cs typeface="Calibri" pitchFamily="34" charset="-120"/>
              </a:rPr>
              <a:t>Interface → host</a:t>
            </a:r>
            <a:endParaRPr lang="en-US" sz="980" dirty="0"/>
          </a:p>
          <a:p>
            <a:pPr algn="l" indent="0" marL="0">
              <a:lnSpc>
                <a:spcPct val="114000"/>
              </a:lnSpc>
              <a:buNone/>
            </a:pPr>
            <a:r>
              <a:rPr lang="en-US" sz="980" dirty="0">
                <a:solidFill>
                  <a:srgbClr val="6E675E"/>
                </a:solidFill>
                <a:latin typeface="Calibri" pitchFamily="34" charset="0"/>
                <a:ea typeface="Calibri" pitchFamily="34" charset="-122"/>
                <a:cs typeface="Calibri" pitchFamily="34" charset="-120"/>
              </a:rPr>
              <a:t>Fixed command set; lengths, enumerations and identifiers validated; status changes need a single-use approval token; errors return a code, never content.</a:t>
            </a:r>
            <a:endParaRPr lang="en-US" sz="980" dirty="0"/>
          </a:p>
        </p:txBody>
      </p:sp>
      <p:sp>
        <p:nvSpPr>
          <p:cNvPr id="6" name="sec-dot-1"/>
          <p:cNvSpPr/>
          <p:nvPr/>
        </p:nvSpPr>
        <p:spPr>
          <a:xfrm>
            <a:off x="704088" y="2432304"/>
            <a:ext cx="109728" cy="109728"/>
          </a:xfrm>
          <a:prstGeom prst="ellipse">
            <a:avLst/>
          </a:prstGeom>
          <a:solidFill>
            <a:srgbClr val="4A5A66"/>
          </a:solidFill>
          <a:ln w="12700">
            <a:solidFill>
              <a:srgbClr val="4A5A66"/>
            </a:solidFill>
            <a:prstDash val="solid"/>
          </a:ln>
        </p:spPr>
      </p:sp>
      <p:sp>
        <p:nvSpPr>
          <p:cNvPr id="7" name="sec-1"/>
          <p:cNvSpPr txBox="1"/>
          <p:nvPr/>
        </p:nvSpPr>
        <p:spPr>
          <a:xfrm>
            <a:off x="923544" y="2304288"/>
            <a:ext cx="5532120" cy="841248"/>
          </a:xfrm>
          <a:prstGeom prst="rect">
            <a:avLst/>
          </a:prstGeom>
          <a:noFill/>
          <a:ln/>
        </p:spPr>
        <p:txBody>
          <a:bodyPr wrap="square" lIns="0" tIns="0" rIns="0" bIns="0" rtlCol="0" anchor="t"/>
          <a:lstStyle/>
          <a:p>
            <a:pPr algn="l" indent="0" marL="0">
              <a:lnSpc>
                <a:spcPct val="114000"/>
              </a:lnSpc>
              <a:buNone/>
            </a:pPr>
            <a:r>
              <a:rPr lang="en-US" sz="980" b="1" dirty="0">
                <a:solidFill>
                  <a:srgbClr val="201E1B"/>
                </a:solidFill>
                <a:latin typeface="Calibri" pitchFamily="34" charset="0"/>
                <a:ea typeface="Calibri" pitchFamily="34" charset="-122"/>
                <a:cs typeface="Calibri" pitchFamily="34" charset="-120"/>
              </a:rPr>
              <a:t>Host → worker</a:t>
            </a:r>
            <a:endParaRPr lang="en-US" sz="980" dirty="0"/>
          </a:p>
          <a:p>
            <a:pPr algn="l" indent="0" marL="0">
              <a:lnSpc>
                <a:spcPct val="114000"/>
              </a:lnSpc>
              <a:buNone/>
            </a:pPr>
            <a:r>
              <a:rPr lang="en-US" sz="980" dirty="0">
                <a:solidFill>
                  <a:srgbClr val="6E675E"/>
                </a:solidFill>
                <a:latin typeface="Calibri" pitchFamily="34" charset="0"/>
                <a:ea typeface="Calibri" pitchFamily="34" charset="-122"/>
                <a:cs typeface="Calibri" pitchFamily="34" charset="-120"/>
              </a:rPr>
              <a:t>Loopback only. The listening socket's owning process ID must equal the spawned child's, so no other local process can impersonate the worker.</a:t>
            </a:r>
            <a:endParaRPr lang="en-US" sz="980" dirty="0"/>
          </a:p>
        </p:txBody>
      </p:sp>
      <p:sp>
        <p:nvSpPr>
          <p:cNvPr id="8" name="sec-dot-2"/>
          <p:cNvSpPr/>
          <p:nvPr/>
        </p:nvSpPr>
        <p:spPr>
          <a:xfrm>
            <a:off x="704088" y="3310128"/>
            <a:ext cx="109728" cy="109728"/>
          </a:xfrm>
          <a:prstGeom prst="ellipse">
            <a:avLst/>
          </a:prstGeom>
          <a:solidFill>
            <a:srgbClr val="4A5A66"/>
          </a:solidFill>
          <a:ln w="12700">
            <a:solidFill>
              <a:srgbClr val="4A5A66"/>
            </a:solidFill>
            <a:prstDash val="solid"/>
          </a:ln>
        </p:spPr>
      </p:sp>
      <p:sp>
        <p:nvSpPr>
          <p:cNvPr id="9" name="sec-2"/>
          <p:cNvSpPr txBox="1"/>
          <p:nvPr/>
        </p:nvSpPr>
        <p:spPr>
          <a:xfrm>
            <a:off x="923544" y="3182112"/>
            <a:ext cx="5532120" cy="841248"/>
          </a:xfrm>
          <a:prstGeom prst="rect">
            <a:avLst/>
          </a:prstGeom>
          <a:noFill/>
          <a:ln/>
        </p:spPr>
        <p:txBody>
          <a:bodyPr wrap="square" lIns="0" tIns="0" rIns="0" bIns="0" rtlCol="0" anchor="t"/>
          <a:lstStyle/>
          <a:p>
            <a:pPr algn="l" indent="0" marL="0">
              <a:lnSpc>
                <a:spcPct val="114000"/>
              </a:lnSpc>
              <a:buNone/>
            </a:pPr>
            <a:r>
              <a:rPr lang="en-US" sz="980" b="1" dirty="0">
                <a:solidFill>
                  <a:srgbClr val="201E1B"/>
                </a:solidFill>
                <a:latin typeface="Calibri" pitchFamily="34" charset="0"/>
                <a:ea typeface="Calibri" pitchFamily="34" charset="-122"/>
                <a:cs typeface="Calibri" pitchFamily="34" charset="-120"/>
              </a:rPr>
              <a:t>Application → disk</a:t>
            </a:r>
            <a:endParaRPr lang="en-US" sz="980" dirty="0"/>
          </a:p>
          <a:p>
            <a:pPr algn="l" indent="0" marL="0">
              <a:lnSpc>
                <a:spcPct val="114000"/>
              </a:lnSpc>
              <a:buNone/>
            </a:pPr>
            <a:r>
              <a:rPr lang="en-US" sz="980" dirty="0">
                <a:solidFill>
                  <a:srgbClr val="6E675E"/>
                </a:solidFill>
                <a:latin typeface="Calibri" pitchFamily="34" charset="0"/>
                <a:ea typeface="Calibri" pitchFamily="34" charset="-122"/>
                <a:cs typeface="Calibri" pitchFamily="34" charset="-120"/>
              </a:rPr>
              <a:t>Whole-database AES-256. The key is unwrapped from the Windows login, used, then wiped. A wrong key is rejected and writes nothing to stderr.</a:t>
            </a:r>
            <a:endParaRPr lang="en-US" sz="980" dirty="0"/>
          </a:p>
        </p:txBody>
      </p:sp>
      <p:sp>
        <p:nvSpPr>
          <p:cNvPr id="10" name="sec-dot-3"/>
          <p:cNvSpPr/>
          <p:nvPr/>
        </p:nvSpPr>
        <p:spPr>
          <a:xfrm>
            <a:off x="704088" y="4187952"/>
            <a:ext cx="109728" cy="109728"/>
          </a:xfrm>
          <a:prstGeom prst="ellipse">
            <a:avLst/>
          </a:prstGeom>
          <a:solidFill>
            <a:srgbClr val="4A5A66"/>
          </a:solidFill>
          <a:ln w="12700">
            <a:solidFill>
              <a:srgbClr val="4A5A66"/>
            </a:solidFill>
            <a:prstDash val="solid"/>
          </a:ln>
        </p:spPr>
      </p:sp>
      <p:sp>
        <p:nvSpPr>
          <p:cNvPr id="11" name="sec-3"/>
          <p:cNvSpPr txBox="1"/>
          <p:nvPr/>
        </p:nvSpPr>
        <p:spPr>
          <a:xfrm>
            <a:off x="923544" y="4059936"/>
            <a:ext cx="5532120" cy="841248"/>
          </a:xfrm>
          <a:prstGeom prst="rect">
            <a:avLst/>
          </a:prstGeom>
          <a:noFill/>
          <a:ln/>
        </p:spPr>
        <p:txBody>
          <a:bodyPr wrap="square" lIns="0" tIns="0" rIns="0" bIns="0" rtlCol="0" anchor="t"/>
          <a:lstStyle/>
          <a:p>
            <a:pPr algn="l" indent="0" marL="0">
              <a:lnSpc>
                <a:spcPct val="114000"/>
              </a:lnSpc>
              <a:buNone/>
            </a:pPr>
            <a:r>
              <a:rPr lang="en-US" sz="980" b="1" dirty="0">
                <a:solidFill>
                  <a:srgbClr val="201E1B"/>
                </a:solidFill>
                <a:latin typeface="Calibri" pitchFamily="34" charset="0"/>
                <a:ea typeface="Calibri" pitchFamily="34" charset="-122"/>
                <a:cs typeface="Calibri" pitchFamily="34" charset="-120"/>
              </a:rPr>
              <a:t>Application → internet</a:t>
            </a:r>
            <a:endParaRPr lang="en-US" sz="980" dirty="0"/>
          </a:p>
          <a:p>
            <a:pPr algn="l" indent="0" marL="0">
              <a:lnSpc>
                <a:spcPct val="114000"/>
              </a:lnSpc>
              <a:buNone/>
            </a:pPr>
            <a:r>
              <a:rPr lang="en-US" sz="980" dirty="0">
                <a:solidFill>
                  <a:srgbClr val="6E675E"/>
                </a:solidFill>
                <a:latin typeface="Calibri" pitchFamily="34" charset="0"/>
                <a:ea typeface="Calibri" pitchFamily="34" charset="-122"/>
                <a:cs typeface="Calibri" pitchFamily="34" charset="-120"/>
              </a:rPr>
              <a:t>All network code in one crate, gated on a typed approval value and a pinned SHA-256 digest. Enforced at build time across the dependency graph.</a:t>
            </a:r>
            <a:endParaRPr lang="en-US" sz="980" dirty="0"/>
          </a:p>
        </p:txBody>
      </p:sp>
      <p:sp>
        <p:nvSpPr>
          <p:cNvPr id="12" name="sec-dot-4"/>
          <p:cNvSpPr/>
          <p:nvPr/>
        </p:nvSpPr>
        <p:spPr>
          <a:xfrm>
            <a:off x="704088" y="5065776"/>
            <a:ext cx="109728" cy="109728"/>
          </a:xfrm>
          <a:prstGeom prst="ellipse">
            <a:avLst/>
          </a:prstGeom>
          <a:solidFill>
            <a:srgbClr val="4A5A66"/>
          </a:solidFill>
          <a:ln w="12700">
            <a:solidFill>
              <a:srgbClr val="4A5A66"/>
            </a:solidFill>
            <a:prstDash val="solid"/>
          </a:ln>
        </p:spPr>
      </p:sp>
      <p:sp>
        <p:nvSpPr>
          <p:cNvPr id="13" name="sec-4"/>
          <p:cNvSpPr txBox="1"/>
          <p:nvPr/>
        </p:nvSpPr>
        <p:spPr>
          <a:xfrm>
            <a:off x="923544" y="4937760"/>
            <a:ext cx="5532120" cy="841248"/>
          </a:xfrm>
          <a:prstGeom prst="rect">
            <a:avLst/>
          </a:prstGeom>
          <a:noFill/>
          <a:ln/>
        </p:spPr>
        <p:txBody>
          <a:bodyPr wrap="square" lIns="0" tIns="0" rIns="0" bIns="0" rtlCol="0" anchor="t"/>
          <a:lstStyle/>
          <a:p>
            <a:pPr algn="l" indent="0" marL="0">
              <a:lnSpc>
                <a:spcPct val="114000"/>
              </a:lnSpc>
              <a:buNone/>
            </a:pPr>
            <a:r>
              <a:rPr lang="en-US" sz="980" b="1" dirty="0">
                <a:solidFill>
                  <a:srgbClr val="201E1B"/>
                </a:solidFill>
                <a:latin typeface="Calibri" pitchFamily="34" charset="0"/>
                <a:ea typeface="Calibri" pitchFamily="34" charset="-122"/>
                <a:cs typeface="Calibri" pitchFamily="34" charset="-120"/>
              </a:rPr>
              <a:t>Screen text → prompt</a:t>
            </a:r>
            <a:endParaRPr lang="en-US" sz="980" dirty="0"/>
          </a:p>
          <a:p>
            <a:pPr algn="l" indent="0" marL="0">
              <a:lnSpc>
                <a:spcPct val="114000"/>
              </a:lnSpc>
              <a:buNone/>
            </a:pPr>
            <a:r>
              <a:rPr lang="en-US" sz="980" dirty="0">
                <a:solidFill>
                  <a:srgbClr val="6E675E"/>
                </a:solidFill>
                <a:latin typeface="Calibri" pitchFamily="34" charset="0"/>
                <a:ea typeface="Calibri" pitchFamily="34" charset="-122"/>
                <a:cs typeface="Calibri" pitchFamily="34" charset="-120"/>
              </a:rPr>
              <a:t>Escaped and delimited, and the model has no tools. Its output is grammar-constrained, then re-validated, re-redacted and classified in code.</a:t>
            </a:r>
            <a:endParaRPr lang="en-US" sz="980" dirty="0"/>
          </a:p>
        </p:txBody>
      </p:sp>
      <p:sp>
        <p:nvSpPr>
          <p:cNvPr id="14" name="grp-0"/>
          <p:cNvSpPr/>
          <p:nvPr/>
        </p:nvSpPr>
        <p:spPr>
          <a:xfrm>
            <a:off x="6858000" y="1426464"/>
            <a:ext cx="4617720" cy="1403604"/>
          </a:xfrm>
          <a:prstGeom prst="roundRect">
            <a:avLst>
              <a:gd name="adj" fmla="val 2606"/>
            </a:avLst>
          </a:prstGeom>
          <a:solidFill>
            <a:srgbClr val="E7E3DA"/>
          </a:solidFill>
          <a:ln/>
        </p:spPr>
      </p:sp>
      <p:sp>
        <p:nvSpPr>
          <p:cNvPr id="15" name="grp-dot-0"/>
          <p:cNvSpPr/>
          <p:nvPr/>
        </p:nvSpPr>
        <p:spPr>
          <a:xfrm>
            <a:off x="7022592" y="1600200"/>
            <a:ext cx="109728" cy="109728"/>
          </a:xfrm>
          <a:prstGeom prst="ellipse">
            <a:avLst/>
          </a:prstGeom>
          <a:solidFill>
            <a:srgbClr val="6C7F6B"/>
          </a:solidFill>
          <a:ln w="12700">
            <a:solidFill>
              <a:srgbClr val="6C7F6B"/>
            </a:solidFill>
            <a:prstDash val="solid"/>
          </a:ln>
        </p:spPr>
      </p:sp>
      <p:sp>
        <p:nvSpPr>
          <p:cNvPr id="16" name="grp-h-0"/>
          <p:cNvSpPr txBox="1"/>
          <p:nvPr/>
        </p:nvSpPr>
        <p:spPr>
          <a:xfrm>
            <a:off x="7223760" y="1517904"/>
            <a:ext cx="4069080" cy="256032"/>
          </a:xfrm>
          <a:prstGeom prst="rect">
            <a:avLst/>
          </a:prstGeom>
          <a:noFill/>
          <a:ln/>
        </p:spPr>
        <p:txBody>
          <a:bodyPr wrap="square" lIns="0" tIns="0" rIns="0" bIns="0" rtlCol="0" anchor="ctr"/>
          <a:lstStyle/>
          <a:p>
            <a:pPr algn="l" indent="0" marL="0">
              <a:buNone/>
            </a:pPr>
            <a:r>
              <a:rPr lang="en-US" sz="840" b="1" spc="120" kern="0" dirty="0">
                <a:solidFill>
                  <a:srgbClr val="6C7F6B"/>
                </a:solidFill>
                <a:latin typeface="Calibri" pitchFamily="34" charset="0"/>
                <a:ea typeface="Calibri" pitchFamily="34" charset="-122"/>
                <a:cs typeface="Calibri" pitchFamily="34" charset="-120"/>
              </a:rPr>
              <a:t>VERIFIED BY MEASUREMENT</a:t>
            </a:r>
            <a:endParaRPr lang="en-US" sz="840" dirty="0"/>
          </a:p>
        </p:txBody>
      </p:sp>
      <p:sp>
        <p:nvSpPr>
          <p:cNvPr id="17" name="grp-b-0"/>
          <p:cNvSpPr txBox="1"/>
          <p:nvPr/>
        </p:nvSpPr>
        <p:spPr>
          <a:xfrm>
            <a:off x="7223760" y="1792224"/>
            <a:ext cx="4069080" cy="982980"/>
          </a:xfrm>
          <a:prstGeom prst="rect">
            <a:avLst/>
          </a:prstGeom>
          <a:noFill/>
          <a:ln/>
        </p:spPr>
        <p:txBody>
          <a:bodyPr wrap="square" lIns="0" tIns="0" rIns="0" bIns="0" rtlCol="0" anchor="t"/>
          <a:lstStyle/>
          <a:p>
            <a:pPr algn="l" indent="0" marL="0">
              <a:lnSpc>
                <a:spcPct val="112000"/>
              </a:lnSpc>
              <a:buNone/>
            </a:pPr>
            <a:r>
              <a:rPr lang="en-US" sz="890" dirty="0">
                <a:solidFill>
                  <a:srgbClr val="6E675E"/>
                </a:solidFill>
                <a:latin typeface="Calibri" pitchFamily="34" charset="0"/>
                <a:ea typeface="Calibri" pitchFamily="34" charset="-122"/>
                <a:cs typeface="Calibri" pitchFamily="34" charset="-120"/>
              </a:rPr>
              <a:t>355 / 355 seeded secrets removed, 0.41 % false positives</a:t>
            </a:r>
            <a:endParaRPr lang="en-US" sz="890" dirty="0"/>
          </a:p>
          <a:p>
            <a:pPr algn="l" indent="0" marL="0">
              <a:lnSpc>
                <a:spcPct val="112000"/>
              </a:lnSpc>
              <a:buNone/>
            </a:pPr>
            <a:r>
              <a:rPr lang="en-US" sz="890" dirty="0">
                <a:solidFill>
                  <a:srgbClr val="6E675E"/>
                </a:solidFill>
                <a:latin typeface="Calibri" pitchFamily="34" charset="0"/>
                <a:ea typeface="Calibri" pitchFamily="34" charset="-122"/>
                <a:cs typeface="Calibri" pitchFamily="34" charset="-120"/>
              </a:rPr>
              <a:t>0 plaintext hits on disk in a 60-second canary scan</a:t>
            </a:r>
            <a:endParaRPr lang="en-US" sz="890" dirty="0"/>
          </a:p>
          <a:p>
            <a:pPr algn="l" indent="0" marL="0">
              <a:lnSpc>
                <a:spcPct val="112000"/>
              </a:lnSpc>
              <a:buNone/>
            </a:pPr>
            <a:r>
              <a:rPr lang="en-US" sz="890" dirty="0">
                <a:solidFill>
                  <a:srgbClr val="6E675E"/>
                </a:solidFill>
                <a:latin typeface="Calibri" pitchFamily="34" charset="0"/>
                <a:ea typeface="Calibri" pitchFamily="34" charset="-122"/>
                <a:cs typeface="Calibri" pitchFamily="34" charset="-120"/>
              </a:rPr>
              <a:t>0 hallucinated stored facts, 0 fabricated citations</a:t>
            </a:r>
            <a:endParaRPr lang="en-US" sz="890" dirty="0"/>
          </a:p>
          <a:p>
            <a:pPr algn="l" indent="0" marL="0">
              <a:lnSpc>
                <a:spcPct val="112000"/>
              </a:lnSpc>
              <a:buNone/>
            </a:pPr>
            <a:r>
              <a:rPr lang="en-US" sz="890" dirty="0">
                <a:solidFill>
                  <a:srgbClr val="6E675E"/>
                </a:solidFill>
                <a:latin typeface="Calibri" pitchFamily="34" charset="0"/>
                <a:ea typeface="Calibri" pitchFamily="34" charset="-122"/>
                <a:cs typeface="Calibri" pitchFamily="34" charset="-120"/>
              </a:rPr>
              <a:t>Insertion into a password field or a changed target refused</a:t>
            </a:r>
            <a:endParaRPr lang="en-US" sz="890" dirty="0"/>
          </a:p>
          <a:p>
            <a:pPr algn="l" indent="0" marL="0">
              <a:lnSpc>
                <a:spcPct val="112000"/>
              </a:lnSpc>
              <a:buNone/>
            </a:pPr>
            <a:r>
              <a:rPr lang="en-US" sz="890" dirty="0">
                <a:solidFill>
                  <a:srgbClr val="6E675E"/>
                </a:solidFill>
                <a:latin typeface="Calibri" pitchFamily="34" charset="0"/>
                <a:ea typeface="Calibri" pitchFamily="34" charset="-122"/>
                <a:cs typeface="Calibri" pitchFamily="34" charset="-120"/>
              </a:rPr>
              <a:t>Interface absent from two independent capture paths</a:t>
            </a:r>
            <a:endParaRPr lang="en-US" sz="890" dirty="0"/>
          </a:p>
        </p:txBody>
      </p:sp>
      <p:sp>
        <p:nvSpPr>
          <p:cNvPr id="18" name="grp-1"/>
          <p:cNvSpPr/>
          <p:nvPr/>
        </p:nvSpPr>
        <p:spPr>
          <a:xfrm>
            <a:off x="6858000" y="2976372"/>
            <a:ext cx="4617720" cy="1207008"/>
          </a:xfrm>
          <a:prstGeom prst="roundRect">
            <a:avLst>
              <a:gd name="adj" fmla="val 3030"/>
            </a:avLst>
          </a:prstGeom>
          <a:solidFill>
            <a:srgbClr val="FFFFFF"/>
          </a:solidFill>
          <a:ln w="9525">
            <a:solidFill>
              <a:srgbClr val="E7E3DA"/>
            </a:solidFill>
            <a:prstDash val="solid"/>
          </a:ln>
        </p:spPr>
      </p:sp>
      <p:sp>
        <p:nvSpPr>
          <p:cNvPr id="19" name="grp-dot-1"/>
          <p:cNvSpPr/>
          <p:nvPr/>
        </p:nvSpPr>
        <p:spPr>
          <a:xfrm>
            <a:off x="7022592" y="3150108"/>
            <a:ext cx="109728" cy="109728"/>
          </a:xfrm>
          <a:prstGeom prst="ellipse">
            <a:avLst/>
          </a:prstGeom>
          <a:solidFill>
            <a:srgbClr val="C4BCAE"/>
          </a:solidFill>
          <a:ln w="12700">
            <a:solidFill>
              <a:srgbClr val="C4BCAE"/>
            </a:solidFill>
            <a:prstDash val="solid"/>
          </a:ln>
        </p:spPr>
      </p:sp>
      <p:sp>
        <p:nvSpPr>
          <p:cNvPr id="20" name="grp-h-1"/>
          <p:cNvSpPr txBox="1"/>
          <p:nvPr/>
        </p:nvSpPr>
        <p:spPr>
          <a:xfrm>
            <a:off x="7223760" y="3067812"/>
            <a:ext cx="4069080" cy="256032"/>
          </a:xfrm>
          <a:prstGeom prst="rect">
            <a:avLst/>
          </a:prstGeom>
          <a:noFill/>
          <a:ln/>
        </p:spPr>
        <p:txBody>
          <a:bodyPr wrap="square" lIns="0" tIns="0" rIns="0" bIns="0" rtlCol="0" anchor="ctr"/>
          <a:lstStyle/>
          <a:p>
            <a:pPr algn="l" indent="0" marL="0">
              <a:buNone/>
            </a:pPr>
            <a:r>
              <a:rPr lang="en-US" sz="840" b="1" spc="120" kern="0" dirty="0">
                <a:solidFill>
                  <a:srgbClr val="C4BCAE"/>
                </a:solidFill>
                <a:latin typeface="Calibri" pitchFamily="34" charset="0"/>
                <a:ea typeface="Calibri" pitchFamily="34" charset="-122"/>
                <a:cs typeface="Calibri" pitchFamily="34" charset="-120"/>
              </a:rPr>
              <a:t>PRESENT BUT NOT ADEQUATELY TESTED</a:t>
            </a:r>
            <a:endParaRPr lang="en-US" sz="840" dirty="0"/>
          </a:p>
        </p:txBody>
      </p:sp>
      <p:sp>
        <p:nvSpPr>
          <p:cNvPr id="21" name="grp-b-1"/>
          <p:cNvSpPr txBox="1"/>
          <p:nvPr/>
        </p:nvSpPr>
        <p:spPr>
          <a:xfrm>
            <a:off x="7223760" y="3342132"/>
            <a:ext cx="4069080" cy="786384"/>
          </a:xfrm>
          <a:prstGeom prst="rect">
            <a:avLst/>
          </a:prstGeom>
          <a:noFill/>
          <a:ln/>
        </p:spPr>
        <p:txBody>
          <a:bodyPr wrap="square" lIns="0" tIns="0" rIns="0" bIns="0" rtlCol="0" anchor="t"/>
          <a:lstStyle/>
          <a:p>
            <a:pPr algn="l" indent="0" marL="0">
              <a:lnSpc>
                <a:spcPct val="112000"/>
              </a:lnSpc>
              <a:buNone/>
            </a:pPr>
            <a:r>
              <a:rPr lang="en-US" sz="890" dirty="0">
                <a:solidFill>
                  <a:srgbClr val="6E675E"/>
                </a:solidFill>
                <a:latin typeface="Calibri" pitchFamily="34" charset="0"/>
                <a:ea typeface="Calibri" pitchFamily="34" charset="-122"/>
                <a:cs typeface="Calibri" pitchFamily="34" charset="-120"/>
              </a:rPr>
              <a:t>24-hour network and canary runs — only 10 and 60 seconds run</a:t>
            </a:r>
            <a:endParaRPr lang="en-US" sz="890" dirty="0"/>
          </a:p>
          <a:p>
            <a:pPr algn="l" indent="0" marL="0">
              <a:lnSpc>
                <a:spcPct val="112000"/>
              </a:lnSpc>
              <a:buNone/>
            </a:pPr>
            <a:r>
              <a:rPr lang="en-US" sz="890" dirty="0">
                <a:solidFill>
                  <a:srgbClr val="6E675E"/>
                </a:solidFill>
                <a:latin typeface="Calibri" pitchFamily="34" charset="0"/>
                <a:ea typeface="Calibri" pitchFamily="34" charset="-122"/>
                <a:cs typeface="Calibri" pitchFamily="34" charset="-120"/>
              </a:rPr>
              <a:t>Password exclusion in native WinForms / WPF applications</a:t>
            </a:r>
            <a:endParaRPr lang="en-US" sz="890" dirty="0"/>
          </a:p>
          <a:p>
            <a:pPr algn="l" indent="0" marL="0">
              <a:lnSpc>
                <a:spcPct val="112000"/>
              </a:lnSpc>
              <a:buNone/>
            </a:pPr>
            <a:r>
              <a:rPr lang="en-US" sz="890" dirty="0">
                <a:solidFill>
                  <a:srgbClr val="6E675E"/>
                </a:solidFill>
                <a:latin typeface="Calibri" pitchFamily="34" charset="0"/>
                <a:ea typeface="Calibri" pitchFamily="34" charset="-122"/>
                <a:cs typeface="Calibri" pitchFamily="34" charset="-120"/>
              </a:rPr>
              <a:t>Clipboard-history and cloud-clipboard exclusion</a:t>
            </a:r>
            <a:endParaRPr lang="en-US" sz="890" dirty="0"/>
          </a:p>
          <a:p>
            <a:pPr algn="l" indent="0" marL="0">
              <a:lnSpc>
                <a:spcPct val="112000"/>
              </a:lnSpc>
              <a:buNone/>
            </a:pPr>
            <a:r>
              <a:rPr lang="en-US" sz="890" dirty="0">
                <a:solidFill>
                  <a:srgbClr val="6E675E"/>
                </a:solidFill>
                <a:latin typeface="Calibri" pitchFamily="34" charset="0"/>
                <a:ea typeface="Calibri" pitchFamily="34" charset="-122"/>
                <a:cs typeface="Calibri" pitchFamily="34" charset="-120"/>
              </a:rPr>
              <a:t>Coverage-guided fuzzing — randomised testing only</a:t>
            </a:r>
            <a:endParaRPr lang="en-US" sz="890" dirty="0"/>
          </a:p>
        </p:txBody>
      </p:sp>
      <p:sp>
        <p:nvSpPr>
          <p:cNvPr id="22" name="grp-2"/>
          <p:cNvSpPr/>
          <p:nvPr/>
        </p:nvSpPr>
        <p:spPr>
          <a:xfrm>
            <a:off x="6858000" y="4329684"/>
            <a:ext cx="4617720" cy="1207008"/>
          </a:xfrm>
          <a:prstGeom prst="roundRect">
            <a:avLst>
              <a:gd name="adj" fmla="val 3030"/>
            </a:avLst>
          </a:prstGeom>
          <a:solidFill>
            <a:srgbClr val="FFFFFF"/>
          </a:solidFill>
          <a:ln w="9525">
            <a:solidFill>
              <a:srgbClr val="E7E3DA"/>
            </a:solidFill>
            <a:prstDash val="solid"/>
          </a:ln>
        </p:spPr>
      </p:sp>
      <p:sp>
        <p:nvSpPr>
          <p:cNvPr id="23" name="grp-dot-2"/>
          <p:cNvSpPr/>
          <p:nvPr/>
        </p:nvSpPr>
        <p:spPr>
          <a:xfrm>
            <a:off x="7022592" y="4503420"/>
            <a:ext cx="109728" cy="109728"/>
          </a:xfrm>
          <a:prstGeom prst="ellipse">
            <a:avLst/>
          </a:prstGeom>
          <a:solidFill>
            <a:srgbClr val="A85A45"/>
          </a:solidFill>
          <a:ln w="12700">
            <a:solidFill>
              <a:srgbClr val="A85A45"/>
            </a:solidFill>
            <a:prstDash val="solid"/>
          </a:ln>
        </p:spPr>
      </p:sp>
      <p:sp>
        <p:nvSpPr>
          <p:cNvPr id="24" name="grp-h-2"/>
          <p:cNvSpPr txBox="1"/>
          <p:nvPr/>
        </p:nvSpPr>
        <p:spPr>
          <a:xfrm>
            <a:off x="7223760" y="4421124"/>
            <a:ext cx="4069080" cy="256032"/>
          </a:xfrm>
          <a:prstGeom prst="rect">
            <a:avLst/>
          </a:prstGeom>
          <a:noFill/>
          <a:ln/>
        </p:spPr>
        <p:txBody>
          <a:bodyPr wrap="square" lIns="0" tIns="0" rIns="0" bIns="0" rtlCol="0" anchor="ctr"/>
          <a:lstStyle/>
          <a:p>
            <a:pPr algn="l" indent="0" marL="0">
              <a:buNone/>
            </a:pPr>
            <a:r>
              <a:rPr lang="en-US" sz="840" b="1" spc="120" kern="0" dirty="0">
                <a:solidFill>
                  <a:srgbClr val="A85A45"/>
                </a:solidFill>
                <a:latin typeface="Calibri" pitchFamily="34" charset="0"/>
                <a:ea typeface="Calibri" pitchFamily="34" charset="-122"/>
                <a:cs typeface="Calibri" pitchFamily="34" charset="-120"/>
              </a:rPr>
              <a:t>KNOWN GAPS AND OUT OF SCOPE</a:t>
            </a:r>
            <a:endParaRPr lang="en-US" sz="840" dirty="0"/>
          </a:p>
        </p:txBody>
      </p:sp>
      <p:sp>
        <p:nvSpPr>
          <p:cNvPr id="25" name="grp-b-2"/>
          <p:cNvSpPr txBox="1"/>
          <p:nvPr/>
        </p:nvSpPr>
        <p:spPr>
          <a:xfrm>
            <a:off x="7223760" y="4695444"/>
            <a:ext cx="4069080" cy="786384"/>
          </a:xfrm>
          <a:prstGeom prst="rect">
            <a:avLst/>
          </a:prstGeom>
          <a:noFill/>
          <a:ln/>
        </p:spPr>
        <p:txBody>
          <a:bodyPr wrap="square" lIns="0" tIns="0" rIns="0" bIns="0" rtlCol="0" anchor="t"/>
          <a:lstStyle/>
          <a:p>
            <a:pPr algn="l" indent="0" marL="0">
              <a:lnSpc>
                <a:spcPct val="112000"/>
              </a:lnSpc>
              <a:buNone/>
            </a:pPr>
            <a:r>
              <a:rPr lang="en-US" sz="890" dirty="0">
                <a:solidFill>
                  <a:srgbClr val="6E675E"/>
                </a:solidFill>
                <a:latin typeface="Calibri" pitchFamily="34" charset="0"/>
                <a:ea typeface="Calibri" pitchFamily="34" charset="-122"/>
                <a:cs typeface="Calibri" pitchFamily="34" charset="-120"/>
              </a:rPr>
              <a:t>WebView2 opens one outbound HTTPS connection per run</a:t>
            </a:r>
            <a:endParaRPr lang="en-US" sz="890" dirty="0"/>
          </a:p>
          <a:p>
            <a:pPr algn="l" indent="0" marL="0">
              <a:lnSpc>
                <a:spcPct val="112000"/>
              </a:lnSpc>
              <a:buNone/>
            </a:pPr>
            <a:r>
              <a:rPr lang="en-US" sz="890" dirty="0">
                <a:solidFill>
                  <a:srgbClr val="6E675E"/>
                </a:solidFill>
                <a:latin typeface="Calibri" pitchFamily="34" charset="0"/>
                <a:ea typeface="Calibri" pitchFamily="34" charset="-122"/>
                <a:cs typeface="Calibri" pitchFamily="34" charset="-120"/>
              </a:rPr>
              <a:t>12 of 39 unseen injections still stored as readable to-dos</a:t>
            </a:r>
            <a:endParaRPr lang="en-US" sz="890" dirty="0"/>
          </a:p>
          <a:p>
            <a:pPr algn="l" indent="0" marL="0">
              <a:lnSpc>
                <a:spcPct val="112000"/>
              </a:lnSpc>
              <a:buNone/>
            </a:pPr>
            <a:r>
              <a:rPr lang="en-US" sz="890" dirty="0">
                <a:solidFill>
                  <a:srgbClr val="6E675E"/>
                </a:solidFill>
                <a:latin typeface="Calibri" pitchFamily="34" charset="0"/>
                <a:ea typeface="Calibri" pitchFamily="34" charset="-122"/>
                <a:cs typeface="Calibri" pitchFamily="34" charset="-120"/>
              </a:rPr>
              <a:t>Page file and hibernation file not scanned (needs elevation)</a:t>
            </a:r>
            <a:endParaRPr lang="en-US" sz="890" dirty="0"/>
          </a:p>
          <a:p>
            <a:pPr algn="l" indent="0" marL="0">
              <a:lnSpc>
                <a:spcPct val="112000"/>
              </a:lnSpc>
              <a:buNone/>
            </a:pPr>
            <a:r>
              <a:rPr lang="en-US" sz="890" dirty="0">
                <a:solidFill>
                  <a:srgbClr val="6E675E"/>
                </a:solidFill>
                <a:latin typeface="Calibri" pitchFamily="34" charset="0"/>
                <a:ea typeface="Calibri" pitchFamily="34" charset="-122"/>
                <a:cs typeface="Calibri" pitchFamily="34" charset="-120"/>
              </a:rPr>
              <a:t>An attacker holding the Windows account defeats the design</a:t>
            </a:r>
            <a:endParaRPr lang="en-US" sz="890" dirty="0"/>
          </a:p>
        </p:txBody>
      </p:sp>
      <p:sp>
        <p:nvSpPr>
          <p:cNvPr id="26" name="sec-cap"/>
          <p:cNvSpPr txBox="1"/>
          <p:nvPr/>
        </p:nvSpPr>
        <p:spPr>
          <a:xfrm>
            <a:off x="685800" y="5998464"/>
            <a:ext cx="10789920" cy="310896"/>
          </a:xfrm>
          <a:prstGeom prst="rect">
            <a:avLst/>
          </a:prstGeom>
          <a:noFill/>
          <a:ln/>
        </p:spPr>
        <p:txBody>
          <a:bodyPr wrap="square" lIns="0" tIns="0" rIns="0" bIns="0" rtlCol="0" anchor="t"/>
          <a:lstStyle/>
          <a:p>
            <a:pPr algn="l" indent="0" marL="0">
              <a:buNone/>
            </a:pPr>
            <a:r>
              <a:rPr lang="en-US" sz="900" i="1" dirty="0">
                <a:solidFill>
                  <a:srgbClr val="6E675E"/>
                </a:solidFill>
                <a:latin typeface="Calibri" pitchFamily="34" charset="0"/>
                <a:ea typeface="Calibri" pitchFamily="34" charset="-122"/>
                <a:cs typeface="Calibri" pitchFamily="34" charset="-120"/>
              </a:rPr>
              <a:t>Tessera is not claimed to be fully sandboxed, air-gapped or immune to attack. The architecture bounds what a successful injection can do — no case in a 152-attack corpus caused an action, revealed a secret or wrote an unexpected table — but it does not prevent one.</a:t>
            </a:r>
            <a:endParaRPr lang="en-US" sz="900" dirty="0"/>
          </a:p>
        </p:txBody>
      </p:sp>
      <p:sp>
        <p:nvSpPr>
          <p:cNvPr id="25" name="Slide Number Placeholder 0"/>
          <p:cNvSpPr>
            <a:spLocks noGrp="1"/>
          </p:cNvSpPr>
          <p:nvPr>
            <p:ph type="sldNum" sz="quarter" idx="4294967295"/>
          </p:nvPr>
        </p:nvSpPr>
        <p:spPr>
          <a:xfrm>
            <a:off x="11247120" y="635508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577"/>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789920" cy="237744"/>
          </a:xfrm>
          <a:prstGeom prst="rect">
            <a:avLst/>
          </a:prstGeom>
          <a:noFill/>
          <a:ln/>
        </p:spPr>
        <p:txBody>
          <a:bodyPr wrap="square" lIns="0" tIns="0" rIns="0" bIns="0" rtlCol="0" anchor="ctr"/>
          <a:lstStyle/>
          <a:p>
            <a:pPr algn="l" indent="0" marL="0">
              <a:buNone/>
            </a:pPr>
            <a:r>
              <a:rPr lang="en-US" sz="950" b="1" spc="250" kern="0" dirty="0">
                <a:solidFill>
                  <a:srgbClr val="8C8577"/>
                </a:solidFill>
                <a:latin typeface="Calibri" pitchFamily="34" charset="0"/>
                <a:ea typeface="Calibri" pitchFamily="34" charset="-122"/>
                <a:cs typeface="Calibri" pitchFamily="34" charset="-120"/>
              </a:rPr>
              <a:t>INSTALLATION AND USAGE</a:t>
            </a:r>
            <a:endParaRPr lang="en-US" sz="950" dirty="0"/>
          </a:p>
        </p:txBody>
      </p:sp>
      <p:sp>
        <p:nvSpPr>
          <p:cNvPr id="3" name="Text 0"/>
          <p:cNvSpPr/>
          <p:nvPr>
            <p:ph idx="101" type="title" hasCustomPrompt="1"/>
          </p:nvPr>
        </p:nvSpPr>
        <p:spPr>
          <a:xfrm>
            <a:off x="685800" y="621792"/>
            <a:ext cx="10789920" cy="566928"/>
          </a:xfrm>
          <a:prstGeom prst="rect">
            <a:avLst/>
          </a:prstGeom>
          <a:noFill/>
          <a:ln/>
        </p:spPr>
        <p:txBody>
          <a:bodyPr wrap="square" lIns="0" tIns="0" rIns="0" bIns="0" rtlCol="0" anchor="ctr"/>
          <a:lstStyle/>
          <a:p>
            <a:pPr algn="l" indent="0" marL="0">
              <a:buNone/>
            </a:pPr>
            <a:r>
              <a:rPr lang="en-US" sz="3000" dirty="0">
                <a:solidFill>
                  <a:srgbClr val="201E1B"/>
                </a:solidFill>
                <a:latin typeface="Cambria" pitchFamily="34" charset="0"/>
                <a:ea typeface="Cambria" pitchFamily="34" charset="-122"/>
                <a:cs typeface="Cambria" pitchFamily="34" charset="-120"/>
              </a:rPr>
              <a:t>Build it, approve a model, then switch capture on</a:t>
            </a:r>
            <a:endParaRPr lang="en-US" sz="3000" dirty="0"/>
          </a:p>
        </p:txBody>
      </p:sp>
      <p:sp>
        <p:nvSpPr>
          <p:cNvPr id="4" name="pre-h"/>
          <p:cNvSpPr txBox="1"/>
          <p:nvPr/>
        </p:nvSpPr>
        <p:spPr>
          <a:xfrm>
            <a:off x="685800" y="1408176"/>
            <a:ext cx="5120640" cy="219456"/>
          </a:xfrm>
          <a:prstGeom prst="rect">
            <a:avLst/>
          </a:prstGeom>
          <a:noFill/>
          <a:ln/>
        </p:spPr>
        <p:txBody>
          <a:bodyPr wrap="square" lIns="0" tIns="0" rIns="0" bIns="0" rtlCol="0" anchor="ctr"/>
          <a:lstStyle/>
          <a:p>
            <a:pPr algn="l" indent="0" marL="0">
              <a:buNone/>
            </a:pPr>
            <a:r>
              <a:rPr lang="en-US" sz="840" b="1" spc="140" kern="0" dirty="0">
                <a:solidFill>
                  <a:srgbClr val="8C8577"/>
                </a:solidFill>
                <a:latin typeface="Calibri" pitchFamily="34" charset="0"/>
                <a:ea typeface="Calibri" pitchFamily="34" charset="-122"/>
                <a:cs typeface="Calibri" pitchFamily="34" charset="-120"/>
              </a:rPr>
              <a:t>PREREQUISITES</a:t>
            </a:r>
            <a:endParaRPr lang="en-US" sz="840" dirty="0"/>
          </a:p>
        </p:txBody>
      </p:sp>
      <p:sp>
        <p:nvSpPr>
          <p:cNvPr id="5" name="pre-b"/>
          <p:cNvSpPr txBox="1"/>
          <p:nvPr/>
        </p:nvSpPr>
        <p:spPr>
          <a:xfrm>
            <a:off x="685800" y="1627632"/>
            <a:ext cx="5120640" cy="658368"/>
          </a:xfrm>
          <a:prstGeom prst="rect">
            <a:avLst/>
          </a:prstGeom>
          <a:noFill/>
          <a:ln/>
        </p:spPr>
        <p:txBody>
          <a:bodyPr wrap="square" lIns="0" tIns="0" rIns="0" bIns="0" rtlCol="0" anchor="t"/>
          <a:lstStyle/>
          <a:p>
            <a:pPr algn="l" indent="0" marL="0">
              <a:lnSpc>
                <a:spcPct val="114000"/>
              </a:lnSpc>
              <a:buNone/>
            </a:pPr>
            <a:r>
              <a:rPr lang="en-US" sz="940" dirty="0">
                <a:solidFill>
                  <a:srgbClr val="6E675E"/>
                </a:solidFill>
                <a:latin typeface="Calibri" pitchFamily="34" charset="0"/>
                <a:ea typeface="Calibri" pitchFamily="34" charset="-122"/>
                <a:cs typeface="Calibri" pitchFamily="34" charset="-120"/>
              </a:rPr>
              <a:t>Windows 11 64-bit · Rust stable MSVC (1.99+, edition 2024) · Visual Studio C++ build tools · Strawberry Perl on PATH (the vendored OpenSSL build needs it) · Node.js 24+ with pnpm · Python 3.11+</a:t>
            </a:r>
            <a:endParaRPr lang="en-US" sz="940" dirty="0"/>
          </a:p>
        </p:txBody>
      </p:sp>
      <p:sp>
        <p:nvSpPr>
          <p:cNvPr id="6" name="cmd-card"/>
          <p:cNvSpPr/>
          <p:nvPr/>
        </p:nvSpPr>
        <p:spPr>
          <a:xfrm>
            <a:off x="685800" y="2377440"/>
            <a:ext cx="5120640" cy="2249424"/>
          </a:xfrm>
          <a:prstGeom prst="roundRect">
            <a:avLst>
              <a:gd name="adj" fmla="val 1626"/>
            </a:avLst>
          </a:prstGeom>
          <a:solidFill>
            <a:srgbClr val="201E1B"/>
          </a:solidFill>
          <a:ln/>
        </p:spPr>
      </p:sp>
      <p:sp>
        <p:nvSpPr>
          <p:cNvPr id="7" name="cmd-text"/>
          <p:cNvSpPr txBox="1"/>
          <p:nvPr/>
        </p:nvSpPr>
        <p:spPr>
          <a:xfrm>
            <a:off x="923544" y="2523744"/>
            <a:ext cx="4645152" cy="2011680"/>
          </a:xfrm>
          <a:prstGeom prst="rect">
            <a:avLst/>
          </a:prstGeom>
          <a:noFill/>
          <a:ln/>
        </p:spPr>
        <p:txBody>
          <a:bodyPr wrap="square" lIns="0" tIns="0" rIns="0" bIns="0" rtlCol="0" anchor="t"/>
          <a:lstStyle/>
          <a:p>
            <a:pPr algn="l" indent="0" marL="0">
              <a:lnSpc>
                <a:spcPct val="116000"/>
              </a:lnSpc>
              <a:buNone/>
            </a:pPr>
            <a:r>
              <a:rPr lang="en-US" sz="900" dirty="0">
                <a:solidFill>
                  <a:srgbClr val="8C8577"/>
                </a:solidFill>
                <a:latin typeface="Courier New" pitchFamily="34" charset="0"/>
                <a:ea typeface="Courier New" pitchFamily="34" charset="-122"/>
                <a:cs typeface="Courier New" pitchFamily="34" charset="-120"/>
              </a:rPr>
              <a:t># interface bundle</a:t>
            </a:r>
            <a:endParaRPr lang="en-US" sz="900" dirty="0"/>
          </a:p>
          <a:p>
            <a:pPr algn="l" indent="0" marL="0">
              <a:lnSpc>
                <a:spcPct val="116000"/>
              </a:lnSpc>
              <a:buNone/>
            </a:pPr>
            <a:r>
              <a:rPr lang="en-US" sz="900" dirty="0">
                <a:solidFill>
                  <a:srgbClr val="F6F4F0"/>
                </a:solidFill>
                <a:latin typeface="Courier New" pitchFamily="34" charset="0"/>
                <a:ea typeface="Courier New" pitchFamily="34" charset="-122"/>
                <a:cs typeface="Courier New" pitchFamily="34" charset="-120"/>
              </a:rPr>
              <a:t>pnpm install &amp;&amp; pnpm build:ui</a:t>
            </a:r>
            <a:endParaRPr lang="en-US" sz="900" dirty="0"/>
          </a:p>
          <a:p>
            <a:pPr algn="l" indent="0" marL="0">
              <a:lnSpc>
                <a:spcPct val="116000"/>
              </a:lnSpc>
              <a:buNone/>
            </a:pPr>
            <a:r>
              <a:rPr lang="en-US" sz="900" dirty="0">
                <a:solidFill>
                  <a:srgbClr val="F6F4F0"/>
                </a:solidFill>
                <a:latin typeface="Courier New" pitchFamily="34" charset="0"/>
                <a:ea typeface="Courier New" pitchFamily="34" charset="-122"/>
                <a:cs typeface="Courier New" pitchFamily="34" charset="-120"/>
              </a:rPr>
              <a:t> </a:t>
            </a:r>
            <a:endParaRPr lang="en-US" sz="900" dirty="0"/>
          </a:p>
          <a:p>
            <a:pPr algn="l" indent="0" marL="0">
              <a:lnSpc>
                <a:spcPct val="116000"/>
              </a:lnSpc>
              <a:buNone/>
            </a:pPr>
            <a:r>
              <a:rPr lang="en-US" sz="900" dirty="0">
                <a:solidFill>
                  <a:srgbClr val="8C8577"/>
                </a:solidFill>
                <a:latin typeface="Courier New" pitchFamily="34" charset="0"/>
                <a:ea typeface="Courier New" pitchFamily="34" charset="-122"/>
                <a:cs typeface="Courier New" pitchFamily="34" charset="-120"/>
              </a:rPr>
              <a:t># pinned, hash-checked inference runtimes</a:t>
            </a:r>
            <a:endParaRPr lang="en-US" sz="900" dirty="0"/>
          </a:p>
          <a:p>
            <a:pPr algn="l" indent="0" marL="0">
              <a:lnSpc>
                <a:spcPct val="116000"/>
              </a:lnSpc>
              <a:buNone/>
            </a:pPr>
            <a:r>
              <a:rPr lang="en-US" sz="900" dirty="0">
                <a:solidFill>
                  <a:srgbClr val="F6F4F0"/>
                </a:solidFill>
                <a:latin typeface="Courier New" pitchFamily="34" charset="0"/>
                <a:ea typeface="Courier New" pitchFamily="34" charset="-122"/>
                <a:cs typeface="Courier New" pitchFamily="34" charset="-120"/>
              </a:rPr>
              <a:t>python tools/fetch_sidecar.py llama_cpp cpu-x64</a:t>
            </a:r>
            <a:endParaRPr lang="en-US" sz="900" dirty="0"/>
          </a:p>
          <a:p>
            <a:pPr algn="l" indent="0" marL="0">
              <a:lnSpc>
                <a:spcPct val="116000"/>
              </a:lnSpc>
              <a:buNone/>
            </a:pPr>
            <a:r>
              <a:rPr lang="en-US" sz="900" dirty="0">
                <a:solidFill>
                  <a:srgbClr val="F6F4F0"/>
                </a:solidFill>
                <a:latin typeface="Courier New" pitchFamily="34" charset="0"/>
                <a:ea typeface="Courier New" pitchFamily="34" charset="-122"/>
                <a:cs typeface="Courier New" pitchFamily="34" charset="-120"/>
              </a:rPr>
              <a:t>python tools/fetch_sidecar.py llama_cpp vulkan-x64</a:t>
            </a:r>
            <a:endParaRPr lang="en-US" sz="900" dirty="0"/>
          </a:p>
          <a:p>
            <a:pPr algn="l" indent="0" marL="0">
              <a:lnSpc>
                <a:spcPct val="116000"/>
              </a:lnSpc>
              <a:buNone/>
            </a:pPr>
            <a:r>
              <a:rPr lang="en-US" sz="900" dirty="0">
                <a:solidFill>
                  <a:srgbClr val="F6F4F0"/>
                </a:solidFill>
                <a:latin typeface="Courier New" pitchFamily="34" charset="0"/>
                <a:ea typeface="Courier New" pitchFamily="34" charset="-122"/>
                <a:cs typeface="Courier New" pitchFamily="34" charset="-120"/>
              </a:rPr>
              <a:t> </a:t>
            </a:r>
            <a:endParaRPr lang="en-US" sz="900" dirty="0"/>
          </a:p>
          <a:p>
            <a:pPr algn="l" indent="0" marL="0">
              <a:lnSpc>
                <a:spcPct val="116000"/>
              </a:lnSpc>
              <a:buNone/>
            </a:pPr>
            <a:r>
              <a:rPr lang="en-US" sz="900" dirty="0">
                <a:solidFill>
                  <a:srgbClr val="8C8577"/>
                </a:solidFill>
                <a:latin typeface="Courier New" pitchFamily="34" charset="0"/>
                <a:ea typeface="Courier New" pitchFamily="34" charset="-122"/>
                <a:cs typeface="Courier New" pitchFamily="34" charset="-120"/>
              </a:rPr>
              <a:t># verify the boundaries, then build</a:t>
            </a:r>
            <a:endParaRPr lang="en-US" sz="900" dirty="0"/>
          </a:p>
          <a:p>
            <a:pPr algn="l" indent="0" marL="0">
              <a:lnSpc>
                <a:spcPct val="116000"/>
              </a:lnSpc>
              <a:buNone/>
            </a:pPr>
            <a:r>
              <a:rPr lang="en-US" sz="900" dirty="0">
                <a:solidFill>
                  <a:srgbClr val="F6F4F0"/>
                </a:solidFill>
                <a:latin typeface="Courier New" pitchFamily="34" charset="0"/>
                <a:ea typeface="Courier New" pitchFamily="34" charset="-122"/>
                <a:cs typeface="Courier New" pitchFamily="34" charset="-120"/>
              </a:rPr>
              <a:t>python tools/check_network_deps.py --locked</a:t>
            </a:r>
            <a:endParaRPr lang="en-US" sz="900" dirty="0"/>
          </a:p>
          <a:p>
            <a:pPr algn="l" indent="0" marL="0">
              <a:lnSpc>
                <a:spcPct val="116000"/>
              </a:lnSpc>
              <a:buNone/>
            </a:pPr>
            <a:r>
              <a:rPr lang="en-US" sz="900" dirty="0">
                <a:solidFill>
                  <a:srgbClr val="F6F4F0"/>
                </a:solidFill>
                <a:latin typeface="Courier New" pitchFamily="34" charset="0"/>
                <a:ea typeface="Courier New" pitchFamily="34" charset="-122"/>
                <a:cs typeface="Courier New" pitchFamily="34" charset="-120"/>
              </a:rPr>
              <a:t>cargo test --workspace -- --include-ignored</a:t>
            </a:r>
            <a:endParaRPr lang="en-US" sz="900" dirty="0"/>
          </a:p>
          <a:p>
            <a:pPr algn="l" indent="0" marL="0">
              <a:lnSpc>
                <a:spcPct val="116000"/>
              </a:lnSpc>
              <a:buNone/>
            </a:pPr>
            <a:r>
              <a:rPr lang="en-US" sz="900" dirty="0">
                <a:solidFill>
                  <a:srgbClr val="F6F4F0"/>
                </a:solidFill>
                <a:latin typeface="Courier New" pitchFamily="34" charset="0"/>
                <a:ea typeface="Courier New" pitchFamily="34" charset="-122"/>
                <a:cs typeface="Courier New" pitchFamily="34" charset="-120"/>
              </a:rPr>
              <a:t>cargo build -p tessara --features custom-protocol</a:t>
            </a:r>
            <a:endParaRPr lang="en-US" sz="900" dirty="0"/>
          </a:p>
        </p:txBody>
      </p:sp>
      <p:sp>
        <p:nvSpPr>
          <p:cNvPr id="8" name="cmd-cap"/>
          <p:cNvSpPr txBox="1"/>
          <p:nvPr/>
        </p:nvSpPr>
        <p:spPr>
          <a:xfrm>
            <a:off x="685800" y="4736592"/>
            <a:ext cx="5120640" cy="310896"/>
          </a:xfrm>
          <a:prstGeom prst="rect">
            <a:avLst/>
          </a:prstGeom>
          <a:noFill/>
          <a:ln/>
        </p:spPr>
        <p:txBody>
          <a:bodyPr wrap="square" lIns="0" tIns="0" rIns="0" bIns="0" rtlCol="0" anchor="t"/>
          <a:lstStyle/>
          <a:p>
            <a:pPr algn="l" indent="0" marL="0">
              <a:buNone/>
            </a:pPr>
            <a:r>
              <a:rPr lang="en-US" sz="880" i="1" dirty="0">
                <a:solidFill>
                  <a:srgbClr val="6E675E"/>
                </a:solidFill>
                <a:latin typeface="Calibri" pitchFamily="34" charset="0"/>
                <a:ea typeface="Calibri" pitchFamily="34" charset="-122"/>
                <a:cs typeface="Calibri" pitchFamily="34" charset="-120"/>
              </a:rPr>
              <a:t>Commands as given in README.md §18.2. The package is named tessara internally while the repository is Tessera — the build command uses the internal name.</a:t>
            </a:r>
            <a:endParaRPr lang="en-US" sz="880" dirty="0"/>
          </a:p>
        </p:txBody>
      </p:sp>
      <p:sp>
        <p:nvSpPr>
          <p:cNvPr id="9" name="step-1-ring"/>
          <p:cNvSpPr/>
          <p:nvPr/>
        </p:nvSpPr>
        <p:spPr>
          <a:xfrm>
            <a:off x="5907024" y="1426464"/>
            <a:ext cx="329184" cy="329184"/>
          </a:xfrm>
          <a:prstGeom prst="ellipse">
            <a:avLst/>
          </a:prstGeom>
          <a:ln w="12700">
            <a:solidFill>
              <a:srgbClr val="A85A45"/>
            </a:solidFill>
            <a:prstDash val="solid"/>
          </a:ln>
        </p:spPr>
      </p:sp>
      <p:sp>
        <p:nvSpPr>
          <p:cNvPr id="10" name="step-1-num"/>
          <p:cNvSpPr txBox="1"/>
          <p:nvPr/>
        </p:nvSpPr>
        <p:spPr>
          <a:xfrm>
            <a:off x="5907024" y="1426464"/>
            <a:ext cx="329184" cy="329184"/>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1</a:t>
            </a:r>
            <a:endParaRPr lang="en-US" sz="1100" dirty="0"/>
          </a:p>
        </p:txBody>
      </p:sp>
      <p:sp>
        <p:nvSpPr>
          <p:cNvPr id="11" name="use-0"/>
          <p:cNvSpPr txBox="1"/>
          <p:nvPr/>
        </p:nvSpPr>
        <p:spPr>
          <a:xfrm>
            <a:off x="6364224" y="1408176"/>
            <a:ext cx="4992624" cy="914400"/>
          </a:xfrm>
          <a:prstGeom prst="rect">
            <a:avLst/>
          </a:prstGeom>
          <a:noFill/>
          <a:ln/>
        </p:spPr>
        <p:txBody>
          <a:bodyPr wrap="square" lIns="0" tIns="0" rIns="0" bIns="0" rtlCol="0" anchor="t"/>
          <a:lstStyle/>
          <a:p>
            <a:pPr algn="l" indent="0" marL="0">
              <a:lnSpc>
                <a:spcPct val="114000"/>
              </a:lnSpc>
              <a:buNone/>
            </a:pPr>
            <a:r>
              <a:rPr lang="en-US" sz="980" b="1" dirty="0">
                <a:solidFill>
                  <a:srgbClr val="201E1B"/>
                </a:solidFill>
                <a:latin typeface="Calibri" pitchFamily="34" charset="0"/>
                <a:ea typeface="Calibri" pitchFamily="34" charset="-122"/>
                <a:cs typeface="Calibri" pitchFamily="34" charset="-120"/>
              </a:rPr>
              <a:t>Approve a model</a:t>
            </a:r>
            <a:endParaRPr lang="en-US" sz="980" dirty="0"/>
          </a:p>
          <a:p>
            <a:pPr algn="l" indent="0" marL="0">
              <a:lnSpc>
                <a:spcPct val="114000"/>
              </a:lnSpc>
              <a:buNone/>
            </a:pPr>
            <a:r>
              <a:rPr lang="en-US" sz="980" dirty="0">
                <a:solidFill>
                  <a:srgbClr val="6E675E"/>
                </a:solidFill>
                <a:latin typeface="Calibri" pitchFamily="34" charset="0"/>
                <a:ea typeface="Calibri" pitchFamily="34" charset="-122"/>
                <a:cs typeface="Calibri" pitchFamily="34" charset="-120"/>
              </a:rPr>
              <a:t>Nothing is downloaded automatically. The download API needs a typed approval value that only an explicit user action can construct, and the file is accepted only if its SHA-256 matches tools/models.lock.</a:t>
            </a:r>
            <a:endParaRPr lang="en-US" sz="980" dirty="0"/>
          </a:p>
        </p:txBody>
      </p:sp>
      <p:sp>
        <p:nvSpPr>
          <p:cNvPr id="12" name="step-2-ring"/>
          <p:cNvSpPr/>
          <p:nvPr/>
        </p:nvSpPr>
        <p:spPr>
          <a:xfrm>
            <a:off x="5907024" y="2368296"/>
            <a:ext cx="329184" cy="329184"/>
          </a:xfrm>
          <a:prstGeom prst="ellipse">
            <a:avLst/>
          </a:prstGeom>
          <a:ln w="12700">
            <a:solidFill>
              <a:srgbClr val="A85A45"/>
            </a:solidFill>
            <a:prstDash val="solid"/>
          </a:ln>
        </p:spPr>
      </p:sp>
      <p:sp>
        <p:nvSpPr>
          <p:cNvPr id="13" name="step-2-num"/>
          <p:cNvSpPr txBox="1"/>
          <p:nvPr/>
        </p:nvSpPr>
        <p:spPr>
          <a:xfrm>
            <a:off x="5907024" y="2368296"/>
            <a:ext cx="329184" cy="329184"/>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2</a:t>
            </a:r>
            <a:endParaRPr lang="en-US" sz="1100" dirty="0"/>
          </a:p>
        </p:txBody>
      </p:sp>
      <p:sp>
        <p:nvSpPr>
          <p:cNvPr id="14" name="use-1"/>
          <p:cNvSpPr txBox="1"/>
          <p:nvPr/>
        </p:nvSpPr>
        <p:spPr>
          <a:xfrm>
            <a:off x="6364224" y="2350008"/>
            <a:ext cx="4992624" cy="914400"/>
          </a:xfrm>
          <a:prstGeom prst="rect">
            <a:avLst/>
          </a:prstGeom>
          <a:noFill/>
          <a:ln/>
        </p:spPr>
        <p:txBody>
          <a:bodyPr wrap="square" lIns="0" tIns="0" rIns="0" bIns="0" rtlCol="0" anchor="t"/>
          <a:lstStyle/>
          <a:p>
            <a:pPr algn="l" indent="0" marL="0">
              <a:lnSpc>
                <a:spcPct val="114000"/>
              </a:lnSpc>
              <a:buNone/>
            </a:pPr>
            <a:r>
              <a:rPr lang="en-US" sz="980" b="1" dirty="0">
                <a:solidFill>
                  <a:srgbClr val="201E1B"/>
                </a:solidFill>
                <a:latin typeface="Calibri" pitchFamily="34" charset="0"/>
                <a:ea typeface="Calibri" pitchFamily="34" charset="-122"/>
                <a:cs typeface="Calibri" pitchFamily="34" charset="-120"/>
              </a:rPr>
              <a:t>Switch capture on</a:t>
            </a:r>
            <a:endParaRPr lang="en-US" sz="980" dirty="0"/>
          </a:p>
          <a:p>
            <a:pPr algn="l" indent="0" marL="0">
              <a:lnSpc>
                <a:spcPct val="114000"/>
              </a:lnSpc>
              <a:buNone/>
            </a:pPr>
            <a:r>
              <a:rPr lang="en-US" sz="980" dirty="0">
                <a:solidFill>
                  <a:srgbClr val="6E675E"/>
                </a:solidFill>
                <a:latin typeface="Calibri" pitchFamily="34" charset="0"/>
                <a:ea typeface="Calibri" pitchFamily="34" charset="-122"/>
                <a:cs typeface="Calibri" pitchFamily="34" charset="-120"/>
              </a:rPr>
              <a:t>Capture starts paused on first run. Until you unpause it, nothing is read at all.</a:t>
            </a:r>
            <a:endParaRPr lang="en-US" sz="980" dirty="0"/>
          </a:p>
        </p:txBody>
      </p:sp>
      <p:sp>
        <p:nvSpPr>
          <p:cNvPr id="15" name="step-3-ring"/>
          <p:cNvSpPr/>
          <p:nvPr/>
        </p:nvSpPr>
        <p:spPr>
          <a:xfrm>
            <a:off x="5907024" y="3310128"/>
            <a:ext cx="329184" cy="329184"/>
          </a:xfrm>
          <a:prstGeom prst="ellipse">
            <a:avLst/>
          </a:prstGeom>
          <a:ln w="12700">
            <a:solidFill>
              <a:srgbClr val="A85A45"/>
            </a:solidFill>
            <a:prstDash val="solid"/>
          </a:ln>
        </p:spPr>
      </p:sp>
      <p:sp>
        <p:nvSpPr>
          <p:cNvPr id="16" name="step-3-num"/>
          <p:cNvSpPr txBox="1"/>
          <p:nvPr/>
        </p:nvSpPr>
        <p:spPr>
          <a:xfrm>
            <a:off x="5907024" y="3310128"/>
            <a:ext cx="329184" cy="329184"/>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3</a:t>
            </a:r>
            <a:endParaRPr lang="en-US" sz="1100" dirty="0"/>
          </a:p>
        </p:txBody>
      </p:sp>
      <p:sp>
        <p:nvSpPr>
          <p:cNvPr id="17" name="use-2"/>
          <p:cNvSpPr txBox="1"/>
          <p:nvPr/>
        </p:nvSpPr>
        <p:spPr>
          <a:xfrm>
            <a:off x="6364224" y="3291840"/>
            <a:ext cx="4992624" cy="914400"/>
          </a:xfrm>
          <a:prstGeom prst="rect">
            <a:avLst/>
          </a:prstGeom>
          <a:noFill/>
          <a:ln/>
        </p:spPr>
        <p:txBody>
          <a:bodyPr wrap="square" lIns="0" tIns="0" rIns="0" bIns="0" rtlCol="0" anchor="t"/>
          <a:lstStyle/>
          <a:p>
            <a:pPr algn="l" indent="0" marL="0">
              <a:lnSpc>
                <a:spcPct val="114000"/>
              </a:lnSpc>
              <a:buNone/>
            </a:pPr>
            <a:r>
              <a:rPr lang="en-US" sz="980" b="1" dirty="0">
                <a:solidFill>
                  <a:srgbClr val="201E1B"/>
                </a:solidFill>
                <a:latin typeface="Calibri" pitchFamily="34" charset="0"/>
                <a:ea typeface="Calibri" pitchFamily="34" charset="-122"/>
                <a:cs typeface="Calibri" pitchFamily="34" charset="-120"/>
              </a:rPr>
              <a:t>Work normally</a:t>
            </a:r>
            <a:endParaRPr lang="en-US" sz="980" dirty="0"/>
          </a:p>
          <a:p>
            <a:pPr algn="l" indent="0" marL="0">
              <a:lnSpc>
                <a:spcPct val="114000"/>
              </a:lnSpc>
              <a:buNone/>
            </a:pPr>
            <a:r>
              <a:rPr lang="en-US" sz="980" dirty="0">
                <a:solidFill>
                  <a:srgbClr val="6E675E"/>
                </a:solidFill>
                <a:latin typeface="Calibri" pitchFamily="34" charset="0"/>
                <a:ea typeface="Calibri" pitchFamily="34" charset="-122"/>
                <a:cs typeface="Calibri" pitchFamily="34" charset="-120"/>
              </a:rPr>
              <a:t>The notch sits at the top of the screen as a pill. Ctrl+Alt+Space opens it; if another application already owns that chord it falls back to Ctrl+Alt+N and the interface tells you which is active.</a:t>
            </a:r>
            <a:endParaRPr lang="en-US" sz="980" dirty="0"/>
          </a:p>
        </p:txBody>
      </p:sp>
      <p:sp>
        <p:nvSpPr>
          <p:cNvPr id="18" name="step-4-ring"/>
          <p:cNvSpPr/>
          <p:nvPr/>
        </p:nvSpPr>
        <p:spPr>
          <a:xfrm>
            <a:off x="5907024" y="4251960"/>
            <a:ext cx="329184" cy="329184"/>
          </a:xfrm>
          <a:prstGeom prst="ellipse">
            <a:avLst/>
          </a:prstGeom>
          <a:ln w="12700">
            <a:solidFill>
              <a:srgbClr val="A85A45"/>
            </a:solidFill>
            <a:prstDash val="solid"/>
          </a:ln>
        </p:spPr>
      </p:sp>
      <p:sp>
        <p:nvSpPr>
          <p:cNvPr id="19" name="step-4-num"/>
          <p:cNvSpPr txBox="1"/>
          <p:nvPr/>
        </p:nvSpPr>
        <p:spPr>
          <a:xfrm>
            <a:off x="5907024" y="4251960"/>
            <a:ext cx="329184" cy="329184"/>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4</a:t>
            </a:r>
            <a:endParaRPr lang="en-US" sz="1100" dirty="0"/>
          </a:p>
        </p:txBody>
      </p:sp>
      <p:sp>
        <p:nvSpPr>
          <p:cNvPr id="20" name="use-3"/>
          <p:cNvSpPr txBox="1"/>
          <p:nvPr/>
        </p:nvSpPr>
        <p:spPr>
          <a:xfrm>
            <a:off x="6364224" y="4233672"/>
            <a:ext cx="4992624" cy="914400"/>
          </a:xfrm>
          <a:prstGeom prst="rect">
            <a:avLst/>
          </a:prstGeom>
          <a:noFill/>
          <a:ln/>
        </p:spPr>
        <p:txBody>
          <a:bodyPr wrap="square" lIns="0" tIns="0" rIns="0" bIns="0" rtlCol="0" anchor="t"/>
          <a:lstStyle/>
          <a:p>
            <a:pPr algn="l" indent="0" marL="0">
              <a:lnSpc>
                <a:spcPct val="114000"/>
              </a:lnSpc>
              <a:buNone/>
            </a:pPr>
            <a:r>
              <a:rPr lang="en-US" sz="980" b="1" dirty="0">
                <a:solidFill>
                  <a:srgbClr val="201E1B"/>
                </a:solidFill>
                <a:latin typeface="Calibri" pitchFamily="34" charset="0"/>
                <a:ea typeface="Calibri" pitchFamily="34" charset="-122"/>
                <a:cs typeface="Calibri" pitchFamily="34" charset="-120"/>
              </a:rPr>
              <a:t>Ask, or draft</a:t>
            </a:r>
            <a:endParaRPr lang="en-US" sz="980" dirty="0"/>
          </a:p>
          <a:p>
            <a:pPr algn="l" indent="0" marL="0">
              <a:lnSpc>
                <a:spcPct val="114000"/>
              </a:lnSpc>
              <a:buNone/>
            </a:pPr>
            <a:r>
              <a:rPr lang="en-US" sz="980" dirty="0">
                <a:solidFill>
                  <a:srgbClr val="6E675E"/>
                </a:solidFill>
                <a:latin typeface="Calibri" pitchFamily="34" charset="0"/>
                <a:ea typeface="Calibri" pitchFamily="34" charset="-122"/>
                <a:cs typeface="Calibri" pitchFamily="34" charset="-120"/>
              </a:rPr>
              <a:t>Ctrl+Alt+K opens Ask; each answer sentence carries a citation chip that opens the underlying item. For a draft, put the cursor in the reply field first — insertion re-checks the target and never presses Enter.</a:t>
            </a:r>
            <a:endParaRPr lang="en-US" sz="980" dirty="0"/>
          </a:p>
        </p:txBody>
      </p:sp>
      <p:sp>
        <p:nvSpPr>
          <p:cNvPr id="21" name="step-5-ring"/>
          <p:cNvSpPr/>
          <p:nvPr/>
        </p:nvSpPr>
        <p:spPr>
          <a:xfrm>
            <a:off x="5907024" y="5193792"/>
            <a:ext cx="329184" cy="329184"/>
          </a:xfrm>
          <a:prstGeom prst="ellipse">
            <a:avLst/>
          </a:prstGeom>
          <a:ln w="12700">
            <a:solidFill>
              <a:srgbClr val="A85A45"/>
            </a:solidFill>
            <a:prstDash val="solid"/>
          </a:ln>
        </p:spPr>
      </p:sp>
      <p:sp>
        <p:nvSpPr>
          <p:cNvPr id="22" name="step-5-num"/>
          <p:cNvSpPr txBox="1"/>
          <p:nvPr/>
        </p:nvSpPr>
        <p:spPr>
          <a:xfrm>
            <a:off x="5907024" y="5193792"/>
            <a:ext cx="329184" cy="329184"/>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5</a:t>
            </a:r>
            <a:endParaRPr lang="en-US" sz="1100" dirty="0"/>
          </a:p>
        </p:txBody>
      </p:sp>
      <p:sp>
        <p:nvSpPr>
          <p:cNvPr id="23" name="use-4"/>
          <p:cNvSpPr txBox="1"/>
          <p:nvPr/>
        </p:nvSpPr>
        <p:spPr>
          <a:xfrm>
            <a:off x="6364224" y="5175504"/>
            <a:ext cx="4992624" cy="914400"/>
          </a:xfrm>
          <a:prstGeom prst="rect">
            <a:avLst/>
          </a:prstGeom>
          <a:noFill/>
          <a:ln/>
        </p:spPr>
        <p:txBody>
          <a:bodyPr wrap="square" lIns="0" tIns="0" rIns="0" bIns="0" rtlCol="0" anchor="t"/>
          <a:lstStyle/>
          <a:p>
            <a:pPr algn="l" indent="0" marL="0">
              <a:lnSpc>
                <a:spcPct val="114000"/>
              </a:lnSpc>
              <a:buNone/>
            </a:pPr>
            <a:r>
              <a:rPr lang="en-US" sz="980" b="1" dirty="0">
                <a:solidFill>
                  <a:srgbClr val="201E1B"/>
                </a:solidFill>
                <a:latin typeface="Calibri" pitchFamily="34" charset="0"/>
                <a:ea typeface="Calibri" pitchFamily="34" charset="-122"/>
                <a:cs typeface="Calibri" pitchFamily="34" charset="-120"/>
              </a:rPr>
              <a:t>Pause, or forget</a:t>
            </a:r>
            <a:endParaRPr lang="en-US" sz="980" dirty="0"/>
          </a:p>
          <a:p>
            <a:pPr algn="l" indent="0" marL="0">
              <a:lnSpc>
                <a:spcPct val="114000"/>
              </a:lnSpc>
              <a:buNone/>
            </a:pPr>
            <a:r>
              <a:rPr lang="en-US" sz="980" dirty="0">
                <a:solidFill>
                  <a:srgbClr val="6E675E"/>
                </a:solidFill>
                <a:latin typeface="Calibri" pitchFamily="34" charset="0"/>
                <a:ea typeface="Calibri" pitchFamily="34" charset="-122"/>
                <a:cs typeface="Calibri" pitchFamily="34" charset="-120"/>
              </a:rPr>
              <a:t>The hotkey or tray toggle halts capture instantly and drops buffered text. A person can be forgotten; only a salted digest of the identifier is kept, so the suppression list cannot be read back into names.</a:t>
            </a:r>
            <a:endParaRPr lang="en-US" sz="980" dirty="0"/>
          </a:p>
        </p:txBody>
      </p:sp>
      <p:sp>
        <p:nvSpPr>
          <p:cNvPr id="25" name="Slide Number Placeholder 0"/>
          <p:cNvSpPr>
            <a:spLocks noGrp="1"/>
          </p:cNvSpPr>
          <p:nvPr>
            <p:ph type="sldNum" sz="quarter" idx="4294967295"/>
          </p:nvPr>
        </p:nvSpPr>
        <p:spPr>
          <a:xfrm>
            <a:off x="11247120" y="635508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577"/>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789920" cy="237744"/>
          </a:xfrm>
          <a:prstGeom prst="rect">
            <a:avLst/>
          </a:prstGeom>
          <a:noFill/>
          <a:ln/>
        </p:spPr>
        <p:txBody>
          <a:bodyPr wrap="square" lIns="0" tIns="0" rIns="0" bIns="0" rtlCol="0" anchor="ctr"/>
          <a:lstStyle/>
          <a:p>
            <a:pPr algn="l" indent="0" marL="0">
              <a:buNone/>
            </a:pPr>
            <a:r>
              <a:rPr lang="en-US" sz="950" b="1" spc="250" kern="0" dirty="0">
                <a:solidFill>
                  <a:srgbClr val="8C8577"/>
                </a:solidFill>
                <a:latin typeface="Calibri" pitchFamily="34" charset="0"/>
                <a:ea typeface="Calibri" pitchFamily="34" charset="-122"/>
                <a:cs typeface="Calibri" pitchFamily="34" charset="-120"/>
              </a:rPr>
              <a:t>REAL-WORLD USE CASES</a:t>
            </a:r>
            <a:endParaRPr lang="en-US" sz="950" dirty="0"/>
          </a:p>
        </p:txBody>
      </p:sp>
      <p:sp>
        <p:nvSpPr>
          <p:cNvPr id="3" name="Text 0"/>
          <p:cNvSpPr/>
          <p:nvPr>
            <p:ph idx="101" type="title" hasCustomPrompt="1"/>
          </p:nvPr>
        </p:nvSpPr>
        <p:spPr>
          <a:xfrm>
            <a:off x="685800" y="621792"/>
            <a:ext cx="10789920" cy="566928"/>
          </a:xfrm>
          <a:prstGeom prst="rect">
            <a:avLst/>
          </a:prstGeom>
          <a:noFill/>
          <a:ln/>
        </p:spPr>
        <p:txBody>
          <a:bodyPr wrap="square" lIns="0" tIns="0" rIns="0" bIns="0" rtlCol="0" anchor="ctr"/>
          <a:lstStyle/>
          <a:p>
            <a:pPr algn="l" indent="0" marL="0">
              <a:buNone/>
            </a:pPr>
            <a:r>
              <a:rPr lang="en-US" sz="3000" dirty="0">
                <a:solidFill>
                  <a:srgbClr val="201E1B"/>
                </a:solidFill>
                <a:latin typeface="Cambria" pitchFamily="34" charset="0"/>
                <a:ea typeface="Cambria" pitchFamily="34" charset="-122"/>
                <a:cs typeface="Cambria" pitchFamily="34" charset="-120"/>
              </a:rPr>
              <a:t>Three situations the implementation already supports</a:t>
            </a:r>
            <a:endParaRPr lang="en-US" sz="3000" dirty="0"/>
          </a:p>
        </p:txBody>
      </p:sp>
      <p:sp>
        <p:nvSpPr>
          <p:cNvPr id="4" name="uc-0"/>
          <p:cNvSpPr/>
          <p:nvPr/>
        </p:nvSpPr>
        <p:spPr>
          <a:xfrm>
            <a:off x="685800" y="1426464"/>
            <a:ext cx="3438144" cy="3877056"/>
          </a:xfrm>
          <a:prstGeom prst="roundRect">
            <a:avLst>
              <a:gd name="adj" fmla="val 1064"/>
            </a:avLst>
          </a:prstGeom>
          <a:solidFill>
            <a:srgbClr val="FFFFFF"/>
          </a:solidFill>
          <a:ln w="9525">
            <a:solidFill>
              <a:srgbClr val="E7E3DA"/>
            </a:solidFill>
            <a:prstDash val="solid"/>
          </a:ln>
        </p:spPr>
      </p:sp>
      <p:sp>
        <p:nvSpPr>
          <p:cNvPr id="5" name="step-1-ring"/>
          <p:cNvSpPr/>
          <p:nvPr/>
        </p:nvSpPr>
        <p:spPr>
          <a:xfrm>
            <a:off x="868680" y="1609344"/>
            <a:ext cx="310896" cy="310896"/>
          </a:xfrm>
          <a:prstGeom prst="ellipse">
            <a:avLst/>
          </a:prstGeom>
          <a:ln w="12700">
            <a:solidFill>
              <a:srgbClr val="A85A45"/>
            </a:solidFill>
            <a:prstDash val="solid"/>
          </a:ln>
        </p:spPr>
      </p:sp>
      <p:sp>
        <p:nvSpPr>
          <p:cNvPr id="6" name="step-1-num"/>
          <p:cNvSpPr txBox="1"/>
          <p:nvPr/>
        </p:nvSpPr>
        <p:spPr>
          <a:xfrm>
            <a:off x="868680" y="1609344"/>
            <a:ext cx="310896" cy="310896"/>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1</a:t>
            </a:r>
            <a:endParaRPr lang="en-US" sz="1100" dirty="0"/>
          </a:p>
        </p:txBody>
      </p:sp>
      <p:sp>
        <p:nvSpPr>
          <p:cNvPr id="7" name="uc-who-0"/>
          <p:cNvSpPr txBox="1"/>
          <p:nvPr/>
        </p:nvSpPr>
        <p:spPr>
          <a:xfrm>
            <a:off x="1289304" y="1591056"/>
            <a:ext cx="2651760" cy="365760"/>
          </a:xfrm>
          <a:prstGeom prst="rect">
            <a:avLst/>
          </a:prstGeom>
          <a:noFill/>
          <a:ln/>
        </p:spPr>
        <p:txBody>
          <a:bodyPr wrap="square" lIns="0" tIns="0" rIns="0" bIns="0" rtlCol="0" anchor="ctr"/>
          <a:lstStyle/>
          <a:p>
            <a:pPr algn="l" indent="0" marL="0">
              <a:lnSpc>
                <a:spcPct val="105000"/>
              </a:lnSpc>
              <a:buNone/>
            </a:pPr>
            <a:r>
              <a:rPr lang="en-US" sz="1150" b="1" dirty="0">
                <a:solidFill>
                  <a:srgbClr val="201E1B"/>
                </a:solidFill>
                <a:latin typeface="Calibri" pitchFamily="34" charset="0"/>
                <a:ea typeface="Calibri" pitchFamily="34" charset="-122"/>
                <a:cs typeface="Calibri" pitchFamily="34" charset="-120"/>
              </a:rPr>
              <a:t>A student across a week of coursework</a:t>
            </a:r>
            <a:endParaRPr lang="en-US" sz="1150" dirty="0"/>
          </a:p>
        </p:txBody>
      </p:sp>
      <p:sp>
        <p:nvSpPr>
          <p:cNvPr id="8" name="uc-p-0"/>
          <p:cNvSpPr txBox="1"/>
          <p:nvPr/>
        </p:nvSpPr>
        <p:spPr>
          <a:xfrm>
            <a:off x="868680" y="2103120"/>
            <a:ext cx="3072384" cy="713232"/>
          </a:xfrm>
          <a:prstGeom prst="rect">
            <a:avLst/>
          </a:prstGeom>
          <a:noFill/>
          <a:ln/>
        </p:spPr>
        <p:txBody>
          <a:bodyPr wrap="square" lIns="0" tIns="0" rIns="0" bIns="0" rtlCol="0" anchor="t"/>
          <a:lstStyle/>
          <a:p>
            <a:pPr algn="l" indent="0" marL="0">
              <a:lnSpc>
                <a:spcPct val="114000"/>
              </a:lnSpc>
              <a:buNone/>
            </a:pPr>
            <a:r>
              <a:rPr lang="en-US" sz="940" i="1" dirty="0">
                <a:solidFill>
                  <a:srgbClr val="6E675E"/>
                </a:solidFill>
                <a:latin typeface="Calibri" pitchFamily="34" charset="0"/>
                <a:ea typeface="Calibri" pitchFamily="34" charset="-122"/>
                <a:cs typeface="Calibri" pitchFamily="34" charset="-120"/>
              </a:rPr>
              <a:t>A submission date agreed in a chat on Monday is gone by Thursday. It was never written anywhere except on screen.</a:t>
            </a:r>
            <a:endParaRPr lang="en-US" sz="940" dirty="0"/>
          </a:p>
        </p:txBody>
      </p:sp>
      <p:sp>
        <p:nvSpPr>
          <p:cNvPr id="9" name="uc-h-0"/>
          <p:cNvSpPr txBox="1"/>
          <p:nvPr/>
        </p:nvSpPr>
        <p:spPr>
          <a:xfrm>
            <a:off x="868680" y="2816352"/>
            <a:ext cx="3072384" cy="1371600"/>
          </a:xfrm>
          <a:prstGeom prst="rect">
            <a:avLst/>
          </a:prstGeom>
          <a:noFill/>
          <a:ln/>
        </p:spPr>
        <p:txBody>
          <a:bodyPr wrap="square" lIns="0" tIns="0" rIns="0" bIns="0" rtlCol="0" anchor="t"/>
          <a:lstStyle/>
          <a:p>
            <a:pPr algn="l" indent="0" marL="0">
              <a:lnSpc>
                <a:spcPct val="114000"/>
              </a:lnSpc>
              <a:buNone/>
            </a:pPr>
            <a:r>
              <a:rPr lang="en-US" sz="940" dirty="0">
                <a:solidFill>
                  <a:srgbClr val="201E1B"/>
                </a:solidFill>
                <a:latin typeface="Calibri" pitchFamily="34" charset="0"/>
                <a:ea typeface="Calibri" pitchFamily="34" charset="-122"/>
                <a:cs typeface="Calibri" pitchFamily="34" charset="-120"/>
              </a:rPr>
              <a:t>Extraction records it as a commitment with the sentence it came from. It appears in Open Loops and in the morning brief.</a:t>
            </a:r>
            <a:endParaRPr lang="en-US" sz="940" dirty="0"/>
          </a:p>
        </p:txBody>
      </p:sp>
      <p:sp>
        <p:nvSpPr>
          <p:cNvPr id="10" name="uc-c-0"/>
          <p:cNvSpPr txBox="1"/>
          <p:nvPr/>
        </p:nvSpPr>
        <p:spPr>
          <a:xfrm>
            <a:off x="868680" y="4133088"/>
            <a:ext cx="3072384" cy="219456"/>
          </a:xfrm>
          <a:prstGeom prst="rect">
            <a:avLst/>
          </a:prstGeom>
          <a:noFill/>
          <a:ln/>
        </p:spPr>
        <p:txBody>
          <a:bodyPr wrap="square" lIns="0" tIns="0" rIns="0" bIns="0" rtlCol="0" anchor="ctr"/>
          <a:lstStyle/>
          <a:p>
            <a:pPr algn="l" indent="0" marL="0">
              <a:buNone/>
            </a:pPr>
            <a:r>
              <a:rPr lang="en-US" sz="840" dirty="0">
                <a:solidFill>
                  <a:srgbClr val="A85A45"/>
                </a:solidFill>
                <a:latin typeface="Courier New" pitchFamily="34" charset="0"/>
                <a:ea typeface="Courier New" pitchFamily="34" charset="-122"/>
                <a:cs typeface="Courier New" pitchFamily="34" charset="-120"/>
              </a:rPr>
              <a:t>tsr-pipeline · tsr-store</a:t>
            </a:r>
            <a:endParaRPr lang="en-US" sz="840" dirty="0"/>
          </a:p>
        </p:txBody>
      </p:sp>
      <p:sp>
        <p:nvSpPr>
          <p:cNvPr id="11" name="uc-rule-0"/>
          <p:cNvSpPr/>
          <p:nvPr/>
        </p:nvSpPr>
        <p:spPr>
          <a:xfrm>
            <a:off x="868680" y="4425696"/>
            <a:ext cx="3072384" cy="0"/>
          </a:xfrm>
          <a:prstGeom prst="line">
            <a:avLst/>
          </a:prstGeom>
          <a:noFill/>
          <a:ln w="9525">
            <a:solidFill>
              <a:srgbClr val="E7E3DA"/>
            </a:solidFill>
            <a:prstDash val="solid"/>
          </a:ln>
        </p:spPr>
      </p:sp>
      <p:sp>
        <p:nvSpPr>
          <p:cNvPr id="12" name="uc-n-0"/>
          <p:cNvSpPr txBox="1"/>
          <p:nvPr/>
        </p:nvSpPr>
        <p:spPr>
          <a:xfrm>
            <a:off x="868680" y="4498848"/>
            <a:ext cx="3072384" cy="658368"/>
          </a:xfrm>
          <a:prstGeom prst="rect">
            <a:avLst/>
          </a:prstGeom>
          <a:noFill/>
          <a:ln/>
        </p:spPr>
        <p:txBody>
          <a:bodyPr wrap="square" lIns="0" tIns="0" rIns="0" bIns="0" rtlCol="0" anchor="t"/>
          <a:lstStyle/>
          <a:p>
            <a:pPr algn="l" indent="0" marL="0">
              <a:lnSpc>
                <a:spcPct val="110000"/>
              </a:lnSpc>
              <a:buNone/>
            </a:pPr>
            <a:r>
              <a:rPr lang="en-US" sz="840" dirty="0">
                <a:solidFill>
                  <a:srgbClr val="8C8577"/>
                </a:solidFill>
                <a:latin typeface="Calibri" pitchFamily="34" charset="0"/>
                <a:ea typeface="Calibri" pitchFamily="34" charset="-122"/>
                <a:cs typeface="Calibri" pitchFamily="34" charset="-120"/>
              </a:rPr>
              <a:t>Needs the window to have been readable and not blocklisted at the time.</a:t>
            </a:r>
            <a:endParaRPr lang="en-US" sz="840" dirty="0"/>
          </a:p>
        </p:txBody>
      </p:sp>
      <p:sp>
        <p:nvSpPr>
          <p:cNvPr id="13" name="uc-1"/>
          <p:cNvSpPr/>
          <p:nvPr/>
        </p:nvSpPr>
        <p:spPr>
          <a:xfrm>
            <a:off x="4361688" y="1426464"/>
            <a:ext cx="3438144" cy="3877056"/>
          </a:xfrm>
          <a:prstGeom prst="roundRect">
            <a:avLst>
              <a:gd name="adj" fmla="val 1064"/>
            </a:avLst>
          </a:prstGeom>
          <a:solidFill>
            <a:srgbClr val="FFFFFF"/>
          </a:solidFill>
          <a:ln w="9525">
            <a:solidFill>
              <a:srgbClr val="E7E3DA"/>
            </a:solidFill>
            <a:prstDash val="solid"/>
          </a:ln>
        </p:spPr>
      </p:sp>
      <p:sp>
        <p:nvSpPr>
          <p:cNvPr id="14" name="step-2-ring"/>
          <p:cNvSpPr/>
          <p:nvPr/>
        </p:nvSpPr>
        <p:spPr>
          <a:xfrm>
            <a:off x="4544568" y="1609344"/>
            <a:ext cx="310896" cy="310896"/>
          </a:xfrm>
          <a:prstGeom prst="ellipse">
            <a:avLst/>
          </a:prstGeom>
          <a:ln w="12700">
            <a:solidFill>
              <a:srgbClr val="A85A45"/>
            </a:solidFill>
            <a:prstDash val="solid"/>
          </a:ln>
        </p:spPr>
      </p:sp>
      <p:sp>
        <p:nvSpPr>
          <p:cNvPr id="15" name="step-2-num"/>
          <p:cNvSpPr txBox="1"/>
          <p:nvPr/>
        </p:nvSpPr>
        <p:spPr>
          <a:xfrm>
            <a:off x="4544568" y="1609344"/>
            <a:ext cx="310896" cy="310896"/>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2</a:t>
            </a:r>
            <a:endParaRPr lang="en-US" sz="1100" dirty="0"/>
          </a:p>
        </p:txBody>
      </p:sp>
      <p:sp>
        <p:nvSpPr>
          <p:cNvPr id="16" name="uc-who-1"/>
          <p:cNvSpPr txBox="1"/>
          <p:nvPr/>
        </p:nvSpPr>
        <p:spPr>
          <a:xfrm>
            <a:off x="4965192" y="1591056"/>
            <a:ext cx="2651760" cy="365760"/>
          </a:xfrm>
          <a:prstGeom prst="rect">
            <a:avLst/>
          </a:prstGeom>
          <a:noFill/>
          <a:ln/>
        </p:spPr>
        <p:txBody>
          <a:bodyPr wrap="square" lIns="0" tIns="0" rIns="0" bIns="0" rtlCol="0" anchor="ctr"/>
          <a:lstStyle/>
          <a:p>
            <a:pPr algn="l" indent="0" marL="0">
              <a:lnSpc>
                <a:spcPct val="105000"/>
              </a:lnSpc>
              <a:buNone/>
            </a:pPr>
            <a:r>
              <a:rPr lang="en-US" sz="1150" b="1" dirty="0">
                <a:solidFill>
                  <a:srgbClr val="201E1B"/>
                </a:solidFill>
                <a:latin typeface="Calibri" pitchFamily="34" charset="0"/>
                <a:ea typeface="Calibri" pitchFamily="34" charset="-122"/>
                <a:cs typeface="Calibri" pitchFamily="34" charset="-120"/>
              </a:rPr>
              <a:t>An engineer returning to an old decision</a:t>
            </a:r>
            <a:endParaRPr lang="en-US" sz="1150" dirty="0"/>
          </a:p>
        </p:txBody>
      </p:sp>
      <p:sp>
        <p:nvSpPr>
          <p:cNvPr id="17" name="uc-p-1"/>
          <p:cNvSpPr txBox="1"/>
          <p:nvPr/>
        </p:nvSpPr>
        <p:spPr>
          <a:xfrm>
            <a:off x="4544568" y="2103120"/>
            <a:ext cx="3072384" cy="713232"/>
          </a:xfrm>
          <a:prstGeom prst="rect">
            <a:avLst/>
          </a:prstGeom>
          <a:noFill/>
          <a:ln/>
        </p:spPr>
        <p:txBody>
          <a:bodyPr wrap="square" lIns="0" tIns="0" rIns="0" bIns="0" rtlCol="0" anchor="t"/>
          <a:lstStyle/>
          <a:p>
            <a:pPr algn="l" indent="0" marL="0">
              <a:lnSpc>
                <a:spcPct val="114000"/>
              </a:lnSpc>
              <a:buNone/>
            </a:pPr>
            <a:r>
              <a:rPr lang="en-US" sz="940" i="1" dirty="0">
                <a:solidFill>
                  <a:srgbClr val="6E675E"/>
                </a:solidFill>
                <a:latin typeface="Calibri" pitchFamily="34" charset="0"/>
                <a:ea typeface="Calibri" pitchFamily="34" charset="-122"/>
                <a:cs typeface="Calibri" pitchFamily="34" charset="-120"/>
              </a:rPr>
              <a:t>“Why did we drop the second approach?” — the reasoning is in a thread nobody can find.</a:t>
            </a:r>
            <a:endParaRPr lang="en-US" sz="940" dirty="0"/>
          </a:p>
        </p:txBody>
      </p:sp>
      <p:sp>
        <p:nvSpPr>
          <p:cNvPr id="18" name="uc-h-1"/>
          <p:cNvSpPr txBox="1"/>
          <p:nvPr/>
        </p:nvSpPr>
        <p:spPr>
          <a:xfrm>
            <a:off x="4544568" y="2816352"/>
            <a:ext cx="3072384" cy="1371600"/>
          </a:xfrm>
          <a:prstGeom prst="rect">
            <a:avLst/>
          </a:prstGeom>
          <a:noFill/>
          <a:ln/>
        </p:spPr>
        <p:txBody>
          <a:bodyPr wrap="square" lIns="0" tIns="0" rIns="0" bIns="0" rtlCol="0" anchor="t"/>
          <a:lstStyle/>
          <a:p>
            <a:pPr algn="l" indent="0" marL="0">
              <a:lnSpc>
                <a:spcPct val="114000"/>
              </a:lnSpc>
              <a:buNone/>
            </a:pPr>
            <a:r>
              <a:rPr lang="en-US" sz="940" dirty="0">
                <a:solidFill>
                  <a:srgbClr val="201E1B"/>
                </a:solidFill>
                <a:latin typeface="Calibri" pitchFamily="34" charset="0"/>
                <a:ea typeface="Calibri" pitchFamily="34" charset="-122"/>
                <a:cs typeface="Calibri" pitchFamily="34" charset="-120"/>
              </a:rPr>
              <a:t>Ask retrieves the snippets, the model answers from them, and each sentence shown is verified against the snippet it cites. Unverified sentences are hidden, not shown with a caveat.</a:t>
            </a:r>
            <a:endParaRPr lang="en-US" sz="940" dirty="0"/>
          </a:p>
        </p:txBody>
      </p:sp>
      <p:sp>
        <p:nvSpPr>
          <p:cNvPr id="19" name="uc-c-1"/>
          <p:cNvSpPr txBox="1"/>
          <p:nvPr/>
        </p:nvSpPr>
        <p:spPr>
          <a:xfrm>
            <a:off x="4544568" y="4133088"/>
            <a:ext cx="3072384" cy="219456"/>
          </a:xfrm>
          <a:prstGeom prst="rect">
            <a:avLst/>
          </a:prstGeom>
          <a:noFill/>
          <a:ln/>
        </p:spPr>
        <p:txBody>
          <a:bodyPr wrap="square" lIns="0" tIns="0" rIns="0" bIns="0" rtlCol="0" anchor="ctr"/>
          <a:lstStyle/>
          <a:p>
            <a:pPr algn="l" indent="0" marL="0">
              <a:buNone/>
            </a:pPr>
            <a:r>
              <a:rPr lang="en-US" sz="840" dirty="0">
                <a:solidFill>
                  <a:srgbClr val="A85A45"/>
                </a:solidFill>
                <a:latin typeface="Courier New" pitchFamily="34" charset="0"/>
                <a:ea typeface="Courier New" pitchFamily="34" charset="-122"/>
                <a:cs typeface="Courier New" pitchFamily="34" charset="-120"/>
              </a:rPr>
              <a:t>tsr-retrieval · tsr-pipeline</a:t>
            </a:r>
            <a:endParaRPr lang="en-US" sz="840" dirty="0"/>
          </a:p>
        </p:txBody>
      </p:sp>
      <p:sp>
        <p:nvSpPr>
          <p:cNvPr id="20" name="uc-rule-1"/>
          <p:cNvSpPr/>
          <p:nvPr/>
        </p:nvSpPr>
        <p:spPr>
          <a:xfrm>
            <a:off x="4544568" y="4425696"/>
            <a:ext cx="3072384" cy="0"/>
          </a:xfrm>
          <a:prstGeom prst="line">
            <a:avLst/>
          </a:prstGeom>
          <a:noFill/>
          <a:ln w="9525">
            <a:solidFill>
              <a:srgbClr val="E7E3DA"/>
            </a:solidFill>
            <a:prstDash val="solid"/>
          </a:ln>
        </p:spPr>
      </p:sp>
      <p:sp>
        <p:nvSpPr>
          <p:cNvPr id="21" name="uc-n-1"/>
          <p:cNvSpPr txBox="1"/>
          <p:nvPr/>
        </p:nvSpPr>
        <p:spPr>
          <a:xfrm>
            <a:off x="4544568" y="4498848"/>
            <a:ext cx="3072384" cy="658368"/>
          </a:xfrm>
          <a:prstGeom prst="rect">
            <a:avLst/>
          </a:prstGeom>
          <a:noFill/>
          <a:ln/>
        </p:spPr>
        <p:txBody>
          <a:bodyPr wrap="square" lIns="0" tIns="0" rIns="0" bIns="0" rtlCol="0" anchor="t"/>
          <a:lstStyle/>
          <a:p>
            <a:pPr algn="l" indent="0" marL="0">
              <a:lnSpc>
                <a:spcPct val="110000"/>
              </a:lnSpc>
              <a:buNone/>
            </a:pPr>
            <a:r>
              <a:rPr lang="en-US" sz="840" dirty="0">
                <a:solidFill>
                  <a:srgbClr val="8C8577"/>
                </a:solidFill>
                <a:latin typeface="Calibri" pitchFamily="34" charset="0"/>
                <a:ea typeface="Calibri" pitchFamily="34" charset="-122"/>
                <a:cs typeface="Calibri" pitchFamily="34" charset="-120"/>
              </a:rPr>
              <a:t>Correct on 66.7 % of a 60-question set with the 4B model, and slow on integrated graphics.</a:t>
            </a:r>
            <a:endParaRPr lang="en-US" sz="840" dirty="0"/>
          </a:p>
        </p:txBody>
      </p:sp>
      <p:sp>
        <p:nvSpPr>
          <p:cNvPr id="22" name="uc-2"/>
          <p:cNvSpPr/>
          <p:nvPr/>
        </p:nvSpPr>
        <p:spPr>
          <a:xfrm>
            <a:off x="8037576" y="1426464"/>
            <a:ext cx="3438144" cy="3877056"/>
          </a:xfrm>
          <a:prstGeom prst="roundRect">
            <a:avLst>
              <a:gd name="adj" fmla="val 1064"/>
            </a:avLst>
          </a:prstGeom>
          <a:solidFill>
            <a:srgbClr val="FFFFFF"/>
          </a:solidFill>
          <a:ln w="9525">
            <a:solidFill>
              <a:srgbClr val="E7E3DA"/>
            </a:solidFill>
            <a:prstDash val="solid"/>
          </a:ln>
        </p:spPr>
      </p:sp>
      <p:sp>
        <p:nvSpPr>
          <p:cNvPr id="23" name="step-3-ring"/>
          <p:cNvSpPr/>
          <p:nvPr/>
        </p:nvSpPr>
        <p:spPr>
          <a:xfrm>
            <a:off x="8220456" y="1609344"/>
            <a:ext cx="310896" cy="310896"/>
          </a:xfrm>
          <a:prstGeom prst="ellipse">
            <a:avLst/>
          </a:prstGeom>
          <a:ln w="12700">
            <a:solidFill>
              <a:srgbClr val="A85A45"/>
            </a:solidFill>
            <a:prstDash val="solid"/>
          </a:ln>
        </p:spPr>
      </p:sp>
      <p:sp>
        <p:nvSpPr>
          <p:cNvPr id="24" name="step-3-num"/>
          <p:cNvSpPr txBox="1"/>
          <p:nvPr/>
        </p:nvSpPr>
        <p:spPr>
          <a:xfrm>
            <a:off x="8220456" y="1609344"/>
            <a:ext cx="310896" cy="310896"/>
          </a:xfrm>
          <a:prstGeom prst="rect">
            <a:avLst/>
          </a:prstGeom>
          <a:noFill/>
          <a:ln/>
        </p:spPr>
        <p:txBody>
          <a:bodyPr wrap="square" lIns="0" tIns="0" rIns="0" bIns="0" rtlCol="0" anchor="ctr"/>
          <a:lstStyle/>
          <a:p>
            <a:pPr algn="ctr" indent="0" marL="0">
              <a:buNone/>
            </a:pPr>
            <a:r>
              <a:rPr lang="en-US" sz="1100" b="1" dirty="0">
                <a:solidFill>
                  <a:srgbClr val="A85A45"/>
                </a:solidFill>
                <a:latin typeface="Calibri" pitchFamily="34" charset="0"/>
                <a:ea typeface="Calibri" pitchFamily="34" charset="-122"/>
                <a:cs typeface="Calibri" pitchFamily="34" charset="-120"/>
              </a:rPr>
              <a:t>3</a:t>
            </a:r>
            <a:endParaRPr lang="en-US" sz="1100" dirty="0"/>
          </a:p>
        </p:txBody>
      </p:sp>
      <p:sp>
        <p:nvSpPr>
          <p:cNvPr id="25" name="uc-who-2"/>
          <p:cNvSpPr txBox="1"/>
          <p:nvPr/>
        </p:nvSpPr>
        <p:spPr>
          <a:xfrm>
            <a:off x="8641080" y="1591056"/>
            <a:ext cx="2651760" cy="365760"/>
          </a:xfrm>
          <a:prstGeom prst="rect">
            <a:avLst/>
          </a:prstGeom>
          <a:noFill/>
          <a:ln/>
        </p:spPr>
        <p:txBody>
          <a:bodyPr wrap="square" lIns="0" tIns="0" rIns="0" bIns="0" rtlCol="0" anchor="ctr"/>
          <a:lstStyle/>
          <a:p>
            <a:pPr algn="l" indent="0" marL="0">
              <a:lnSpc>
                <a:spcPct val="105000"/>
              </a:lnSpc>
              <a:buNone/>
            </a:pPr>
            <a:r>
              <a:rPr lang="en-US" sz="1150" b="1" dirty="0">
                <a:solidFill>
                  <a:srgbClr val="201E1B"/>
                </a:solidFill>
                <a:latin typeface="Calibri" pitchFamily="34" charset="0"/>
                <a:ea typeface="Calibri" pitchFamily="34" charset="-122"/>
                <a:cs typeface="Calibri" pitchFamily="34" charset="-120"/>
              </a:rPr>
              <a:t>Anyone writing a reply with context</a:t>
            </a:r>
            <a:endParaRPr lang="en-US" sz="1150" dirty="0"/>
          </a:p>
        </p:txBody>
      </p:sp>
      <p:sp>
        <p:nvSpPr>
          <p:cNvPr id="26" name="uc-p-2"/>
          <p:cNvSpPr txBox="1"/>
          <p:nvPr/>
        </p:nvSpPr>
        <p:spPr>
          <a:xfrm>
            <a:off x="8220456" y="2103120"/>
            <a:ext cx="3072384" cy="713232"/>
          </a:xfrm>
          <a:prstGeom prst="rect">
            <a:avLst/>
          </a:prstGeom>
          <a:noFill/>
          <a:ln/>
        </p:spPr>
        <p:txBody>
          <a:bodyPr wrap="square" lIns="0" tIns="0" rIns="0" bIns="0" rtlCol="0" anchor="t"/>
          <a:lstStyle/>
          <a:p>
            <a:pPr algn="l" indent="0" marL="0">
              <a:lnSpc>
                <a:spcPct val="114000"/>
              </a:lnSpc>
              <a:buNone/>
            </a:pPr>
            <a:r>
              <a:rPr lang="en-US" sz="940" i="1" dirty="0">
                <a:solidFill>
                  <a:srgbClr val="6E675E"/>
                </a:solidFill>
                <a:latin typeface="Calibri" pitchFamily="34" charset="0"/>
                <a:ea typeface="Calibri" pitchFamily="34" charset="-122"/>
                <a:cs typeface="Calibri" pitchFamily="34" charset="-120"/>
              </a:rPr>
              <a:t>The reply needs a date, an amount and a name that are scattered across the thread and last week's mail.</a:t>
            </a:r>
            <a:endParaRPr lang="en-US" sz="940" dirty="0"/>
          </a:p>
        </p:txBody>
      </p:sp>
      <p:sp>
        <p:nvSpPr>
          <p:cNvPr id="27" name="uc-h-2"/>
          <p:cNvSpPr txBox="1"/>
          <p:nvPr/>
        </p:nvSpPr>
        <p:spPr>
          <a:xfrm>
            <a:off x="8220456" y="2816352"/>
            <a:ext cx="3072384" cy="1371600"/>
          </a:xfrm>
          <a:prstGeom prst="rect">
            <a:avLst/>
          </a:prstGeom>
          <a:noFill/>
          <a:ln/>
        </p:spPr>
        <p:txBody>
          <a:bodyPr wrap="square" lIns="0" tIns="0" rIns="0" bIns="0" rtlCol="0" anchor="t"/>
          <a:lstStyle/>
          <a:p>
            <a:pPr algn="l" indent="0" marL="0">
              <a:lnSpc>
                <a:spcPct val="114000"/>
              </a:lnSpc>
              <a:buNone/>
            </a:pPr>
            <a:r>
              <a:rPr lang="en-US" sz="940" dirty="0">
                <a:solidFill>
                  <a:srgbClr val="201E1B"/>
                </a:solidFill>
                <a:latin typeface="Calibri" pitchFamily="34" charset="0"/>
                <a:ea typeface="Calibri" pitchFamily="34" charset="-122"/>
                <a:cs typeface="Calibri" pitchFamily="34" charset="-120"/>
              </a:rPr>
              <a:t>The draft assistant gathers the thread and relevant memory, generates at interactive priority, then an independent checker verifies every date, amount, number and name against the context and flags anything unsupported.</a:t>
            </a:r>
            <a:endParaRPr lang="en-US" sz="940" dirty="0"/>
          </a:p>
        </p:txBody>
      </p:sp>
      <p:sp>
        <p:nvSpPr>
          <p:cNvPr id="28" name="uc-c-2"/>
          <p:cNvSpPr txBox="1"/>
          <p:nvPr/>
        </p:nvSpPr>
        <p:spPr>
          <a:xfrm>
            <a:off x="8220456" y="4133088"/>
            <a:ext cx="3072384" cy="219456"/>
          </a:xfrm>
          <a:prstGeom prst="rect">
            <a:avLst/>
          </a:prstGeom>
          <a:noFill/>
          <a:ln/>
        </p:spPr>
        <p:txBody>
          <a:bodyPr wrap="square" lIns="0" tIns="0" rIns="0" bIns="0" rtlCol="0" anchor="ctr"/>
          <a:lstStyle/>
          <a:p>
            <a:pPr algn="l" indent="0" marL="0">
              <a:buNone/>
            </a:pPr>
            <a:r>
              <a:rPr lang="en-US" sz="840" dirty="0">
                <a:solidFill>
                  <a:srgbClr val="A85A45"/>
                </a:solidFill>
                <a:latin typeface="Courier New" pitchFamily="34" charset="0"/>
                <a:ea typeface="Courier New" pitchFamily="34" charset="-122"/>
                <a:cs typeface="Courier New" pitchFamily="34" charset="-120"/>
              </a:rPr>
              <a:t>tsr-draft · tsr-guard</a:t>
            </a:r>
            <a:endParaRPr lang="en-US" sz="840" dirty="0"/>
          </a:p>
        </p:txBody>
      </p:sp>
      <p:sp>
        <p:nvSpPr>
          <p:cNvPr id="29" name="uc-rule-2"/>
          <p:cNvSpPr/>
          <p:nvPr/>
        </p:nvSpPr>
        <p:spPr>
          <a:xfrm>
            <a:off x="8220456" y="4425696"/>
            <a:ext cx="3072384" cy="0"/>
          </a:xfrm>
          <a:prstGeom prst="line">
            <a:avLst/>
          </a:prstGeom>
          <a:noFill/>
          <a:ln w="9525">
            <a:solidFill>
              <a:srgbClr val="E7E3DA"/>
            </a:solidFill>
            <a:prstDash val="solid"/>
          </a:ln>
        </p:spPr>
      </p:sp>
      <p:sp>
        <p:nvSpPr>
          <p:cNvPr id="30" name="uc-n-2"/>
          <p:cNvSpPr txBox="1"/>
          <p:nvPr/>
        </p:nvSpPr>
        <p:spPr>
          <a:xfrm>
            <a:off x="8220456" y="4498848"/>
            <a:ext cx="3072384" cy="658368"/>
          </a:xfrm>
          <a:prstGeom prst="rect">
            <a:avLst/>
          </a:prstGeom>
          <a:noFill/>
          <a:ln/>
        </p:spPr>
        <p:txBody>
          <a:bodyPr wrap="square" lIns="0" tIns="0" rIns="0" bIns="0" rtlCol="0" anchor="t"/>
          <a:lstStyle/>
          <a:p>
            <a:pPr algn="l" indent="0" marL="0">
              <a:lnSpc>
                <a:spcPct val="110000"/>
              </a:lnSpc>
              <a:buNone/>
            </a:pPr>
            <a:r>
              <a:rPr lang="en-US" sz="840" dirty="0">
                <a:solidFill>
                  <a:srgbClr val="8C8577"/>
                </a:solidFill>
                <a:latin typeface="Calibri" pitchFamily="34" charset="0"/>
                <a:ea typeface="Calibri" pitchFamily="34" charset="-122"/>
                <a:cs typeface="Calibri" pitchFamily="34" charset="-120"/>
              </a:rPr>
              <a:t>Verified in a plain text field only; the five named mail and chat applications are untested.</a:t>
            </a:r>
            <a:endParaRPr lang="en-US" sz="840" dirty="0"/>
          </a:p>
        </p:txBody>
      </p:sp>
      <p:sp>
        <p:nvSpPr>
          <p:cNvPr id="31" name="uc-cap"/>
          <p:cNvSpPr txBox="1"/>
          <p:nvPr/>
        </p:nvSpPr>
        <p:spPr>
          <a:xfrm>
            <a:off x="685800" y="5541264"/>
            <a:ext cx="10789920" cy="310896"/>
          </a:xfrm>
          <a:prstGeom prst="rect">
            <a:avLst/>
          </a:prstGeom>
          <a:noFill/>
          <a:ln/>
        </p:spPr>
        <p:txBody>
          <a:bodyPr wrap="square" lIns="0" tIns="0" rIns="0" bIns="0" rtlCol="0" anchor="t"/>
          <a:lstStyle/>
          <a:p>
            <a:pPr algn="l" indent="0" marL="0">
              <a:buNone/>
            </a:pPr>
            <a:r>
              <a:rPr lang="en-US" sz="950" i="1" dirty="0">
                <a:solidFill>
                  <a:srgbClr val="6E675E"/>
                </a:solidFill>
                <a:latin typeface="Calibri" pitchFamily="34" charset="0"/>
                <a:ea typeface="Calibri" pitchFamily="34" charset="-122"/>
                <a:cs typeface="Calibri" pitchFamily="34" charset="-120"/>
              </a:rPr>
              <a:t>Potential applications not yet built: meeting notes and live translation were specified for a later stage and are not implemented. Nothing here claims the system is pleasant to use at current latency.</a:t>
            </a:r>
            <a:endParaRPr lang="en-US" sz="950" dirty="0"/>
          </a:p>
        </p:txBody>
      </p:sp>
      <p:sp>
        <p:nvSpPr>
          <p:cNvPr id="25" name="Slide Number Placeholder 0"/>
          <p:cNvSpPr>
            <a:spLocks noGrp="1"/>
          </p:cNvSpPr>
          <p:nvPr>
            <p:ph type="sldNum" sz="quarter" idx="4294967295"/>
          </p:nvPr>
        </p:nvSpPr>
        <p:spPr>
          <a:xfrm>
            <a:off x="11247120" y="635508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577"/>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789920" cy="237744"/>
          </a:xfrm>
          <a:prstGeom prst="rect">
            <a:avLst/>
          </a:prstGeom>
          <a:noFill/>
          <a:ln/>
        </p:spPr>
        <p:txBody>
          <a:bodyPr wrap="square" lIns="0" tIns="0" rIns="0" bIns="0" rtlCol="0" anchor="ctr"/>
          <a:lstStyle/>
          <a:p>
            <a:pPr algn="l" indent="0" marL="0">
              <a:buNone/>
            </a:pPr>
            <a:r>
              <a:rPr lang="en-US" sz="950" b="1" spc="250" kern="0" dirty="0">
                <a:solidFill>
                  <a:srgbClr val="8C8577"/>
                </a:solidFill>
                <a:latin typeface="Calibri" pitchFamily="34" charset="0"/>
                <a:ea typeface="Calibri" pitchFamily="34" charset="-122"/>
                <a:cs typeface="Calibri" pitchFamily="34" charset="-120"/>
              </a:rPr>
              <a:t>TESTING AND VALIDATION</a:t>
            </a:r>
            <a:endParaRPr lang="en-US" sz="950" dirty="0"/>
          </a:p>
        </p:txBody>
      </p:sp>
      <p:sp>
        <p:nvSpPr>
          <p:cNvPr id="3" name="Text 0"/>
          <p:cNvSpPr/>
          <p:nvPr>
            <p:ph idx="101" type="title" hasCustomPrompt="1"/>
          </p:nvPr>
        </p:nvSpPr>
        <p:spPr>
          <a:xfrm>
            <a:off x="685800" y="621792"/>
            <a:ext cx="10789920" cy="566928"/>
          </a:xfrm>
          <a:prstGeom prst="rect">
            <a:avLst/>
          </a:prstGeom>
          <a:noFill/>
          <a:ln/>
        </p:spPr>
        <p:txBody>
          <a:bodyPr wrap="square" lIns="0" tIns="0" rIns="0" bIns="0" rtlCol="0" anchor="ctr"/>
          <a:lstStyle/>
          <a:p>
            <a:pPr algn="l" indent="0" marL="0">
              <a:buNone/>
            </a:pPr>
            <a:r>
              <a:rPr lang="en-US" sz="3000" dirty="0">
                <a:solidFill>
                  <a:srgbClr val="201E1B"/>
                </a:solidFill>
                <a:latin typeface="Cambria" pitchFamily="34" charset="0"/>
                <a:ea typeface="Cambria" pitchFamily="34" charset="-122"/>
                <a:cs typeface="Cambria" pitchFamily="34" charset="-120"/>
              </a:rPr>
              <a:t>Code-enforced guarantees held. Model-dependent ones did not</a:t>
            </a:r>
            <a:endParaRPr lang="en-US" sz="3000" dirty="0"/>
          </a:p>
        </p:txBody>
      </p:sp>
      <p:graphicFrame>
        <p:nvGraphicFramePr>
          <p:cNvPr id="4" name="Chart 0" descr=""/>
          <p:cNvGraphicFramePr/>
          <p:nvPr/>
        </p:nvGraphicFramePr>
        <p:xfrm>
          <a:off x="685800" y="1572768"/>
          <a:ext cx="5394960" cy="2724912"/>
        </p:xfrm>
        <a:graphic xmlns:a="http://schemas.openxmlformats.org/drawingml/2006/main">
          <a:graphicData uri="http://schemas.openxmlformats.org/drawingml/2006/chart">
            <c:chart xmlns:c="http://schemas.openxmlformats.org/drawingml/2006/chart" r:id="rId1"/>
          </a:graphicData>
        </a:graphic>
      </p:graphicFrame>
      <p:sp>
        <p:nvSpPr>
          <p:cNvPr id="5" name="chart-cap"/>
          <p:cNvSpPr txBox="1"/>
          <p:nvPr/>
        </p:nvSpPr>
        <p:spPr>
          <a:xfrm>
            <a:off x="685800" y="4334256"/>
            <a:ext cx="5394960" cy="310896"/>
          </a:xfrm>
          <a:prstGeom prst="rect">
            <a:avLst/>
          </a:prstGeom>
          <a:noFill/>
          <a:ln/>
        </p:spPr>
        <p:txBody>
          <a:bodyPr wrap="square" lIns="0" tIns="0" rIns="0" bIns="0" rtlCol="0" anchor="t"/>
          <a:lstStyle/>
          <a:p>
            <a:pPr algn="l" indent="0" marL="0">
              <a:buNone/>
            </a:pPr>
            <a:r>
              <a:rPr lang="en-US" sz="880" i="1" dirty="0">
                <a:solidFill>
                  <a:srgbClr val="6E675E"/>
                </a:solidFill>
                <a:latin typeface="Calibri" pitchFamily="34" charset="0"/>
                <a:ea typeface="Calibri" pitchFamily="34" charset="-122"/>
                <a:cs typeface="Calibri" pitchFamily="34" charset="-120"/>
              </a:rPr>
              <a:t>Qwen3-VL-4B Q4_K_M on an AMD Radeon integrated GPU via Vulkan. The intended reference machine, an RTX 4050, was never available, so every timing is a lower bound.</a:t>
            </a:r>
            <a:endParaRPr lang="en-US" sz="880" dirty="0"/>
          </a:p>
        </p:txBody>
      </p:sp>
      <p:sp>
        <p:nvSpPr>
          <p:cNvPr id="6" name="met-card"/>
          <p:cNvSpPr/>
          <p:nvPr/>
        </p:nvSpPr>
        <p:spPr>
          <a:xfrm>
            <a:off x="6364224" y="1572768"/>
            <a:ext cx="5102352" cy="2066544"/>
          </a:xfrm>
          <a:prstGeom prst="roundRect">
            <a:avLst>
              <a:gd name="adj" fmla="val 1770"/>
            </a:avLst>
          </a:prstGeom>
          <a:solidFill>
            <a:srgbClr val="E7E3DA"/>
          </a:solidFill>
          <a:ln/>
        </p:spPr>
      </p:sp>
      <p:sp>
        <p:nvSpPr>
          <p:cNvPr id="7" name="met-dot"/>
          <p:cNvSpPr/>
          <p:nvPr/>
        </p:nvSpPr>
        <p:spPr>
          <a:xfrm>
            <a:off x="6547104" y="1755648"/>
            <a:ext cx="109728" cy="109728"/>
          </a:xfrm>
          <a:prstGeom prst="ellipse">
            <a:avLst/>
          </a:prstGeom>
          <a:solidFill>
            <a:srgbClr val="6C7F6B"/>
          </a:solidFill>
          <a:ln w="12700">
            <a:solidFill>
              <a:srgbClr val="6C7F6B"/>
            </a:solidFill>
            <a:prstDash val="solid"/>
          </a:ln>
        </p:spPr>
      </p:sp>
      <p:sp>
        <p:nvSpPr>
          <p:cNvPr id="8" name="met-h"/>
          <p:cNvSpPr txBox="1"/>
          <p:nvPr/>
        </p:nvSpPr>
        <p:spPr>
          <a:xfrm>
            <a:off x="6748272" y="1673352"/>
            <a:ext cx="4535424" cy="256032"/>
          </a:xfrm>
          <a:prstGeom prst="rect">
            <a:avLst/>
          </a:prstGeom>
          <a:noFill/>
          <a:ln/>
        </p:spPr>
        <p:txBody>
          <a:bodyPr wrap="square" lIns="0" tIns="0" rIns="0" bIns="0" rtlCol="0" anchor="ctr"/>
          <a:lstStyle/>
          <a:p>
            <a:pPr algn="l" indent="0" marL="0">
              <a:buNone/>
            </a:pPr>
            <a:r>
              <a:rPr lang="en-US" sz="860" b="1" spc="120" kern="0" dirty="0">
                <a:solidFill>
                  <a:srgbClr val="6C7F6B"/>
                </a:solidFill>
                <a:latin typeface="Calibri" pitchFamily="34" charset="0"/>
                <a:ea typeface="Calibri" pitchFamily="34" charset="-122"/>
                <a:cs typeface="Calibri" pitchFamily="34" charset="-120"/>
              </a:rPr>
              <a:t>ELEVEN CRITERIA MET — ALL ENFORCED BY CODE</a:t>
            </a:r>
            <a:endParaRPr lang="en-US" sz="860" dirty="0"/>
          </a:p>
        </p:txBody>
      </p:sp>
      <p:sp>
        <p:nvSpPr>
          <p:cNvPr id="9" name="met-b"/>
          <p:cNvSpPr txBox="1"/>
          <p:nvPr/>
        </p:nvSpPr>
        <p:spPr>
          <a:xfrm>
            <a:off x="6748272" y="1956816"/>
            <a:ext cx="4535424" cy="1609344"/>
          </a:xfrm>
          <a:prstGeom prst="rect">
            <a:avLst/>
          </a:prstGeom>
          <a:noFill/>
          <a:ln/>
        </p:spPr>
        <p:txBody>
          <a:bodyPr wrap="square" lIns="0" tIns="0" rIns="0" bIns="0" rtlCol="0" anchor="t"/>
          <a:lstStyle/>
          <a:p>
            <a:pPr algn="l" indent="0" marL="0">
              <a:lnSpc>
                <a:spcPct val="116000"/>
              </a:lnSpc>
              <a:buNone/>
            </a:pPr>
            <a:r>
              <a:rPr lang="en-US" sz="900" dirty="0">
                <a:solidFill>
                  <a:srgbClr val="6E675E"/>
                </a:solidFill>
                <a:latin typeface="Calibri" pitchFamily="34" charset="0"/>
                <a:ea typeface="Calibri" pitchFamily="34" charset="-122"/>
                <a:cs typeface="Calibri" pitchFamily="34" charset="-120"/>
              </a:rPr>
              <a:t>355 / 355 seeded secrets removed · 0.41 % false positives</a:t>
            </a:r>
            <a:endParaRPr lang="en-US" sz="900" dirty="0"/>
          </a:p>
          <a:p>
            <a:pPr algn="l" indent="0" marL="0">
              <a:lnSpc>
                <a:spcPct val="116000"/>
              </a:lnSpc>
              <a:buNone/>
            </a:pPr>
            <a:r>
              <a:rPr lang="en-US" sz="900" dirty="0">
                <a:solidFill>
                  <a:srgbClr val="6E675E"/>
                </a:solidFill>
                <a:latin typeface="Calibri" pitchFamily="34" charset="0"/>
                <a:ea typeface="Calibri" pitchFamily="34" charset="-122"/>
                <a:cs typeface="Calibri" pitchFamily="34" charset="-120"/>
              </a:rPr>
              <a:t>0 plaintext hits across 285 files / 32 MB</a:t>
            </a:r>
            <a:endParaRPr lang="en-US" sz="900" dirty="0"/>
          </a:p>
          <a:p>
            <a:pPr algn="l" indent="0" marL="0">
              <a:lnSpc>
                <a:spcPct val="116000"/>
              </a:lnSpc>
              <a:buNone/>
            </a:pPr>
            <a:r>
              <a:rPr lang="en-US" sz="900" dirty="0">
                <a:solidFill>
                  <a:srgbClr val="6E675E"/>
                </a:solidFill>
                <a:latin typeface="Calibri" pitchFamily="34" charset="0"/>
                <a:ea typeface="Calibri" pitchFamily="34" charset="-122"/>
                <a:cs typeface="Calibri" pitchFamily="34" charset="-120"/>
              </a:rPr>
              <a:t>0 / 97 stored facts hallucinated · 0 schema violations</a:t>
            </a:r>
            <a:endParaRPr lang="en-US" sz="900" dirty="0"/>
          </a:p>
          <a:p>
            <a:pPr algn="l" indent="0" marL="0">
              <a:lnSpc>
                <a:spcPct val="116000"/>
              </a:lnSpc>
              <a:buNone/>
            </a:pPr>
            <a:r>
              <a:rPr lang="en-US" sz="900" dirty="0">
                <a:solidFill>
                  <a:srgbClr val="6E675E"/>
                </a:solidFill>
                <a:latin typeface="Calibri" pitchFamily="34" charset="0"/>
                <a:ea typeface="Calibri" pitchFamily="34" charset="-122"/>
                <a:cs typeface="Calibri" pitchFamily="34" charset="-120"/>
              </a:rPr>
              <a:t>0 fabricated citations</a:t>
            </a:r>
            <a:endParaRPr lang="en-US" sz="900" dirty="0"/>
          </a:p>
          <a:p>
            <a:pPr algn="l" indent="0" marL="0">
              <a:lnSpc>
                <a:spcPct val="116000"/>
              </a:lnSpc>
              <a:buNone/>
            </a:pPr>
            <a:r>
              <a:rPr lang="en-US" sz="900" dirty="0">
                <a:solidFill>
                  <a:srgbClr val="6E675E"/>
                </a:solidFill>
                <a:latin typeface="Calibri" pitchFamily="34" charset="0"/>
                <a:ea typeface="Calibri" pitchFamily="34" charset="-122"/>
                <a:cs typeface="Calibri" pitchFamily="34" charset="-120"/>
              </a:rPr>
              <a:t>0 commitments closed without confirmation</a:t>
            </a:r>
            <a:endParaRPr lang="en-US" sz="900" dirty="0"/>
          </a:p>
          <a:p>
            <a:pPr algn="l" indent="0" marL="0">
              <a:lnSpc>
                <a:spcPct val="116000"/>
              </a:lnSpc>
              <a:buNone/>
            </a:pPr>
            <a:r>
              <a:rPr lang="en-US" sz="900" dirty="0">
                <a:solidFill>
                  <a:srgbClr val="6E675E"/>
                </a:solidFill>
                <a:latin typeface="Calibri" pitchFamily="34" charset="0"/>
                <a:ea typeface="Calibri" pitchFamily="34" charset="-122"/>
                <a:cs typeface="Calibri" pitchFamily="34" charset="-120"/>
              </a:rPr>
              <a:t>Frame p95 16.8 ms · input-to-visual p95 64 ms</a:t>
            </a:r>
            <a:endParaRPr lang="en-US" sz="900" dirty="0"/>
          </a:p>
          <a:p>
            <a:pPr algn="l" indent="0" marL="0">
              <a:lnSpc>
                <a:spcPct val="116000"/>
              </a:lnSpc>
              <a:buNone/>
            </a:pPr>
            <a:r>
              <a:rPr lang="en-US" sz="900" dirty="0">
                <a:solidFill>
                  <a:srgbClr val="6E675E"/>
                </a:solidFill>
                <a:latin typeface="Calibri" pitchFamily="34" charset="0"/>
                <a:ea typeface="Calibri" pitchFamily="34" charset="-122"/>
                <a:cs typeface="Calibri" pitchFamily="34" charset="-120"/>
              </a:rPr>
              <a:t>100 % absent from Graphics Capture and GDI frames</a:t>
            </a:r>
            <a:endParaRPr lang="en-US" sz="900" dirty="0"/>
          </a:p>
        </p:txBody>
      </p:sp>
      <p:sp>
        <p:nvSpPr>
          <p:cNvPr id="10" name="miss-card"/>
          <p:cNvSpPr/>
          <p:nvPr/>
        </p:nvSpPr>
        <p:spPr>
          <a:xfrm>
            <a:off x="6364224" y="3749040"/>
            <a:ext cx="5102352" cy="2066544"/>
          </a:xfrm>
          <a:prstGeom prst="roundRect">
            <a:avLst>
              <a:gd name="adj" fmla="val 1770"/>
            </a:avLst>
          </a:prstGeom>
          <a:solidFill>
            <a:srgbClr val="FFFFFF"/>
          </a:solidFill>
          <a:ln w="9525">
            <a:solidFill>
              <a:srgbClr val="E7E3DA"/>
            </a:solidFill>
            <a:prstDash val="solid"/>
          </a:ln>
        </p:spPr>
      </p:sp>
      <p:sp>
        <p:nvSpPr>
          <p:cNvPr id="11" name="miss-dot"/>
          <p:cNvSpPr/>
          <p:nvPr/>
        </p:nvSpPr>
        <p:spPr>
          <a:xfrm>
            <a:off x="6547104" y="3931920"/>
            <a:ext cx="109728" cy="109728"/>
          </a:xfrm>
          <a:prstGeom prst="ellipse">
            <a:avLst/>
          </a:prstGeom>
          <a:solidFill>
            <a:srgbClr val="A85A45"/>
          </a:solidFill>
          <a:ln w="12700">
            <a:solidFill>
              <a:srgbClr val="A85A45"/>
            </a:solidFill>
            <a:prstDash val="solid"/>
          </a:ln>
        </p:spPr>
      </p:sp>
      <p:sp>
        <p:nvSpPr>
          <p:cNvPr id="12" name="miss-h"/>
          <p:cNvSpPr txBox="1"/>
          <p:nvPr/>
        </p:nvSpPr>
        <p:spPr>
          <a:xfrm>
            <a:off x="6748272" y="3849624"/>
            <a:ext cx="4535424" cy="256032"/>
          </a:xfrm>
          <a:prstGeom prst="rect">
            <a:avLst/>
          </a:prstGeom>
          <a:noFill/>
          <a:ln/>
        </p:spPr>
        <p:txBody>
          <a:bodyPr wrap="square" lIns="0" tIns="0" rIns="0" bIns="0" rtlCol="0" anchor="ctr"/>
          <a:lstStyle/>
          <a:p>
            <a:pPr algn="l" indent="0" marL="0">
              <a:buNone/>
            </a:pPr>
            <a:r>
              <a:rPr lang="en-US" sz="860" b="1" spc="120" kern="0" dirty="0">
                <a:solidFill>
                  <a:srgbClr val="A85A45"/>
                </a:solidFill>
                <a:latin typeface="Calibri" pitchFamily="34" charset="0"/>
                <a:ea typeface="Calibri" pitchFamily="34" charset="-122"/>
                <a:cs typeface="Calibri" pitchFamily="34" charset="-120"/>
              </a:rPr>
              <a:t>SEVEN NOT MET — MODEL, HARDWARE OR THIRD PARTY</a:t>
            </a:r>
            <a:endParaRPr lang="en-US" sz="860" dirty="0"/>
          </a:p>
        </p:txBody>
      </p:sp>
      <p:sp>
        <p:nvSpPr>
          <p:cNvPr id="13" name="miss-b"/>
          <p:cNvSpPr txBox="1"/>
          <p:nvPr/>
        </p:nvSpPr>
        <p:spPr>
          <a:xfrm>
            <a:off x="6748272" y="4133088"/>
            <a:ext cx="4535424" cy="1609344"/>
          </a:xfrm>
          <a:prstGeom prst="rect">
            <a:avLst/>
          </a:prstGeom>
          <a:noFill/>
          <a:ln/>
        </p:spPr>
        <p:txBody>
          <a:bodyPr wrap="square" lIns="0" tIns="0" rIns="0" bIns="0" rtlCol="0" anchor="t"/>
          <a:lstStyle/>
          <a:p>
            <a:pPr algn="l" indent="0" marL="0">
              <a:lnSpc>
                <a:spcPct val="116000"/>
              </a:lnSpc>
              <a:buNone/>
            </a:pPr>
            <a:r>
              <a:rPr lang="en-US" sz="900" dirty="0">
                <a:solidFill>
                  <a:srgbClr val="6E675E"/>
                </a:solidFill>
                <a:latin typeface="Calibri" pitchFamily="34" charset="0"/>
                <a:ea typeface="Calibri" pitchFamily="34" charset="-122"/>
                <a:cs typeface="Calibri" pitchFamily="34" charset="-120"/>
              </a:rPr>
              <a:t>Extraction F1 0.533 against 0.70</a:t>
            </a:r>
            <a:endParaRPr lang="en-US" sz="900" dirty="0"/>
          </a:p>
          <a:p>
            <a:pPr algn="l" indent="0" marL="0">
              <a:lnSpc>
                <a:spcPct val="116000"/>
              </a:lnSpc>
              <a:buNone/>
            </a:pPr>
            <a:r>
              <a:rPr lang="en-US" sz="900" dirty="0">
                <a:solidFill>
                  <a:srgbClr val="6E675E"/>
                </a:solidFill>
                <a:latin typeface="Calibri" pitchFamily="34" charset="0"/>
                <a:ea typeface="Calibri" pitchFamily="34" charset="-122"/>
                <a:cs typeface="Calibri" pitchFamily="34" charset="-120"/>
              </a:rPr>
              <a:t>Answers correct 66.7 % against 80 %</a:t>
            </a:r>
            <a:endParaRPr lang="en-US" sz="900" dirty="0"/>
          </a:p>
          <a:p>
            <a:pPr algn="l" indent="0" marL="0">
              <a:lnSpc>
                <a:spcPct val="116000"/>
              </a:lnSpc>
              <a:buNone/>
            </a:pPr>
            <a:r>
              <a:rPr lang="en-US" sz="900" dirty="0">
                <a:solidFill>
                  <a:srgbClr val="6E675E"/>
                </a:solidFill>
                <a:latin typeface="Calibri" pitchFamily="34" charset="0"/>
                <a:ea typeface="Calibri" pitchFamily="34" charset="-122"/>
                <a:cs typeface="Calibri" pitchFamily="34" charset="-120"/>
              </a:rPr>
              <a:t>Sentences verified 83.7 % against 90 %</a:t>
            </a:r>
            <a:endParaRPr lang="en-US" sz="900" dirty="0"/>
          </a:p>
          <a:p>
            <a:pPr algn="l" indent="0" marL="0">
              <a:lnSpc>
                <a:spcPct val="116000"/>
              </a:lnSpc>
              <a:buNone/>
            </a:pPr>
            <a:r>
              <a:rPr lang="en-US" sz="900" dirty="0">
                <a:solidFill>
                  <a:srgbClr val="6E675E"/>
                </a:solidFill>
                <a:latin typeface="Calibri" pitchFamily="34" charset="0"/>
                <a:ea typeface="Calibri" pitchFamily="34" charset="-122"/>
                <a:cs typeface="Calibri" pitchFamily="34" charset="-120"/>
              </a:rPr>
              <a:t>First answer sentence 25.2 s against 2.5 s</a:t>
            </a:r>
            <a:endParaRPr lang="en-US" sz="900" dirty="0"/>
          </a:p>
          <a:p>
            <a:pPr algn="l" indent="0" marL="0">
              <a:lnSpc>
                <a:spcPct val="116000"/>
              </a:lnSpc>
              <a:buNone/>
            </a:pPr>
            <a:r>
              <a:rPr lang="en-US" sz="900" dirty="0">
                <a:solidFill>
                  <a:srgbClr val="6E675E"/>
                </a:solidFill>
                <a:latin typeface="Calibri" pitchFamily="34" charset="0"/>
                <a:ea typeface="Calibri" pitchFamily="34" charset="-122"/>
                <a:cs typeface="Calibri" pitchFamily="34" charset="-120"/>
              </a:rPr>
              <a:t>Complete draft 16.4 s against 8 s</a:t>
            </a:r>
            <a:endParaRPr lang="en-US" sz="900" dirty="0"/>
          </a:p>
          <a:p>
            <a:pPr algn="l" indent="0" marL="0">
              <a:lnSpc>
                <a:spcPct val="116000"/>
              </a:lnSpc>
              <a:buNone/>
            </a:pPr>
            <a:r>
              <a:rPr lang="en-US" sz="900" dirty="0">
                <a:solidFill>
                  <a:srgbClr val="6E675E"/>
                </a:solidFill>
                <a:latin typeface="Calibri" pitchFamily="34" charset="0"/>
                <a:ea typeface="Calibri" pitchFamily="34" charset="-122"/>
                <a:cs typeface="Calibri" pitchFamily="34" charset="-120"/>
              </a:rPr>
              <a:t>WebView2: one outbound connection per run</a:t>
            </a:r>
            <a:endParaRPr lang="en-US" sz="900" dirty="0"/>
          </a:p>
          <a:p>
            <a:pPr algn="l" indent="0" marL="0">
              <a:lnSpc>
                <a:spcPct val="116000"/>
              </a:lnSpc>
              <a:buNone/>
            </a:pPr>
            <a:r>
              <a:rPr lang="en-US" sz="900" dirty="0">
                <a:solidFill>
                  <a:srgbClr val="6E675E"/>
                </a:solidFill>
                <a:latin typeface="Calibri" pitchFamily="34" charset="0"/>
                <a:ea typeface="Calibri" pitchFamily="34" charset="-122"/>
                <a:cs typeface="Calibri" pitchFamily="34" charset="-120"/>
              </a:rPr>
              <a:t>Injection: 24 / 39 on the untouched corpus half</a:t>
            </a:r>
            <a:endParaRPr lang="en-US" sz="900" dirty="0"/>
          </a:p>
        </p:txBody>
      </p:sp>
      <p:sp>
        <p:nvSpPr>
          <p:cNvPr id="14" name="test-inventory"/>
          <p:cNvSpPr txBox="1"/>
          <p:nvPr/>
        </p:nvSpPr>
        <p:spPr>
          <a:xfrm>
            <a:off x="685800" y="5120640"/>
            <a:ext cx="5394960" cy="1097280"/>
          </a:xfrm>
          <a:prstGeom prst="rect">
            <a:avLst/>
          </a:prstGeom>
          <a:noFill/>
          <a:ln/>
        </p:spPr>
        <p:txBody>
          <a:bodyPr wrap="square" lIns="0" tIns="0" rIns="0" bIns="0" rtlCol="0" anchor="t"/>
          <a:lstStyle/>
          <a:p>
            <a:pPr algn="l" indent="0" marL="0">
              <a:lnSpc>
                <a:spcPct val="116000"/>
              </a:lnSpc>
              <a:buNone/>
            </a:pPr>
            <a:r>
              <a:rPr lang="en-US" sz="900" dirty="0">
                <a:solidFill>
                  <a:srgbClr val="6E675E"/>
                </a:solidFill>
                <a:latin typeface="Calibri" pitchFamily="34" charset="0"/>
                <a:ea typeface="Calibri" pitchFamily="34" charset="-122"/>
                <a:cs typeface="Calibri" pitchFamily="34" charset="-120"/>
              </a:rPr>
              <a:t>375 Rust test functions · 355-case secrets corpus · 152-case injection corpus, half of it held out from tuning · 80 extraction items · 60 questions · 20 draft scenarios · 20,000 randomised inputs per robustness target. One criterion — the 8-hour resource and 7-day stability run — has not been run at all.</a:t>
            </a:r>
            <a:endParaRPr lang="en-US" sz="900" dirty="0"/>
          </a:p>
        </p:txBody>
      </p:sp>
      <p:sp>
        <p:nvSpPr>
          <p:cNvPr id="25" name="Slide Number Placeholder 0"/>
          <p:cNvSpPr>
            <a:spLocks noGrp="1"/>
          </p:cNvSpPr>
          <p:nvPr>
            <p:ph type="sldNum" sz="quarter" idx="4294967295"/>
          </p:nvPr>
        </p:nvSpPr>
        <p:spPr>
          <a:xfrm>
            <a:off x="11247120" y="635508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577"/>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789920" cy="237744"/>
          </a:xfrm>
          <a:prstGeom prst="rect">
            <a:avLst/>
          </a:prstGeom>
          <a:noFill/>
          <a:ln/>
        </p:spPr>
        <p:txBody>
          <a:bodyPr wrap="square" lIns="0" tIns="0" rIns="0" bIns="0" rtlCol="0" anchor="ctr"/>
          <a:lstStyle/>
          <a:p>
            <a:pPr algn="l" indent="0" marL="0">
              <a:buNone/>
            </a:pPr>
            <a:r>
              <a:rPr lang="en-US" sz="950" b="1" spc="250" kern="0" dirty="0">
                <a:solidFill>
                  <a:srgbClr val="8C8577"/>
                </a:solidFill>
                <a:latin typeface="Calibri" pitchFamily="34" charset="0"/>
                <a:ea typeface="Calibri" pitchFamily="34" charset="-122"/>
                <a:cs typeface="Calibri" pitchFamily="34" charset="-120"/>
              </a:rPr>
              <a:t>LIMITATIONS AND TRADE-OFFS</a:t>
            </a:r>
            <a:endParaRPr lang="en-US" sz="950" dirty="0"/>
          </a:p>
        </p:txBody>
      </p:sp>
      <p:sp>
        <p:nvSpPr>
          <p:cNvPr id="3" name="Text 0"/>
          <p:cNvSpPr/>
          <p:nvPr>
            <p:ph idx="101" type="title" hasCustomPrompt="1"/>
          </p:nvPr>
        </p:nvSpPr>
        <p:spPr>
          <a:xfrm>
            <a:off x="685800" y="621792"/>
            <a:ext cx="10789920" cy="566928"/>
          </a:xfrm>
          <a:prstGeom prst="rect">
            <a:avLst/>
          </a:prstGeom>
          <a:noFill/>
          <a:ln/>
        </p:spPr>
        <p:txBody>
          <a:bodyPr wrap="square" lIns="0" tIns="0" rIns="0" bIns="0" rtlCol="0" anchor="ctr"/>
          <a:lstStyle/>
          <a:p>
            <a:pPr algn="l" indent="0" marL="0">
              <a:buNone/>
            </a:pPr>
            <a:r>
              <a:rPr lang="en-US" sz="3000" dirty="0">
                <a:solidFill>
                  <a:srgbClr val="201E1B"/>
                </a:solidFill>
                <a:latin typeface="Cambria" pitchFamily="34" charset="0"/>
                <a:ea typeface="Cambria" pitchFamily="34" charset="-122"/>
                <a:cs typeface="Cambria" pitchFamily="34" charset="-120"/>
              </a:rPr>
              <a:t>What is wrong, why, and what would fix it</a:t>
            </a:r>
            <a:endParaRPr lang="en-US" sz="3000" dirty="0"/>
          </a:p>
        </p:txBody>
      </p:sp>
      <p:sp>
        <p:nvSpPr>
          <p:cNvPr id="4" name="lim-h-0"/>
          <p:cNvSpPr txBox="1"/>
          <p:nvPr/>
        </p:nvSpPr>
        <p:spPr>
          <a:xfrm>
            <a:off x="685800" y="1371600"/>
            <a:ext cx="2697480" cy="219456"/>
          </a:xfrm>
          <a:prstGeom prst="rect">
            <a:avLst/>
          </a:prstGeom>
          <a:noFill/>
          <a:ln/>
        </p:spPr>
        <p:txBody>
          <a:bodyPr wrap="square" lIns="0" tIns="0" rIns="0" bIns="0" rtlCol="0" anchor="ctr"/>
          <a:lstStyle/>
          <a:p>
            <a:pPr algn="l" indent="0" marL="0">
              <a:buNone/>
            </a:pPr>
            <a:r>
              <a:rPr lang="en-US" sz="800" b="1" spc="130" kern="0" dirty="0">
                <a:solidFill>
                  <a:srgbClr val="8C8577"/>
                </a:solidFill>
                <a:latin typeface="Calibri" pitchFamily="34" charset="0"/>
                <a:ea typeface="Calibri" pitchFamily="34" charset="-122"/>
                <a:cs typeface="Calibri" pitchFamily="34" charset="-120"/>
              </a:rPr>
              <a:t>LIMITATION</a:t>
            </a:r>
            <a:endParaRPr lang="en-US" sz="800" dirty="0"/>
          </a:p>
        </p:txBody>
      </p:sp>
      <p:sp>
        <p:nvSpPr>
          <p:cNvPr id="5" name="lim-h-1"/>
          <p:cNvSpPr txBox="1"/>
          <p:nvPr/>
        </p:nvSpPr>
        <p:spPr>
          <a:xfrm>
            <a:off x="3566160" y="1371600"/>
            <a:ext cx="2468880" cy="219456"/>
          </a:xfrm>
          <a:prstGeom prst="rect">
            <a:avLst/>
          </a:prstGeom>
          <a:noFill/>
          <a:ln/>
        </p:spPr>
        <p:txBody>
          <a:bodyPr wrap="square" lIns="0" tIns="0" rIns="0" bIns="0" rtlCol="0" anchor="ctr"/>
          <a:lstStyle/>
          <a:p>
            <a:pPr algn="l" indent="0" marL="0">
              <a:buNone/>
            </a:pPr>
            <a:r>
              <a:rPr lang="en-US" sz="800" b="1" spc="130" kern="0" dirty="0">
                <a:solidFill>
                  <a:srgbClr val="8C8577"/>
                </a:solidFill>
                <a:latin typeface="Calibri" pitchFamily="34" charset="0"/>
                <a:ea typeface="Calibri" pitchFamily="34" charset="-122"/>
                <a:cs typeface="Calibri" pitchFamily="34" charset="-120"/>
              </a:rPr>
              <a:t>WHY IT EXISTS</a:t>
            </a:r>
            <a:endParaRPr lang="en-US" sz="800" dirty="0"/>
          </a:p>
        </p:txBody>
      </p:sp>
      <p:sp>
        <p:nvSpPr>
          <p:cNvPr id="6" name="lim-h-2"/>
          <p:cNvSpPr txBox="1"/>
          <p:nvPr/>
        </p:nvSpPr>
        <p:spPr>
          <a:xfrm>
            <a:off x="6217920" y="1371600"/>
            <a:ext cx="2286000" cy="219456"/>
          </a:xfrm>
          <a:prstGeom prst="rect">
            <a:avLst/>
          </a:prstGeom>
          <a:noFill/>
          <a:ln/>
        </p:spPr>
        <p:txBody>
          <a:bodyPr wrap="square" lIns="0" tIns="0" rIns="0" bIns="0" rtlCol="0" anchor="ctr"/>
          <a:lstStyle/>
          <a:p>
            <a:pPr algn="l" indent="0" marL="0">
              <a:buNone/>
            </a:pPr>
            <a:r>
              <a:rPr lang="en-US" sz="800" b="1" spc="130" kern="0" dirty="0">
                <a:solidFill>
                  <a:srgbClr val="8C8577"/>
                </a:solidFill>
                <a:latin typeface="Calibri" pitchFamily="34" charset="0"/>
                <a:ea typeface="Calibri" pitchFamily="34" charset="-122"/>
                <a:cs typeface="Calibri" pitchFamily="34" charset="-120"/>
              </a:rPr>
              <a:t>PRACTICAL IMPACT</a:t>
            </a:r>
            <a:endParaRPr lang="en-US" sz="800" dirty="0"/>
          </a:p>
        </p:txBody>
      </p:sp>
      <p:sp>
        <p:nvSpPr>
          <p:cNvPr id="7" name="lim-h-3"/>
          <p:cNvSpPr txBox="1"/>
          <p:nvPr/>
        </p:nvSpPr>
        <p:spPr>
          <a:xfrm>
            <a:off x="8686800" y="1371600"/>
            <a:ext cx="2788920" cy="219456"/>
          </a:xfrm>
          <a:prstGeom prst="rect">
            <a:avLst/>
          </a:prstGeom>
          <a:noFill/>
          <a:ln/>
        </p:spPr>
        <p:txBody>
          <a:bodyPr wrap="square" lIns="0" tIns="0" rIns="0" bIns="0" rtlCol="0" anchor="ctr"/>
          <a:lstStyle/>
          <a:p>
            <a:pPr algn="l" indent="0" marL="0">
              <a:buNone/>
            </a:pPr>
            <a:r>
              <a:rPr lang="en-US" sz="800" b="1" spc="130" kern="0" dirty="0">
                <a:solidFill>
                  <a:srgbClr val="6C7F6B"/>
                </a:solidFill>
                <a:latin typeface="Calibri" pitchFamily="34" charset="0"/>
                <a:ea typeface="Calibri" pitchFamily="34" charset="-122"/>
                <a:cs typeface="Calibri" pitchFamily="34" charset="-120"/>
              </a:rPr>
              <a:t>POSSIBLE IMPROVEMENT</a:t>
            </a:r>
            <a:endParaRPr lang="en-US" sz="800" dirty="0"/>
          </a:p>
        </p:txBody>
      </p:sp>
      <p:sp>
        <p:nvSpPr>
          <p:cNvPr id="8" name="lim-bg-0"/>
          <p:cNvSpPr/>
          <p:nvPr/>
        </p:nvSpPr>
        <p:spPr>
          <a:xfrm>
            <a:off x="576072" y="1581912"/>
            <a:ext cx="11009376" cy="804672"/>
          </a:xfrm>
          <a:prstGeom prst="roundRect">
            <a:avLst>
              <a:gd name="adj" fmla="val 4545"/>
            </a:avLst>
          </a:prstGeom>
          <a:solidFill>
            <a:srgbClr val="E7E3DA"/>
          </a:solidFill>
          <a:ln/>
        </p:spPr>
      </p:sp>
      <p:sp>
        <p:nvSpPr>
          <p:cNvPr id="9" name="lim-0-0"/>
          <p:cNvSpPr txBox="1"/>
          <p:nvPr/>
        </p:nvSpPr>
        <p:spPr>
          <a:xfrm>
            <a:off x="685800" y="1627632"/>
            <a:ext cx="2532888" cy="786384"/>
          </a:xfrm>
          <a:prstGeom prst="rect">
            <a:avLst/>
          </a:prstGeom>
          <a:noFill/>
          <a:ln/>
        </p:spPr>
        <p:txBody>
          <a:bodyPr wrap="square" lIns="0" tIns="0" rIns="0" bIns="0" rtlCol="0" anchor="ctr"/>
          <a:lstStyle/>
          <a:p>
            <a:pPr algn="l" indent="0" marL="0">
              <a:lnSpc>
                <a:spcPct val="112000"/>
              </a:lnSpc>
              <a:buNone/>
            </a:pPr>
            <a:r>
              <a:rPr lang="en-US" sz="880" b="1" dirty="0">
                <a:solidFill>
                  <a:srgbClr val="201E1B"/>
                </a:solidFill>
                <a:latin typeface="Calibri" pitchFamily="34" charset="0"/>
                <a:ea typeface="Calibri" pitchFamily="34" charset="-122"/>
                <a:cs typeface="Calibri" pitchFamily="34" charset="-120"/>
              </a:rPr>
              <a:t>Extraction misses too much and over-produces trivia</a:t>
            </a:r>
            <a:endParaRPr lang="en-US" sz="880" dirty="0"/>
          </a:p>
        </p:txBody>
      </p:sp>
      <p:sp>
        <p:nvSpPr>
          <p:cNvPr id="10" name="lim-0-1"/>
          <p:cNvSpPr txBox="1"/>
          <p:nvPr/>
        </p:nvSpPr>
        <p:spPr>
          <a:xfrm>
            <a:off x="3566160" y="1627632"/>
            <a:ext cx="2304288" cy="786384"/>
          </a:xfrm>
          <a:prstGeom prst="rect">
            <a:avLst/>
          </a:prstGeom>
          <a:noFill/>
          <a:ln/>
        </p:spPr>
        <p:txBody>
          <a:bodyPr wrap="square" lIns="0" tIns="0" rIns="0" bIns="0" rtlCol="0" anchor="ctr"/>
          <a:lstStyle/>
          <a:p>
            <a:pPr algn="l" indent="0" marL="0">
              <a:lnSpc>
                <a:spcPct val="112000"/>
              </a:lnSpc>
              <a:buNone/>
            </a:pPr>
            <a:r>
              <a:rPr lang="en-US" sz="880" dirty="0">
                <a:solidFill>
                  <a:srgbClr val="6E675E"/>
                </a:solidFill>
                <a:latin typeface="Calibri" pitchFamily="34" charset="0"/>
                <a:ea typeface="Calibri" pitchFamily="34" charset="-122"/>
                <a:cs typeface="Calibri" pitchFamily="34" charset="-120"/>
              </a:rPr>
              <a:t>The 4B model generates many low-value note facts; precision on that kind is 0.21 against 23 false positives.</a:t>
            </a:r>
            <a:endParaRPr lang="en-US" sz="880" dirty="0"/>
          </a:p>
        </p:txBody>
      </p:sp>
      <p:sp>
        <p:nvSpPr>
          <p:cNvPr id="11" name="lim-0-2"/>
          <p:cNvSpPr txBox="1"/>
          <p:nvPr/>
        </p:nvSpPr>
        <p:spPr>
          <a:xfrm>
            <a:off x="6217920" y="1627632"/>
            <a:ext cx="2121408" cy="786384"/>
          </a:xfrm>
          <a:prstGeom prst="rect">
            <a:avLst/>
          </a:prstGeom>
          <a:noFill/>
          <a:ln/>
        </p:spPr>
        <p:txBody>
          <a:bodyPr wrap="square" lIns="0" tIns="0" rIns="0" bIns="0" rtlCol="0" anchor="ctr"/>
          <a:lstStyle/>
          <a:p>
            <a:pPr algn="l" indent="0" marL="0">
              <a:lnSpc>
                <a:spcPct val="112000"/>
              </a:lnSpc>
              <a:buNone/>
            </a:pPr>
            <a:r>
              <a:rPr lang="en-US" sz="880" dirty="0">
                <a:solidFill>
                  <a:srgbClr val="6E675E"/>
                </a:solidFill>
                <a:latin typeface="Calibri" pitchFamily="34" charset="0"/>
                <a:ea typeface="Calibri" pitchFamily="34" charset="-122"/>
                <a:cs typeface="Calibri" pitchFamily="34" charset="-120"/>
              </a:rPr>
              <a:t>F1 of 0.533 against a 0.70 gate, so the memory is noisier than it should be.</a:t>
            </a:r>
            <a:endParaRPr lang="en-US" sz="880" dirty="0"/>
          </a:p>
        </p:txBody>
      </p:sp>
      <p:sp>
        <p:nvSpPr>
          <p:cNvPr id="12" name="lim-0-3"/>
          <p:cNvSpPr txBox="1"/>
          <p:nvPr/>
        </p:nvSpPr>
        <p:spPr>
          <a:xfrm>
            <a:off x="8686800" y="1627632"/>
            <a:ext cx="2624328" cy="786384"/>
          </a:xfrm>
          <a:prstGeom prst="rect">
            <a:avLst/>
          </a:prstGeom>
          <a:noFill/>
          <a:ln/>
        </p:spPr>
        <p:txBody>
          <a:bodyPr wrap="square" lIns="0" tIns="0" rIns="0" bIns="0" rtlCol="0" anchor="ctr"/>
          <a:lstStyle/>
          <a:p>
            <a:pPr algn="l" indent="0" marL="0">
              <a:lnSpc>
                <a:spcPct val="112000"/>
              </a:lnSpc>
              <a:buNone/>
            </a:pPr>
            <a:r>
              <a:rPr lang="en-US" sz="880" dirty="0">
                <a:solidFill>
                  <a:srgbClr val="4A5A66"/>
                </a:solidFill>
                <a:latin typeface="Calibri" pitchFamily="34" charset="0"/>
                <a:ea typeface="Calibri" pitchFamily="34" charset="-122"/>
                <a:cs typeface="Calibri" pitchFamily="34" charset="-120"/>
              </a:rPr>
              <a:t>Narrow the schema. Restricted to tasks and commitments the same run already reaches F1 0.68.</a:t>
            </a:r>
            <a:endParaRPr lang="en-US" sz="880" dirty="0"/>
          </a:p>
        </p:txBody>
      </p:sp>
      <p:sp>
        <p:nvSpPr>
          <p:cNvPr id="13" name="lim-1-0"/>
          <p:cNvSpPr txBox="1"/>
          <p:nvPr/>
        </p:nvSpPr>
        <p:spPr>
          <a:xfrm>
            <a:off x="685800" y="2459736"/>
            <a:ext cx="2532888" cy="786384"/>
          </a:xfrm>
          <a:prstGeom prst="rect">
            <a:avLst/>
          </a:prstGeom>
          <a:noFill/>
          <a:ln/>
        </p:spPr>
        <p:txBody>
          <a:bodyPr wrap="square" lIns="0" tIns="0" rIns="0" bIns="0" rtlCol="0" anchor="ctr"/>
          <a:lstStyle/>
          <a:p>
            <a:pPr algn="l" indent="0" marL="0">
              <a:lnSpc>
                <a:spcPct val="112000"/>
              </a:lnSpc>
              <a:buNone/>
            </a:pPr>
            <a:r>
              <a:rPr lang="en-US" sz="880" b="1" dirty="0">
                <a:solidFill>
                  <a:srgbClr val="201E1B"/>
                </a:solidFill>
                <a:latin typeface="Calibri" pitchFamily="34" charset="0"/>
                <a:ea typeface="Calibri" pitchFamily="34" charset="-122"/>
                <a:cs typeface="Calibri" pitchFamily="34" charset="-120"/>
              </a:rPr>
              <a:t>Interactive latency is roughly ten times the target</a:t>
            </a:r>
            <a:endParaRPr lang="en-US" sz="880" dirty="0"/>
          </a:p>
        </p:txBody>
      </p:sp>
      <p:sp>
        <p:nvSpPr>
          <p:cNvPr id="14" name="lim-1-1"/>
          <p:cNvSpPr txBox="1"/>
          <p:nvPr/>
        </p:nvSpPr>
        <p:spPr>
          <a:xfrm>
            <a:off x="3566160" y="2459736"/>
            <a:ext cx="2304288" cy="786384"/>
          </a:xfrm>
          <a:prstGeom prst="rect">
            <a:avLst/>
          </a:prstGeom>
          <a:noFill/>
          <a:ln/>
        </p:spPr>
        <p:txBody>
          <a:bodyPr wrap="square" lIns="0" tIns="0" rIns="0" bIns="0" rtlCol="0" anchor="ctr"/>
          <a:lstStyle/>
          <a:p>
            <a:pPr algn="l" indent="0" marL="0">
              <a:lnSpc>
                <a:spcPct val="112000"/>
              </a:lnSpc>
              <a:buNone/>
            </a:pPr>
            <a:r>
              <a:rPr lang="en-US" sz="880" dirty="0">
                <a:solidFill>
                  <a:srgbClr val="6E675E"/>
                </a:solidFill>
                <a:latin typeface="Calibri" pitchFamily="34" charset="0"/>
                <a:ea typeface="Calibri" pitchFamily="34" charset="-122"/>
                <a:cs typeface="Calibri" pitchFamily="34" charset="-120"/>
              </a:rPr>
              <a:t>Memory bandwidth on an integrated GPU, not an algorithmic fault. The intended discrete GPU was never available.</a:t>
            </a:r>
            <a:endParaRPr lang="en-US" sz="880" dirty="0"/>
          </a:p>
        </p:txBody>
      </p:sp>
      <p:sp>
        <p:nvSpPr>
          <p:cNvPr id="15" name="lim-1-2"/>
          <p:cNvSpPr txBox="1"/>
          <p:nvPr/>
        </p:nvSpPr>
        <p:spPr>
          <a:xfrm>
            <a:off x="6217920" y="2459736"/>
            <a:ext cx="2121408" cy="786384"/>
          </a:xfrm>
          <a:prstGeom prst="rect">
            <a:avLst/>
          </a:prstGeom>
          <a:noFill/>
          <a:ln/>
        </p:spPr>
        <p:txBody>
          <a:bodyPr wrap="square" lIns="0" tIns="0" rIns="0" bIns="0" rtlCol="0" anchor="ctr"/>
          <a:lstStyle/>
          <a:p>
            <a:pPr algn="l" indent="0" marL="0">
              <a:lnSpc>
                <a:spcPct val="112000"/>
              </a:lnSpc>
              <a:buNone/>
            </a:pPr>
            <a:r>
              <a:rPr lang="en-US" sz="880" dirty="0">
                <a:solidFill>
                  <a:srgbClr val="6E675E"/>
                </a:solidFill>
                <a:latin typeface="Calibri" pitchFamily="34" charset="0"/>
                <a:ea typeface="Calibri" pitchFamily="34" charset="-122"/>
                <a:cs typeface="Calibri" pitchFamily="34" charset="-120"/>
              </a:rPr>
              <a:t>About 25 s to an answer. Usable for background work, not for conversation.</a:t>
            </a:r>
            <a:endParaRPr lang="en-US" sz="880" dirty="0"/>
          </a:p>
        </p:txBody>
      </p:sp>
      <p:sp>
        <p:nvSpPr>
          <p:cNvPr id="16" name="lim-1-3"/>
          <p:cNvSpPr txBox="1"/>
          <p:nvPr/>
        </p:nvSpPr>
        <p:spPr>
          <a:xfrm>
            <a:off x="8686800" y="2459736"/>
            <a:ext cx="2624328" cy="786384"/>
          </a:xfrm>
          <a:prstGeom prst="rect">
            <a:avLst/>
          </a:prstGeom>
          <a:noFill/>
          <a:ln/>
        </p:spPr>
        <p:txBody>
          <a:bodyPr wrap="square" lIns="0" tIns="0" rIns="0" bIns="0" rtlCol="0" anchor="ctr"/>
          <a:lstStyle/>
          <a:p>
            <a:pPr algn="l" indent="0" marL="0">
              <a:lnSpc>
                <a:spcPct val="112000"/>
              </a:lnSpc>
              <a:buNone/>
            </a:pPr>
            <a:r>
              <a:rPr lang="en-US" sz="880" dirty="0">
                <a:solidFill>
                  <a:srgbClr val="4A5A66"/>
                </a:solidFill>
                <a:latin typeface="Calibri" pitchFamily="34" charset="0"/>
                <a:ea typeface="Calibri" pitchFamily="34" charset="-122"/>
                <a:cs typeface="Calibri" pitchFamily="34" charset="-120"/>
              </a:rPr>
              <a:t>Re-measure on a discrete GPU before concluding anything; speculative decoding trades arithmetic for memory traffic.</a:t>
            </a:r>
            <a:endParaRPr lang="en-US" sz="880" dirty="0"/>
          </a:p>
        </p:txBody>
      </p:sp>
      <p:sp>
        <p:nvSpPr>
          <p:cNvPr id="17" name="lim-bg-2"/>
          <p:cNvSpPr/>
          <p:nvPr/>
        </p:nvSpPr>
        <p:spPr>
          <a:xfrm>
            <a:off x="576072" y="3246120"/>
            <a:ext cx="11009376" cy="804672"/>
          </a:xfrm>
          <a:prstGeom prst="roundRect">
            <a:avLst>
              <a:gd name="adj" fmla="val 4545"/>
            </a:avLst>
          </a:prstGeom>
          <a:solidFill>
            <a:srgbClr val="E7E3DA"/>
          </a:solidFill>
          <a:ln/>
        </p:spPr>
      </p:sp>
      <p:sp>
        <p:nvSpPr>
          <p:cNvPr id="18" name="lim-2-0"/>
          <p:cNvSpPr txBox="1"/>
          <p:nvPr/>
        </p:nvSpPr>
        <p:spPr>
          <a:xfrm>
            <a:off x="685800" y="3291840"/>
            <a:ext cx="2532888" cy="786384"/>
          </a:xfrm>
          <a:prstGeom prst="rect">
            <a:avLst/>
          </a:prstGeom>
          <a:noFill/>
          <a:ln/>
        </p:spPr>
        <p:txBody>
          <a:bodyPr wrap="square" lIns="0" tIns="0" rIns="0" bIns="0" rtlCol="0" anchor="ctr"/>
          <a:lstStyle/>
          <a:p>
            <a:pPr algn="l" indent="0" marL="0">
              <a:lnSpc>
                <a:spcPct val="112000"/>
              </a:lnSpc>
              <a:buNone/>
            </a:pPr>
            <a:r>
              <a:rPr lang="en-US" sz="880" b="1" dirty="0">
                <a:solidFill>
                  <a:srgbClr val="201E1B"/>
                </a:solidFill>
                <a:latin typeface="Calibri" pitchFamily="34" charset="0"/>
                <a:ea typeface="Calibri" pitchFamily="34" charset="-122"/>
                <a:cs typeface="Calibri" pitchFamily="34" charset="-120"/>
              </a:rPr>
              <a:t>Unseen injections still reach the task list</a:t>
            </a:r>
            <a:endParaRPr lang="en-US" sz="880" dirty="0"/>
          </a:p>
        </p:txBody>
      </p:sp>
      <p:sp>
        <p:nvSpPr>
          <p:cNvPr id="19" name="lim-2-1"/>
          <p:cNvSpPr txBox="1"/>
          <p:nvPr/>
        </p:nvSpPr>
        <p:spPr>
          <a:xfrm>
            <a:off x="3566160" y="3291840"/>
            <a:ext cx="2304288" cy="786384"/>
          </a:xfrm>
          <a:prstGeom prst="rect">
            <a:avLst/>
          </a:prstGeom>
          <a:noFill/>
          <a:ln/>
        </p:spPr>
        <p:txBody>
          <a:bodyPr wrap="square" lIns="0" tIns="0" rIns="0" bIns="0" rtlCol="0" anchor="ctr"/>
          <a:lstStyle/>
          <a:p>
            <a:pPr algn="l" indent="0" marL="0">
              <a:lnSpc>
                <a:spcPct val="112000"/>
              </a:lnSpc>
              <a:buNone/>
            </a:pPr>
            <a:r>
              <a:rPr lang="en-US" sz="880" dirty="0">
                <a:solidFill>
                  <a:srgbClr val="6E675E"/>
                </a:solidFill>
                <a:latin typeface="Calibri" pitchFamily="34" charset="0"/>
                <a:ea typeface="Calibri" pitchFamily="34" charset="-122"/>
                <a:cs typeface="Calibri" pitchFamily="34" charset="-120"/>
              </a:rPr>
              <a:t>The guard is pattern-based and conservative; social engineering phrased as ordinary mail evades it.</a:t>
            </a:r>
            <a:endParaRPr lang="en-US" sz="880" dirty="0"/>
          </a:p>
        </p:txBody>
      </p:sp>
      <p:sp>
        <p:nvSpPr>
          <p:cNvPr id="20" name="lim-2-2"/>
          <p:cNvSpPr txBox="1"/>
          <p:nvPr/>
        </p:nvSpPr>
        <p:spPr>
          <a:xfrm>
            <a:off x="6217920" y="3291840"/>
            <a:ext cx="2121408" cy="786384"/>
          </a:xfrm>
          <a:prstGeom prst="rect">
            <a:avLst/>
          </a:prstGeom>
          <a:noFill/>
          <a:ln/>
        </p:spPr>
        <p:txBody>
          <a:bodyPr wrap="square" lIns="0" tIns="0" rIns="0" bIns="0" rtlCol="0" anchor="ctr"/>
          <a:lstStyle/>
          <a:p>
            <a:pPr algn="l" indent="0" marL="0">
              <a:lnSpc>
                <a:spcPct val="112000"/>
              </a:lnSpc>
              <a:buNone/>
            </a:pPr>
            <a:r>
              <a:rPr lang="en-US" sz="880" dirty="0">
                <a:solidFill>
                  <a:srgbClr val="6E675E"/>
                </a:solidFill>
                <a:latin typeface="Calibri" pitchFamily="34" charset="0"/>
                <a:ea typeface="Calibri" pitchFamily="34" charset="-122"/>
                <a:cs typeface="Calibri" pitchFamily="34" charset="-120"/>
              </a:rPr>
              <a:t>12 of 39 untouched attacks stored as readable to-dos. None acted, leaked or wrote anything.</a:t>
            </a:r>
            <a:endParaRPr lang="en-US" sz="880" dirty="0"/>
          </a:p>
        </p:txBody>
      </p:sp>
      <p:sp>
        <p:nvSpPr>
          <p:cNvPr id="21" name="lim-2-3"/>
          <p:cNvSpPr txBox="1"/>
          <p:nvPr/>
        </p:nvSpPr>
        <p:spPr>
          <a:xfrm>
            <a:off x="8686800" y="3291840"/>
            <a:ext cx="2624328" cy="786384"/>
          </a:xfrm>
          <a:prstGeom prst="rect">
            <a:avLst/>
          </a:prstGeom>
          <a:noFill/>
          <a:ln/>
        </p:spPr>
        <p:txBody>
          <a:bodyPr wrap="square" lIns="0" tIns="0" rIns="0" bIns="0" rtlCol="0" anchor="ctr"/>
          <a:lstStyle/>
          <a:p>
            <a:pPr algn="l" indent="0" marL="0">
              <a:lnSpc>
                <a:spcPct val="112000"/>
              </a:lnSpc>
              <a:buNone/>
            </a:pPr>
            <a:r>
              <a:rPr lang="en-US" sz="880" dirty="0">
                <a:solidFill>
                  <a:srgbClr val="4A5A66"/>
                </a:solidFill>
                <a:latin typeface="Calibri" pitchFamily="34" charset="0"/>
                <a:ea typeface="Calibri" pitchFamily="34" charset="-122"/>
                <a:cs typeface="Calibri" pitchFamily="34" charset="-120"/>
              </a:rPr>
              <a:t>A third, unseen corpus is required before any further tuning can be measured honestly.</a:t>
            </a:r>
            <a:endParaRPr lang="en-US" sz="880" dirty="0"/>
          </a:p>
        </p:txBody>
      </p:sp>
      <p:sp>
        <p:nvSpPr>
          <p:cNvPr id="22" name="lim-3-0"/>
          <p:cNvSpPr txBox="1"/>
          <p:nvPr/>
        </p:nvSpPr>
        <p:spPr>
          <a:xfrm>
            <a:off x="685800" y="4123944"/>
            <a:ext cx="2532888" cy="786384"/>
          </a:xfrm>
          <a:prstGeom prst="rect">
            <a:avLst/>
          </a:prstGeom>
          <a:noFill/>
          <a:ln/>
        </p:spPr>
        <p:txBody>
          <a:bodyPr wrap="square" lIns="0" tIns="0" rIns="0" bIns="0" rtlCol="0" anchor="ctr"/>
          <a:lstStyle/>
          <a:p>
            <a:pPr algn="l" indent="0" marL="0">
              <a:lnSpc>
                <a:spcPct val="112000"/>
              </a:lnSpc>
              <a:buNone/>
            </a:pPr>
            <a:r>
              <a:rPr lang="en-US" sz="880" b="1" dirty="0">
                <a:solidFill>
                  <a:srgbClr val="201E1B"/>
                </a:solidFill>
                <a:latin typeface="Calibri" pitchFamily="34" charset="0"/>
                <a:ea typeface="Calibri" pitchFamily="34" charset="-122"/>
                <a:cs typeface="Calibri" pitchFamily="34" charset="-120"/>
              </a:rPr>
              <a:t>The zero-network claim cannot be made for the whole process tree</a:t>
            </a:r>
            <a:endParaRPr lang="en-US" sz="880" dirty="0"/>
          </a:p>
        </p:txBody>
      </p:sp>
      <p:sp>
        <p:nvSpPr>
          <p:cNvPr id="23" name="lim-3-1"/>
          <p:cNvSpPr txBox="1"/>
          <p:nvPr/>
        </p:nvSpPr>
        <p:spPr>
          <a:xfrm>
            <a:off x="3566160" y="4123944"/>
            <a:ext cx="2304288" cy="786384"/>
          </a:xfrm>
          <a:prstGeom prst="rect">
            <a:avLst/>
          </a:prstGeom>
          <a:noFill/>
          <a:ln/>
        </p:spPr>
        <p:txBody>
          <a:bodyPr wrap="square" lIns="0" tIns="0" rIns="0" bIns="0" rtlCol="0" anchor="ctr"/>
          <a:lstStyle/>
          <a:p>
            <a:pPr algn="l" indent="0" marL="0">
              <a:lnSpc>
                <a:spcPct val="112000"/>
              </a:lnSpc>
              <a:buNone/>
            </a:pPr>
            <a:r>
              <a:rPr lang="en-US" sz="880" dirty="0">
                <a:solidFill>
                  <a:srgbClr val="6E675E"/>
                </a:solidFill>
                <a:latin typeface="Calibri" pitchFamily="34" charset="0"/>
                <a:ea typeface="Calibri" pitchFamily="34" charset="-122"/>
                <a:cs typeface="Calibri" pitchFamily="34" charset="-120"/>
              </a:rPr>
              <a:t>WebView2 opens one HTTPS connection per run despite every available mitigation; it is outside the application's code.</a:t>
            </a:r>
            <a:endParaRPr lang="en-US" sz="880" dirty="0"/>
          </a:p>
        </p:txBody>
      </p:sp>
      <p:sp>
        <p:nvSpPr>
          <p:cNvPr id="24" name="lim-3-2"/>
          <p:cNvSpPr txBox="1"/>
          <p:nvPr/>
        </p:nvSpPr>
        <p:spPr>
          <a:xfrm>
            <a:off x="6217920" y="4123944"/>
            <a:ext cx="2121408" cy="786384"/>
          </a:xfrm>
          <a:prstGeom prst="rect">
            <a:avLst/>
          </a:prstGeom>
          <a:noFill/>
          <a:ln/>
        </p:spPr>
        <p:txBody>
          <a:bodyPr wrap="square" lIns="0" tIns="0" rIns="0" bIns="0" rtlCol="0" anchor="ctr"/>
          <a:lstStyle/>
          <a:p>
            <a:pPr algn="l" indent="0" marL="0">
              <a:lnSpc>
                <a:spcPct val="112000"/>
              </a:lnSpc>
              <a:buNone/>
            </a:pPr>
            <a:r>
              <a:rPr lang="en-US" sz="880" dirty="0">
                <a:solidFill>
                  <a:srgbClr val="6E675E"/>
                </a:solidFill>
                <a:latin typeface="Calibri" pitchFamily="34" charset="0"/>
                <a:ea typeface="Calibri" pitchFamily="34" charset="-122"/>
                <a:cs typeface="Calibri" pitchFamily="34" charset="-120"/>
              </a:rPr>
              <a:t>The honest statement is narrower than the headline one, and the project says so in its own documentation.</a:t>
            </a:r>
            <a:endParaRPr lang="en-US" sz="880" dirty="0"/>
          </a:p>
        </p:txBody>
      </p:sp>
      <p:sp>
        <p:nvSpPr>
          <p:cNvPr id="25" name="lim-3-3"/>
          <p:cNvSpPr txBox="1"/>
          <p:nvPr/>
        </p:nvSpPr>
        <p:spPr>
          <a:xfrm>
            <a:off x="8686800" y="4123944"/>
            <a:ext cx="2624328" cy="786384"/>
          </a:xfrm>
          <a:prstGeom prst="rect">
            <a:avLst/>
          </a:prstGeom>
          <a:noFill/>
          <a:ln/>
        </p:spPr>
        <p:txBody>
          <a:bodyPr wrap="square" lIns="0" tIns="0" rIns="0" bIns="0" rtlCol="0" anchor="ctr"/>
          <a:lstStyle/>
          <a:p>
            <a:pPr algn="l" indent="0" marL="0">
              <a:lnSpc>
                <a:spcPct val="112000"/>
              </a:lnSpc>
              <a:buNone/>
            </a:pPr>
            <a:r>
              <a:rPr lang="en-US" sz="880" dirty="0">
                <a:solidFill>
                  <a:srgbClr val="4A5A66"/>
                </a:solidFill>
                <a:latin typeface="Calibri" pitchFamily="34" charset="0"/>
                <a:ea typeface="Calibri" pitchFamily="34" charset="-122"/>
                <a:cs typeface="Calibri" pitchFamily="34" charset="-120"/>
              </a:rPr>
              <a:t>Identify the endpoint with an elevated capture; failing that, draw the notch natively and use WebView2 only for windows the user opens.</a:t>
            </a:r>
            <a:endParaRPr lang="en-US" sz="880" dirty="0"/>
          </a:p>
        </p:txBody>
      </p:sp>
      <p:sp>
        <p:nvSpPr>
          <p:cNvPr id="26" name="lim-bg-4"/>
          <p:cNvSpPr/>
          <p:nvPr/>
        </p:nvSpPr>
        <p:spPr>
          <a:xfrm>
            <a:off x="576072" y="4910328"/>
            <a:ext cx="11009376" cy="804672"/>
          </a:xfrm>
          <a:prstGeom prst="roundRect">
            <a:avLst>
              <a:gd name="adj" fmla="val 4545"/>
            </a:avLst>
          </a:prstGeom>
          <a:solidFill>
            <a:srgbClr val="E7E3DA"/>
          </a:solidFill>
          <a:ln/>
        </p:spPr>
      </p:sp>
      <p:sp>
        <p:nvSpPr>
          <p:cNvPr id="27" name="lim-4-0"/>
          <p:cNvSpPr txBox="1"/>
          <p:nvPr/>
        </p:nvSpPr>
        <p:spPr>
          <a:xfrm>
            <a:off x="685800" y="4956048"/>
            <a:ext cx="2532888" cy="786384"/>
          </a:xfrm>
          <a:prstGeom prst="rect">
            <a:avLst/>
          </a:prstGeom>
          <a:noFill/>
          <a:ln/>
        </p:spPr>
        <p:txBody>
          <a:bodyPr wrap="square" lIns="0" tIns="0" rIns="0" bIns="0" rtlCol="0" anchor="ctr"/>
          <a:lstStyle/>
          <a:p>
            <a:pPr algn="l" indent="0" marL="0">
              <a:lnSpc>
                <a:spcPct val="112000"/>
              </a:lnSpc>
              <a:buNone/>
            </a:pPr>
            <a:r>
              <a:rPr lang="en-US" sz="880" b="1" dirty="0">
                <a:solidFill>
                  <a:srgbClr val="201E1B"/>
                </a:solidFill>
                <a:latin typeface="Calibri" pitchFamily="34" charset="0"/>
                <a:ea typeface="Calibri" pitchFamily="34" charset="-122"/>
                <a:cs typeface="Calibri" pitchFamily="34" charset="-120"/>
              </a:rPr>
              <a:t>Five of seven backend families are unproven on hardware</a:t>
            </a:r>
            <a:endParaRPr lang="en-US" sz="880" dirty="0"/>
          </a:p>
        </p:txBody>
      </p:sp>
      <p:sp>
        <p:nvSpPr>
          <p:cNvPr id="28" name="lim-4-1"/>
          <p:cNvSpPr txBox="1"/>
          <p:nvPr/>
        </p:nvSpPr>
        <p:spPr>
          <a:xfrm>
            <a:off x="3566160" y="4956048"/>
            <a:ext cx="2304288" cy="786384"/>
          </a:xfrm>
          <a:prstGeom prst="rect">
            <a:avLst/>
          </a:prstGeom>
          <a:noFill/>
          <a:ln/>
        </p:spPr>
        <p:txBody>
          <a:bodyPr wrap="square" lIns="0" tIns="0" rIns="0" bIns="0" rtlCol="0" anchor="ctr"/>
          <a:lstStyle/>
          <a:p>
            <a:pPr algn="l" indent="0" marL="0">
              <a:lnSpc>
                <a:spcPct val="112000"/>
              </a:lnSpc>
              <a:buNone/>
            </a:pPr>
            <a:r>
              <a:rPr lang="en-US" sz="880" dirty="0">
                <a:solidFill>
                  <a:srgbClr val="6E675E"/>
                </a:solidFill>
                <a:latin typeface="Calibri" pitchFamily="34" charset="0"/>
                <a:ea typeface="Calibri" pitchFamily="34" charset="-122"/>
                <a:cs typeface="Calibri" pitchFamily="34" charset="-120"/>
              </a:rPr>
              <a:t>Only CPU and AMD Vulkan devices were available; the rest are exercised against simulated adapter reports.</a:t>
            </a:r>
            <a:endParaRPr lang="en-US" sz="880" dirty="0"/>
          </a:p>
        </p:txBody>
      </p:sp>
      <p:sp>
        <p:nvSpPr>
          <p:cNvPr id="29" name="lim-4-2"/>
          <p:cNvSpPr txBox="1"/>
          <p:nvPr/>
        </p:nvSpPr>
        <p:spPr>
          <a:xfrm>
            <a:off x="6217920" y="4956048"/>
            <a:ext cx="2121408" cy="786384"/>
          </a:xfrm>
          <a:prstGeom prst="rect">
            <a:avLst/>
          </a:prstGeom>
          <a:noFill/>
          <a:ln/>
        </p:spPr>
        <p:txBody>
          <a:bodyPr wrap="square" lIns="0" tIns="0" rIns="0" bIns="0" rtlCol="0" anchor="ctr"/>
          <a:lstStyle/>
          <a:p>
            <a:pPr algn="l" indent="0" marL="0">
              <a:lnSpc>
                <a:spcPct val="112000"/>
              </a:lnSpc>
              <a:buNone/>
            </a:pPr>
            <a:r>
              <a:rPr lang="en-US" sz="880" dirty="0">
                <a:solidFill>
                  <a:srgbClr val="6E675E"/>
                </a:solidFill>
                <a:latin typeface="Calibri" pitchFamily="34" charset="0"/>
                <a:ea typeface="Calibri" pitchFamily="34" charset="-122"/>
                <a:cs typeface="Calibri" pitchFamily="34" charset="-120"/>
              </a:rPr>
              <a:t>The arbitration logic is tested; the vendors' drivers are not.</a:t>
            </a:r>
            <a:endParaRPr lang="en-US" sz="880" dirty="0"/>
          </a:p>
        </p:txBody>
      </p:sp>
      <p:sp>
        <p:nvSpPr>
          <p:cNvPr id="30" name="lim-4-3"/>
          <p:cNvSpPr txBox="1"/>
          <p:nvPr/>
        </p:nvSpPr>
        <p:spPr>
          <a:xfrm>
            <a:off x="8686800" y="4956048"/>
            <a:ext cx="2624328" cy="786384"/>
          </a:xfrm>
          <a:prstGeom prst="rect">
            <a:avLst/>
          </a:prstGeom>
          <a:noFill/>
          <a:ln/>
        </p:spPr>
        <p:txBody>
          <a:bodyPr wrap="square" lIns="0" tIns="0" rIns="0" bIns="0" rtlCol="0" anchor="ctr"/>
          <a:lstStyle/>
          <a:p>
            <a:pPr algn="l" indent="0" marL="0">
              <a:lnSpc>
                <a:spcPct val="112000"/>
              </a:lnSpc>
              <a:buNone/>
            </a:pPr>
            <a:r>
              <a:rPr lang="en-US" sz="880" dirty="0">
                <a:solidFill>
                  <a:srgbClr val="4A5A66"/>
                </a:solidFill>
                <a:latin typeface="Calibri" pitchFamily="34" charset="0"/>
                <a:ea typeface="Calibri" pitchFamily="34" charset="-122"/>
                <a:cs typeface="Calibri" pitchFamily="34" charset="-120"/>
              </a:rPr>
              <a:t>A closed beta on varied hardware is the only way to close this — simulated adapters cannot.</a:t>
            </a:r>
            <a:endParaRPr lang="en-US" sz="880" dirty="0"/>
          </a:p>
        </p:txBody>
      </p:sp>
      <p:sp>
        <p:nvSpPr>
          <p:cNvPr id="31" name="lim-cap"/>
          <p:cNvSpPr txBox="1"/>
          <p:nvPr/>
        </p:nvSpPr>
        <p:spPr>
          <a:xfrm>
            <a:off x="685800" y="5888736"/>
            <a:ext cx="10789920" cy="310896"/>
          </a:xfrm>
          <a:prstGeom prst="rect">
            <a:avLst/>
          </a:prstGeom>
          <a:noFill/>
          <a:ln/>
        </p:spPr>
        <p:txBody>
          <a:bodyPr wrap="square" lIns="0" tIns="0" rIns="0" bIns="0" rtlCol="0" anchor="t"/>
          <a:lstStyle/>
          <a:p>
            <a:pPr algn="l" indent="0" marL="0">
              <a:buNone/>
            </a:pPr>
            <a:r>
              <a:rPr lang="en-US" sz="900" i="1" dirty="0">
                <a:solidFill>
                  <a:srgbClr val="6E675E"/>
                </a:solidFill>
                <a:latin typeface="Calibri" pitchFamily="34" charset="0"/>
                <a:ea typeface="Calibri" pitchFamily="34" charset="-122"/>
                <a:cs typeface="Calibri" pitchFamily="34" charset="-120"/>
              </a:rPr>
              <a:t>Not listed because they have not been measured rather than because they are absent: resource use over 8 hours, 7-day stability, and the contribution of the vector retrieval channel, which is implemented but was never run end to end.</a:t>
            </a:r>
            <a:endParaRPr lang="en-US" sz="900" dirty="0"/>
          </a:p>
        </p:txBody>
      </p:sp>
      <p:sp>
        <p:nvSpPr>
          <p:cNvPr id="25" name="Slide Number Placeholder 0"/>
          <p:cNvSpPr>
            <a:spLocks noGrp="1"/>
          </p:cNvSpPr>
          <p:nvPr>
            <p:ph type="sldNum" sz="quarter" idx="4294967295"/>
          </p:nvPr>
        </p:nvSpPr>
        <p:spPr>
          <a:xfrm>
            <a:off x="11247120" y="635508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577"/>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789920" cy="237744"/>
          </a:xfrm>
          <a:prstGeom prst="rect">
            <a:avLst/>
          </a:prstGeom>
          <a:noFill/>
          <a:ln/>
        </p:spPr>
        <p:txBody>
          <a:bodyPr wrap="square" lIns="0" tIns="0" rIns="0" bIns="0" rtlCol="0" anchor="ctr"/>
          <a:lstStyle/>
          <a:p>
            <a:pPr algn="l" indent="0" marL="0">
              <a:buNone/>
            </a:pPr>
            <a:r>
              <a:rPr lang="en-US" sz="950" b="1" spc="250" kern="0" dirty="0">
                <a:solidFill>
                  <a:srgbClr val="8C8577"/>
                </a:solidFill>
                <a:latin typeface="Calibri" pitchFamily="34" charset="0"/>
                <a:ea typeface="Calibri" pitchFamily="34" charset="-122"/>
                <a:cs typeface="Calibri" pitchFamily="34" charset="-120"/>
              </a:rPr>
              <a:t>ROADMAP</a:t>
            </a:r>
            <a:endParaRPr lang="en-US" sz="950" dirty="0"/>
          </a:p>
        </p:txBody>
      </p:sp>
      <p:sp>
        <p:nvSpPr>
          <p:cNvPr id="3" name="Text 0"/>
          <p:cNvSpPr/>
          <p:nvPr>
            <p:ph idx="101" type="title" hasCustomPrompt="1"/>
          </p:nvPr>
        </p:nvSpPr>
        <p:spPr>
          <a:xfrm>
            <a:off x="685800" y="621792"/>
            <a:ext cx="10789920" cy="566928"/>
          </a:xfrm>
          <a:prstGeom prst="rect">
            <a:avLst/>
          </a:prstGeom>
          <a:noFill/>
          <a:ln/>
        </p:spPr>
        <p:txBody>
          <a:bodyPr wrap="square" lIns="0" tIns="0" rIns="0" bIns="0" rtlCol="0" anchor="ctr"/>
          <a:lstStyle/>
          <a:p>
            <a:pPr algn="l" indent="0" marL="0">
              <a:buNone/>
            </a:pPr>
            <a:r>
              <a:rPr lang="en-US" sz="3000" dirty="0">
                <a:solidFill>
                  <a:srgbClr val="201E1B"/>
                </a:solidFill>
                <a:latin typeface="Cambria" pitchFamily="34" charset="0"/>
                <a:ea typeface="Cambria" pitchFamily="34" charset="-122"/>
                <a:cs typeface="Cambria" pitchFamily="34" charset="-120"/>
              </a:rPr>
              <a:t>Close the measurement gaps before building anything new</a:t>
            </a:r>
            <a:endParaRPr lang="en-US" sz="3000" dirty="0"/>
          </a:p>
        </p:txBody>
      </p:sp>
      <p:sp>
        <p:nvSpPr>
          <p:cNvPr id="4" name="rm-0"/>
          <p:cNvSpPr/>
          <p:nvPr/>
        </p:nvSpPr>
        <p:spPr>
          <a:xfrm>
            <a:off x="685800" y="1426464"/>
            <a:ext cx="3438144" cy="2615184"/>
          </a:xfrm>
          <a:prstGeom prst="roundRect">
            <a:avLst>
              <a:gd name="adj" fmla="val 1399"/>
            </a:avLst>
          </a:prstGeom>
          <a:solidFill>
            <a:srgbClr val="E7E3DA"/>
          </a:solidFill>
          <a:ln/>
        </p:spPr>
      </p:sp>
      <p:sp>
        <p:nvSpPr>
          <p:cNvPr id="5" name="rm-dot-0"/>
          <p:cNvSpPr/>
          <p:nvPr/>
        </p:nvSpPr>
        <p:spPr>
          <a:xfrm>
            <a:off x="868680" y="1627632"/>
            <a:ext cx="109728" cy="109728"/>
          </a:xfrm>
          <a:prstGeom prst="ellipse">
            <a:avLst/>
          </a:prstGeom>
          <a:solidFill>
            <a:srgbClr val="6C7F6B"/>
          </a:solidFill>
          <a:ln w="12700">
            <a:solidFill>
              <a:srgbClr val="6C7F6B"/>
            </a:solidFill>
            <a:prstDash val="solid"/>
          </a:ln>
        </p:spPr>
      </p:sp>
      <p:sp>
        <p:nvSpPr>
          <p:cNvPr id="6" name="rm-h-0"/>
          <p:cNvSpPr txBox="1"/>
          <p:nvPr/>
        </p:nvSpPr>
        <p:spPr>
          <a:xfrm>
            <a:off x="1069848" y="1545336"/>
            <a:ext cx="2871216" cy="256032"/>
          </a:xfrm>
          <a:prstGeom prst="rect">
            <a:avLst/>
          </a:prstGeom>
          <a:noFill/>
          <a:ln/>
        </p:spPr>
        <p:txBody>
          <a:bodyPr wrap="square" lIns="0" tIns="0" rIns="0" bIns="0" rtlCol="0" anchor="ctr"/>
          <a:lstStyle/>
          <a:p>
            <a:pPr algn="l" indent="0" marL="0">
              <a:buNone/>
            </a:pPr>
            <a:r>
              <a:rPr lang="en-US" sz="830" b="1" spc="120" kern="0" dirty="0">
                <a:solidFill>
                  <a:srgbClr val="6C7F6B"/>
                </a:solidFill>
                <a:latin typeface="Calibri" pitchFamily="34" charset="0"/>
                <a:ea typeface="Calibri" pitchFamily="34" charset="-122"/>
                <a:cs typeface="Calibri" pitchFamily="34" charset="-120"/>
              </a:rPr>
              <a:t>IMPLEMENTED TODAY</a:t>
            </a:r>
            <a:endParaRPr lang="en-US" sz="830" dirty="0"/>
          </a:p>
        </p:txBody>
      </p:sp>
      <p:sp>
        <p:nvSpPr>
          <p:cNvPr id="7" name="rm-b-0"/>
          <p:cNvSpPr txBox="1"/>
          <p:nvPr/>
        </p:nvSpPr>
        <p:spPr>
          <a:xfrm>
            <a:off x="1069848" y="1865376"/>
            <a:ext cx="2834640" cy="2468880"/>
          </a:xfrm>
          <a:prstGeom prst="rect">
            <a:avLst/>
          </a:prstGeom>
          <a:noFill/>
          <a:ln/>
        </p:spPr>
        <p:txBody>
          <a:bodyPr wrap="square" lIns="0" tIns="0" rIns="0" bIns="0" rtlCol="0" anchor="t"/>
          <a:lstStyle/>
          <a:p>
            <a:pPr algn="l" marL="342900" indent="-342900">
              <a:spcAft>
                <a:spcPts val="600"/>
              </a:spcAft>
              <a:buSzPct val="100000"/>
              <a:buChar char="•"/>
            </a:pPr>
            <a:r>
              <a:rPr lang="en-US" sz="960" dirty="0">
                <a:solidFill>
                  <a:srgbClr val="6E675E"/>
                </a:solidFill>
                <a:latin typeface="Calibri" pitchFamily="34" charset="0"/>
                <a:ea typeface="Calibri" pitchFamily="34" charset="-122"/>
                <a:cs typeface="Calibri" pitchFamily="34" charset="-120"/>
              </a:rPr>
              <a:t>Capture ladder, redaction and encrypted store</a:t>
            </a:r>
            <a:endParaRPr lang="en-US" sz="960" dirty="0"/>
          </a:p>
          <a:p>
            <a:pPr algn="l" marL="342900" indent="-342900">
              <a:spcAft>
                <a:spcPts val="600"/>
              </a:spcAft>
              <a:buSzPct val="100000"/>
              <a:buChar char="•"/>
            </a:pPr>
            <a:r>
              <a:rPr lang="en-US" sz="960" dirty="0">
                <a:solidFill>
                  <a:srgbClr val="6E675E"/>
                </a:solidFill>
                <a:latin typeface="Calibri" pitchFamily="34" charset="0"/>
                <a:ea typeface="Calibri" pitchFamily="34" charset="-122"/>
                <a:cs typeface="Calibri" pitchFamily="34" charset="-120"/>
              </a:rPr>
              <a:t>Extraction with evidence verification and the injection guard</a:t>
            </a:r>
            <a:endParaRPr lang="en-US" sz="960" dirty="0"/>
          </a:p>
          <a:p>
            <a:pPr algn="l" marL="342900" indent="-342900">
              <a:spcAft>
                <a:spcPts val="600"/>
              </a:spcAft>
              <a:buSzPct val="100000"/>
              <a:buChar char="•"/>
            </a:pPr>
            <a:r>
              <a:rPr lang="en-US" sz="960" dirty="0">
                <a:solidFill>
                  <a:srgbClr val="6E675E"/>
                </a:solidFill>
                <a:latin typeface="Calibri" pitchFamily="34" charset="0"/>
                <a:ea typeface="Calibri" pitchFamily="34" charset="-122"/>
                <a:cs typeface="Calibri" pitchFamily="34" charset="-120"/>
              </a:rPr>
              <a:t>Hybrid retrieval, Ask with per-sentence citations</a:t>
            </a:r>
            <a:endParaRPr lang="en-US" sz="960" dirty="0"/>
          </a:p>
          <a:p>
            <a:pPr algn="l" marL="342900" indent="-342900">
              <a:spcAft>
                <a:spcPts val="600"/>
              </a:spcAft>
              <a:buSzPct val="100000"/>
              <a:buChar char="•"/>
            </a:pPr>
            <a:r>
              <a:rPr lang="en-US" sz="960" dirty="0">
                <a:solidFill>
                  <a:srgbClr val="6E675E"/>
                </a:solidFill>
                <a:latin typeface="Calibri" pitchFamily="34" charset="0"/>
                <a:ea typeface="Calibri" pitchFamily="34" charset="-122"/>
                <a:cs typeface="Calibri" pitchFamily="34" charset="-120"/>
              </a:rPr>
              <a:t>Rollups, morning brief, open loops, draft assistant</a:t>
            </a:r>
            <a:endParaRPr lang="en-US" sz="960" dirty="0"/>
          </a:p>
          <a:p>
            <a:pPr algn="l" marL="342900" indent="-342900">
              <a:spcAft>
                <a:spcPts val="600"/>
              </a:spcAft>
              <a:buSzPct val="100000"/>
              <a:buChar char="•"/>
            </a:pPr>
            <a:r>
              <a:rPr lang="en-US" sz="960" dirty="0">
                <a:solidFill>
                  <a:srgbClr val="6E675E"/>
                </a:solidFill>
                <a:latin typeface="Calibri" pitchFamily="34" charset="0"/>
                <a:ea typeface="Calibri" pitchFamily="34" charset="-122"/>
                <a:cs typeface="Calibri" pitchFamily="34" charset="-120"/>
              </a:rPr>
              <a:t>Backend detection, selection and fallback; notch interface</a:t>
            </a:r>
            <a:endParaRPr lang="en-US" sz="960" dirty="0"/>
          </a:p>
        </p:txBody>
      </p:sp>
      <p:sp>
        <p:nvSpPr>
          <p:cNvPr id="8" name="rm-1"/>
          <p:cNvSpPr/>
          <p:nvPr/>
        </p:nvSpPr>
        <p:spPr>
          <a:xfrm>
            <a:off x="4361688" y="1426464"/>
            <a:ext cx="3438144" cy="2615184"/>
          </a:xfrm>
          <a:prstGeom prst="roundRect">
            <a:avLst>
              <a:gd name="adj" fmla="val 1399"/>
            </a:avLst>
          </a:prstGeom>
          <a:solidFill>
            <a:srgbClr val="FFFFFF"/>
          </a:solidFill>
          <a:ln w="9525">
            <a:solidFill>
              <a:srgbClr val="E7E3DA"/>
            </a:solidFill>
            <a:prstDash val="solid"/>
          </a:ln>
        </p:spPr>
      </p:sp>
      <p:sp>
        <p:nvSpPr>
          <p:cNvPr id="9" name="rm-dot-1"/>
          <p:cNvSpPr/>
          <p:nvPr/>
        </p:nvSpPr>
        <p:spPr>
          <a:xfrm>
            <a:off x="4544568" y="1627632"/>
            <a:ext cx="109728" cy="109728"/>
          </a:xfrm>
          <a:prstGeom prst="ellipse">
            <a:avLst/>
          </a:prstGeom>
          <a:solidFill>
            <a:srgbClr val="A85A45"/>
          </a:solidFill>
          <a:ln w="12700">
            <a:solidFill>
              <a:srgbClr val="A85A45"/>
            </a:solidFill>
            <a:prstDash val="solid"/>
          </a:ln>
        </p:spPr>
      </p:sp>
      <p:sp>
        <p:nvSpPr>
          <p:cNvPr id="10" name="rm-h-1"/>
          <p:cNvSpPr txBox="1"/>
          <p:nvPr/>
        </p:nvSpPr>
        <p:spPr>
          <a:xfrm>
            <a:off x="4745736" y="1545336"/>
            <a:ext cx="2871216" cy="256032"/>
          </a:xfrm>
          <a:prstGeom prst="rect">
            <a:avLst/>
          </a:prstGeom>
          <a:noFill/>
          <a:ln/>
        </p:spPr>
        <p:txBody>
          <a:bodyPr wrap="square" lIns="0" tIns="0" rIns="0" bIns="0" rtlCol="0" anchor="ctr"/>
          <a:lstStyle/>
          <a:p>
            <a:pPr algn="l" indent="0" marL="0">
              <a:buNone/>
            </a:pPr>
            <a:r>
              <a:rPr lang="en-US" sz="830" b="1" spc="120" kern="0" dirty="0">
                <a:solidFill>
                  <a:srgbClr val="A85A45"/>
                </a:solidFill>
                <a:latin typeface="Calibri" pitchFamily="34" charset="0"/>
                <a:ea typeface="Calibri" pitchFamily="34" charset="-122"/>
                <a:cs typeface="Calibri" pitchFamily="34" charset="-120"/>
              </a:rPr>
              <a:t>NEXT — CLOSE THE GAPS (NOT YET DONE)</a:t>
            </a:r>
            <a:endParaRPr lang="en-US" sz="830" dirty="0"/>
          </a:p>
        </p:txBody>
      </p:sp>
      <p:sp>
        <p:nvSpPr>
          <p:cNvPr id="11" name="rm-b-1"/>
          <p:cNvSpPr txBox="1"/>
          <p:nvPr/>
        </p:nvSpPr>
        <p:spPr>
          <a:xfrm>
            <a:off x="4745736" y="1865376"/>
            <a:ext cx="2834640" cy="2468880"/>
          </a:xfrm>
          <a:prstGeom prst="rect">
            <a:avLst/>
          </a:prstGeom>
          <a:noFill/>
          <a:ln/>
        </p:spPr>
        <p:txBody>
          <a:bodyPr wrap="square" lIns="0" tIns="0" rIns="0" bIns="0" rtlCol="0" anchor="t"/>
          <a:lstStyle/>
          <a:p>
            <a:pPr algn="l" marL="342900" indent="-342900">
              <a:spcAft>
                <a:spcPts val="600"/>
              </a:spcAft>
              <a:buSzPct val="100000"/>
              <a:buChar char="•"/>
            </a:pPr>
            <a:r>
              <a:rPr lang="en-US" sz="960" dirty="0">
                <a:solidFill>
                  <a:srgbClr val="6E675E"/>
                </a:solidFill>
                <a:latin typeface="Calibri" pitchFamily="34" charset="0"/>
                <a:ea typeface="Calibri" pitchFamily="34" charset="-122"/>
                <a:cs typeface="Calibri" pitchFamily="34" charset="-120"/>
              </a:rPr>
              <a:t>Re-run extraction, Ask and drafts on a discrete GPU</a:t>
            </a:r>
            <a:endParaRPr lang="en-US" sz="960" dirty="0"/>
          </a:p>
          <a:p>
            <a:pPr algn="l" marL="342900" indent="-342900">
              <a:spcAft>
                <a:spcPts val="600"/>
              </a:spcAft>
              <a:buSzPct val="100000"/>
              <a:buChar char="•"/>
            </a:pPr>
            <a:r>
              <a:rPr lang="en-US" sz="960" dirty="0">
                <a:solidFill>
                  <a:srgbClr val="6E675E"/>
                </a:solidFill>
                <a:latin typeface="Calibri" pitchFamily="34" charset="0"/>
                <a:ea typeface="Calibri" pitchFamily="34" charset="-122"/>
                <a:cs typeface="Calibri" pitchFamily="34" charset="-120"/>
              </a:rPr>
              <a:t>Curb low-value note facts to lift precision</a:t>
            </a:r>
            <a:endParaRPr lang="en-US" sz="960" dirty="0"/>
          </a:p>
          <a:p>
            <a:pPr algn="l" marL="342900" indent="-342900">
              <a:spcAft>
                <a:spcPts val="600"/>
              </a:spcAft>
              <a:buSzPct val="100000"/>
              <a:buChar char="•"/>
            </a:pPr>
            <a:r>
              <a:rPr lang="en-US" sz="960" dirty="0">
                <a:solidFill>
                  <a:srgbClr val="6E675E"/>
                </a:solidFill>
                <a:latin typeface="Calibri" pitchFamily="34" charset="0"/>
                <a:ea typeface="Calibri" pitchFamily="34" charset="-122"/>
                <a:cs typeface="Calibri" pitchFamily="34" charset="-120"/>
              </a:rPr>
              <a:t>Commission a third, unseen injection corpus</a:t>
            </a:r>
            <a:endParaRPr lang="en-US" sz="960" dirty="0"/>
          </a:p>
          <a:p>
            <a:pPr algn="l" marL="342900" indent="-342900">
              <a:spcAft>
                <a:spcPts val="600"/>
              </a:spcAft>
              <a:buSzPct val="100000"/>
              <a:buChar char="•"/>
            </a:pPr>
            <a:r>
              <a:rPr lang="en-US" sz="960" dirty="0">
                <a:solidFill>
                  <a:srgbClr val="6E675E"/>
                </a:solidFill>
                <a:latin typeface="Calibri" pitchFamily="34" charset="0"/>
                <a:ea typeface="Calibri" pitchFamily="34" charset="-122"/>
                <a:cs typeface="Calibri" pitchFamily="34" charset="-120"/>
              </a:rPr>
              <a:t>24-hour network and canary runs; 8-hour and 7-day stability runs</a:t>
            </a:r>
            <a:endParaRPr lang="en-US" sz="960" dirty="0"/>
          </a:p>
          <a:p>
            <a:pPr algn="l" marL="342900" indent="-342900">
              <a:spcAft>
                <a:spcPts val="600"/>
              </a:spcAft>
              <a:buSzPct val="100000"/>
              <a:buChar char="•"/>
            </a:pPr>
            <a:r>
              <a:rPr lang="en-US" sz="960" dirty="0">
                <a:solidFill>
                  <a:srgbClr val="6E675E"/>
                </a:solidFill>
                <a:latin typeface="Calibri" pitchFamily="34" charset="0"/>
                <a:ea typeface="Calibri" pitchFamily="34" charset="-122"/>
                <a:cs typeface="Calibri" pitchFamily="34" charset="-120"/>
              </a:rPr>
              <a:t>Resolve or formally document the WebView2 connection</a:t>
            </a:r>
            <a:endParaRPr lang="en-US" sz="960" dirty="0"/>
          </a:p>
        </p:txBody>
      </p:sp>
      <p:sp>
        <p:nvSpPr>
          <p:cNvPr id="12" name="rm-2"/>
          <p:cNvSpPr/>
          <p:nvPr/>
        </p:nvSpPr>
        <p:spPr>
          <a:xfrm>
            <a:off x="8037576" y="1426464"/>
            <a:ext cx="3438144" cy="2615184"/>
          </a:xfrm>
          <a:prstGeom prst="roundRect">
            <a:avLst>
              <a:gd name="adj" fmla="val 1399"/>
            </a:avLst>
          </a:prstGeom>
          <a:solidFill>
            <a:srgbClr val="FFFFFF"/>
          </a:solidFill>
          <a:ln w="9525">
            <a:solidFill>
              <a:srgbClr val="E7E3DA"/>
            </a:solidFill>
            <a:prstDash val="solid"/>
          </a:ln>
        </p:spPr>
      </p:sp>
      <p:sp>
        <p:nvSpPr>
          <p:cNvPr id="13" name="rm-dot-2"/>
          <p:cNvSpPr/>
          <p:nvPr/>
        </p:nvSpPr>
        <p:spPr>
          <a:xfrm>
            <a:off x="8220456" y="1627632"/>
            <a:ext cx="109728" cy="109728"/>
          </a:xfrm>
          <a:prstGeom prst="ellipse">
            <a:avLst/>
          </a:prstGeom>
          <a:solidFill>
            <a:srgbClr val="8C8577"/>
          </a:solidFill>
          <a:ln w="12700">
            <a:solidFill>
              <a:srgbClr val="8C8577"/>
            </a:solidFill>
            <a:prstDash val="solid"/>
          </a:ln>
        </p:spPr>
      </p:sp>
      <p:sp>
        <p:nvSpPr>
          <p:cNvPr id="14" name="rm-h-2"/>
          <p:cNvSpPr txBox="1"/>
          <p:nvPr/>
        </p:nvSpPr>
        <p:spPr>
          <a:xfrm>
            <a:off x="8421624" y="1545336"/>
            <a:ext cx="2871216" cy="256032"/>
          </a:xfrm>
          <a:prstGeom prst="rect">
            <a:avLst/>
          </a:prstGeom>
          <a:noFill/>
          <a:ln/>
        </p:spPr>
        <p:txBody>
          <a:bodyPr wrap="square" lIns="0" tIns="0" rIns="0" bIns="0" rtlCol="0" anchor="ctr"/>
          <a:lstStyle/>
          <a:p>
            <a:pPr algn="l" indent="0" marL="0">
              <a:buNone/>
            </a:pPr>
            <a:r>
              <a:rPr lang="en-US" sz="830" b="1" spc="120" kern="0" dirty="0">
                <a:solidFill>
                  <a:srgbClr val="8C8577"/>
                </a:solidFill>
                <a:latin typeface="Calibri" pitchFamily="34" charset="0"/>
                <a:ea typeface="Calibri" pitchFamily="34" charset="-122"/>
                <a:cs typeface="Calibri" pitchFamily="34" charset="-120"/>
              </a:rPr>
              <a:t>LATER — PLANNED, NOT STARTED</a:t>
            </a:r>
            <a:endParaRPr lang="en-US" sz="830" dirty="0"/>
          </a:p>
        </p:txBody>
      </p:sp>
      <p:sp>
        <p:nvSpPr>
          <p:cNvPr id="15" name="rm-b-2"/>
          <p:cNvSpPr txBox="1"/>
          <p:nvPr/>
        </p:nvSpPr>
        <p:spPr>
          <a:xfrm>
            <a:off x="8421624" y="1865376"/>
            <a:ext cx="2834640" cy="2468880"/>
          </a:xfrm>
          <a:prstGeom prst="rect">
            <a:avLst/>
          </a:prstGeom>
          <a:noFill/>
          <a:ln/>
        </p:spPr>
        <p:txBody>
          <a:bodyPr wrap="square" lIns="0" tIns="0" rIns="0" bIns="0" rtlCol="0" anchor="t"/>
          <a:lstStyle/>
          <a:p>
            <a:pPr algn="l" marL="342900" indent="-342900">
              <a:spcAft>
                <a:spcPts val="600"/>
              </a:spcAft>
              <a:buSzPct val="100000"/>
              <a:buChar char="•"/>
            </a:pPr>
            <a:r>
              <a:rPr lang="en-US" sz="960" dirty="0">
                <a:solidFill>
                  <a:srgbClr val="6E675E"/>
                </a:solidFill>
                <a:latin typeface="Calibri" pitchFamily="34" charset="0"/>
                <a:ea typeface="Calibri" pitchFamily="34" charset="-122"/>
                <a:cs typeface="Calibri" pitchFamily="34" charset="-120"/>
              </a:rPr>
              <a:t>Meeting capture and local translation (specified, Stage 8)</a:t>
            </a:r>
            <a:endParaRPr lang="en-US" sz="960" dirty="0"/>
          </a:p>
          <a:p>
            <a:pPr algn="l" marL="342900" indent="-342900">
              <a:spcAft>
                <a:spcPts val="600"/>
              </a:spcAft>
              <a:buSzPct val="100000"/>
              <a:buChar char="•"/>
            </a:pPr>
            <a:r>
              <a:rPr lang="en-US" sz="960" dirty="0">
                <a:solidFill>
                  <a:srgbClr val="6E675E"/>
                </a:solidFill>
                <a:latin typeface="Calibri" pitchFamily="34" charset="0"/>
                <a:ea typeface="Calibri" pitchFamily="34" charset="-122"/>
                <a:cs typeface="Calibri" pitchFamily="34" charset="-120"/>
              </a:rPr>
              <a:t>Closed beta on varied hardware — the only route to real backend coverage</a:t>
            </a:r>
            <a:endParaRPr lang="en-US" sz="960" dirty="0"/>
          </a:p>
          <a:p>
            <a:pPr algn="l" marL="342900" indent="-342900">
              <a:spcAft>
                <a:spcPts val="600"/>
              </a:spcAft>
              <a:buSzPct val="100000"/>
              <a:buChar char="•"/>
            </a:pPr>
            <a:r>
              <a:rPr lang="en-US" sz="960" dirty="0">
                <a:solidFill>
                  <a:srgbClr val="6E675E"/>
                </a:solidFill>
                <a:latin typeface="Calibri" pitchFamily="34" charset="0"/>
                <a:ea typeface="Calibri" pitchFamily="34" charset="-122"/>
                <a:cs typeface="Calibri" pitchFamily="34" charset="-120"/>
              </a:rPr>
              <a:t>Signed installer, SBOM per release, opt-in signed updater</a:t>
            </a:r>
            <a:endParaRPr lang="en-US" sz="960" dirty="0"/>
          </a:p>
          <a:p>
            <a:pPr algn="l" marL="342900" indent="-342900">
              <a:spcAft>
                <a:spcPts val="600"/>
              </a:spcAft>
              <a:buSzPct val="100000"/>
              <a:buChar char="•"/>
            </a:pPr>
            <a:r>
              <a:rPr lang="en-US" sz="960" dirty="0">
                <a:solidFill>
                  <a:srgbClr val="6E675E"/>
                </a:solidFill>
                <a:latin typeface="Calibri" pitchFamily="34" charset="0"/>
                <a:ea typeface="Calibri" pitchFamily="34" charset="-122"/>
                <a:cs typeface="Calibri" pitchFamily="34" charset="-120"/>
              </a:rPr>
              <a:t>Speculative decoding for memory-bandwidth-limited GPUs</a:t>
            </a:r>
            <a:endParaRPr lang="en-US" sz="960" dirty="0"/>
          </a:p>
          <a:p>
            <a:pPr algn="l" marL="342900" indent="-342900">
              <a:spcAft>
                <a:spcPts val="600"/>
              </a:spcAft>
              <a:buSzPct val="100000"/>
              <a:buChar char="•"/>
            </a:pPr>
            <a:r>
              <a:rPr lang="en-US" sz="960" dirty="0">
                <a:solidFill>
                  <a:srgbClr val="6E675E"/>
                </a:solidFill>
                <a:latin typeface="Calibri" pitchFamily="34" charset="0"/>
                <a:ea typeface="Calibri" pitchFamily="34" charset="-122"/>
                <a:cs typeface="Calibri" pitchFamily="34" charset="-120"/>
              </a:rPr>
              <a:t>Cross-platform acquisition behind the existing Platform trait</a:t>
            </a:r>
            <a:endParaRPr lang="en-US" sz="960" dirty="0"/>
          </a:p>
        </p:txBody>
      </p:sp>
      <p:sp>
        <p:nvSpPr>
          <p:cNvPr id="16" name="rm-note"/>
          <p:cNvSpPr/>
          <p:nvPr/>
        </p:nvSpPr>
        <p:spPr>
          <a:xfrm>
            <a:off x="685800" y="4315968"/>
            <a:ext cx="10789920" cy="1005840"/>
          </a:xfrm>
          <a:prstGeom prst="roundRect">
            <a:avLst>
              <a:gd name="adj" fmla="val 3636"/>
            </a:avLst>
          </a:prstGeom>
          <a:solidFill>
            <a:srgbClr val="201E1B"/>
          </a:solidFill>
          <a:ln/>
        </p:spPr>
      </p:sp>
      <p:sp>
        <p:nvSpPr>
          <p:cNvPr id="17" name="rm-note-text"/>
          <p:cNvSpPr txBox="1"/>
          <p:nvPr/>
        </p:nvSpPr>
        <p:spPr>
          <a:xfrm>
            <a:off x="960120" y="4462272"/>
            <a:ext cx="10241280" cy="731520"/>
          </a:xfrm>
          <a:prstGeom prst="rect">
            <a:avLst/>
          </a:prstGeom>
          <a:noFill/>
          <a:ln/>
        </p:spPr>
        <p:txBody>
          <a:bodyPr wrap="square" lIns="0" tIns="0" rIns="0" bIns="0" rtlCol="0" anchor="ctr"/>
          <a:lstStyle/>
          <a:p>
            <a:pPr algn="l" indent="0" marL="0">
              <a:lnSpc>
                <a:spcPct val="116000"/>
              </a:lnSpc>
              <a:buNone/>
            </a:pPr>
            <a:r>
              <a:rPr lang="en-US" sz="1050" b="1" dirty="0">
                <a:solidFill>
                  <a:srgbClr val="F6F4F0"/>
                </a:solidFill>
                <a:latin typeface="Calibri" pitchFamily="34" charset="0"/>
                <a:ea typeface="Calibri" pitchFamily="34" charset="-122"/>
                <a:cs typeface="Calibri" pitchFamily="34" charset="-120"/>
              </a:rPr>
              <a:t>The ordering is the point.  </a:t>
            </a:r>
            <a:pPr algn="l" indent="0" marL="0">
              <a:lnSpc>
                <a:spcPct val="116000"/>
              </a:lnSpc>
              <a:buNone/>
            </a:pPr>
            <a:r>
              <a:rPr lang="en-US" sz="1050" dirty="0">
                <a:solidFill>
                  <a:srgbClr val="C4BCAE"/>
                </a:solidFill>
                <a:latin typeface="Calibri" pitchFamily="34" charset="0"/>
                <a:ea typeface="Calibri" pitchFamily="34" charset="-122"/>
                <a:cs typeface="Calibri" pitchFamily="34" charset="-120"/>
              </a:rPr>
              <a:t>Stages 8 to 10 were gated behind the release criteria before any of them were measured, and that gate has not been met. Building meeting capture on top of an extraction pipeline that scores 0.533 would add surface area to something not yet known to work.</a:t>
            </a:r>
            <a:endParaRPr lang="en-US" sz="1050" dirty="0"/>
          </a:p>
        </p:txBody>
      </p:sp>
      <p:sp>
        <p:nvSpPr>
          <p:cNvPr id="25" name="Slide Number Placeholder 0"/>
          <p:cNvSpPr>
            <a:spLocks noGrp="1"/>
          </p:cNvSpPr>
          <p:nvPr>
            <p:ph type="sldNum" sz="quarter" idx="4294967295"/>
          </p:nvPr>
        </p:nvSpPr>
        <p:spPr>
          <a:xfrm>
            <a:off x="11247120" y="635508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8C8577"/>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365760"/>
            <a:ext cx="10789920" cy="237744"/>
          </a:xfrm>
          <a:prstGeom prst="rect">
            <a:avLst/>
          </a:prstGeom>
          <a:noFill/>
          <a:ln/>
        </p:spPr>
        <p:txBody>
          <a:bodyPr wrap="square" lIns="0" tIns="0" rIns="0" bIns="0" rtlCol="0" anchor="ctr"/>
          <a:lstStyle/>
          <a:p>
            <a:pPr algn="l" indent="0" marL="0">
              <a:buNone/>
            </a:pPr>
            <a:r>
              <a:rPr lang="en-US" sz="950" b="1" spc="250" kern="0" dirty="0">
                <a:solidFill>
                  <a:srgbClr val="8C8577"/>
                </a:solidFill>
                <a:latin typeface="Calibri" pitchFamily="34" charset="0"/>
                <a:ea typeface="Calibri" pitchFamily="34" charset="-122"/>
                <a:cs typeface="Calibri" pitchFamily="34" charset="-120"/>
              </a:rPr>
              <a:t>CONCLUSION</a:t>
            </a:r>
            <a:endParaRPr lang="en-US" sz="950" dirty="0"/>
          </a:p>
        </p:txBody>
      </p:sp>
      <p:sp>
        <p:nvSpPr>
          <p:cNvPr id="3" name="Text 0"/>
          <p:cNvSpPr/>
          <p:nvPr>
            <p:ph idx="101" type="title" hasCustomPrompt="1"/>
          </p:nvPr>
        </p:nvSpPr>
        <p:spPr>
          <a:xfrm>
            <a:off x="685800" y="621792"/>
            <a:ext cx="10789920" cy="566928"/>
          </a:xfrm>
          <a:prstGeom prst="rect">
            <a:avLst/>
          </a:prstGeom>
          <a:noFill/>
          <a:ln/>
        </p:spPr>
        <p:txBody>
          <a:bodyPr wrap="square" lIns="0" tIns="0" rIns="0" bIns="0" rtlCol="0" anchor="ctr"/>
          <a:lstStyle/>
          <a:p>
            <a:pPr algn="l" indent="0" marL="0">
              <a:buNone/>
            </a:pPr>
            <a:r>
              <a:rPr lang="en-US" sz="3000" dirty="0">
                <a:solidFill>
                  <a:srgbClr val="F6F4F0"/>
                </a:solidFill>
                <a:latin typeface="Cambria" pitchFamily="34" charset="0"/>
                <a:ea typeface="Cambria" pitchFamily="34" charset="-122"/>
                <a:cs typeface="Cambria" pitchFamily="34" charset="-120"/>
              </a:rPr>
              <a:t>Put the guarantees where they can be tested</a:t>
            </a:r>
            <a:endParaRPr lang="en-US" sz="3000" dirty="0"/>
          </a:p>
        </p:txBody>
      </p:sp>
      <p:sp>
        <p:nvSpPr>
          <p:cNvPr id="4" name="close-enso"/>
          <p:cNvSpPr/>
          <p:nvPr/>
        </p:nvSpPr>
        <p:spPr>
          <a:xfrm>
            <a:off x="10716768" y="475488"/>
            <a:ext cx="566928" cy="566928"/>
          </a:xfrm>
          <a:prstGeom prst="ellipse">
            <a:avLst/>
          </a:prstGeom>
          <a:ln w="12700">
            <a:solidFill>
              <a:srgbClr val="4A443D"/>
            </a:solidFill>
            <a:prstDash val="solid"/>
          </a:ln>
        </p:spPr>
      </p:sp>
      <p:sp>
        <p:nvSpPr>
          <p:cNvPr id="5" name="close-dot"/>
          <p:cNvSpPr/>
          <p:nvPr/>
        </p:nvSpPr>
        <p:spPr>
          <a:xfrm>
            <a:off x="10963656" y="722376"/>
            <a:ext cx="73152" cy="73152"/>
          </a:xfrm>
          <a:prstGeom prst="ellipse">
            <a:avLst/>
          </a:prstGeom>
          <a:solidFill>
            <a:srgbClr val="A85A45"/>
          </a:solidFill>
          <a:ln w="12700">
            <a:solidFill>
              <a:srgbClr val="A85A45"/>
            </a:solidFill>
            <a:prstDash val="solid"/>
          </a:ln>
        </p:spPr>
      </p:sp>
      <p:sp>
        <p:nvSpPr>
          <p:cNvPr id="6" name="cl-dot-0"/>
          <p:cNvSpPr/>
          <p:nvPr/>
        </p:nvSpPr>
        <p:spPr>
          <a:xfrm>
            <a:off x="704088" y="1636776"/>
            <a:ext cx="100584" cy="100584"/>
          </a:xfrm>
          <a:prstGeom prst="ellipse">
            <a:avLst/>
          </a:prstGeom>
          <a:solidFill>
            <a:srgbClr val="A85A45"/>
          </a:solidFill>
          <a:ln w="12700">
            <a:solidFill>
              <a:srgbClr val="A85A45"/>
            </a:solidFill>
            <a:prstDash val="solid"/>
          </a:ln>
        </p:spPr>
      </p:sp>
      <p:sp>
        <p:nvSpPr>
          <p:cNvPr id="7" name="cl-0"/>
          <p:cNvSpPr txBox="1"/>
          <p:nvPr/>
        </p:nvSpPr>
        <p:spPr>
          <a:xfrm>
            <a:off x="923544" y="1517904"/>
            <a:ext cx="5486400" cy="950976"/>
          </a:xfrm>
          <a:prstGeom prst="rect">
            <a:avLst/>
          </a:prstGeom>
          <a:noFill/>
          <a:ln/>
        </p:spPr>
        <p:txBody>
          <a:bodyPr wrap="square" lIns="0" tIns="0" rIns="0" bIns="0" rtlCol="0" anchor="t"/>
          <a:lstStyle/>
          <a:p>
            <a:pPr algn="l" indent="0" marL="0">
              <a:lnSpc>
                <a:spcPct val="118000"/>
              </a:lnSpc>
              <a:buNone/>
            </a:pPr>
            <a:r>
              <a:rPr lang="en-US" sz="1060" b="1" dirty="0">
                <a:solidFill>
                  <a:srgbClr val="F6F4F0"/>
                </a:solidFill>
                <a:latin typeface="Calibri" pitchFamily="34" charset="0"/>
                <a:ea typeface="Calibri" pitchFamily="34" charset="-122"/>
                <a:cs typeface="Calibri" pitchFamily="34" charset="-120"/>
              </a:rPr>
              <a:t>The problem</a:t>
            </a:r>
            <a:endParaRPr lang="en-US" sz="1060" dirty="0"/>
          </a:p>
          <a:p>
            <a:pPr algn="l" indent="0" marL="0">
              <a:lnSpc>
                <a:spcPct val="118000"/>
              </a:lnSpc>
              <a:buNone/>
            </a:pPr>
            <a:r>
              <a:rPr lang="en-US" sz="1060" dirty="0">
                <a:solidFill>
                  <a:srgbClr val="C4BCAE"/>
                </a:solidFill>
                <a:latin typeface="Calibri" pitchFamily="34" charset="0"/>
                <a:ea typeface="Calibri" pitchFamily="34" charset="-122"/>
                <a:cs typeface="Calibri" pitchFamily="34" charset="-120"/>
              </a:rPr>
              <a:t>An assistant is useful because it can see your screen, which is exactly why you would not want it sent away.</a:t>
            </a:r>
            <a:endParaRPr lang="en-US" sz="1060" dirty="0"/>
          </a:p>
        </p:txBody>
      </p:sp>
      <p:sp>
        <p:nvSpPr>
          <p:cNvPr id="8" name="cl-dot-1"/>
          <p:cNvSpPr/>
          <p:nvPr/>
        </p:nvSpPr>
        <p:spPr>
          <a:xfrm>
            <a:off x="704088" y="2642616"/>
            <a:ext cx="100584" cy="100584"/>
          </a:xfrm>
          <a:prstGeom prst="ellipse">
            <a:avLst/>
          </a:prstGeom>
          <a:solidFill>
            <a:srgbClr val="A85A45"/>
          </a:solidFill>
          <a:ln w="12700">
            <a:solidFill>
              <a:srgbClr val="A85A45"/>
            </a:solidFill>
            <a:prstDash val="solid"/>
          </a:ln>
        </p:spPr>
      </p:sp>
      <p:sp>
        <p:nvSpPr>
          <p:cNvPr id="9" name="cl-1"/>
          <p:cNvSpPr txBox="1"/>
          <p:nvPr/>
        </p:nvSpPr>
        <p:spPr>
          <a:xfrm>
            <a:off x="923544" y="2523744"/>
            <a:ext cx="5486400" cy="950976"/>
          </a:xfrm>
          <a:prstGeom prst="rect">
            <a:avLst/>
          </a:prstGeom>
          <a:noFill/>
          <a:ln/>
        </p:spPr>
        <p:txBody>
          <a:bodyPr wrap="square" lIns="0" tIns="0" rIns="0" bIns="0" rtlCol="0" anchor="t"/>
          <a:lstStyle/>
          <a:p>
            <a:pPr algn="l" indent="0" marL="0">
              <a:lnSpc>
                <a:spcPct val="118000"/>
              </a:lnSpc>
              <a:buNone/>
            </a:pPr>
            <a:r>
              <a:rPr lang="en-US" sz="1060" b="1" dirty="0">
                <a:solidFill>
                  <a:srgbClr val="F6F4F0"/>
                </a:solidFill>
                <a:latin typeface="Calibri" pitchFamily="34" charset="0"/>
                <a:ea typeface="Calibri" pitchFamily="34" charset="-122"/>
                <a:cs typeface="Calibri" pitchFamily="34" charset="-120"/>
              </a:rPr>
              <a:t>The approach</a:t>
            </a:r>
            <a:endParaRPr lang="en-US" sz="1060" dirty="0"/>
          </a:p>
          <a:p>
            <a:pPr algn="l" indent="0" marL="0">
              <a:lnSpc>
                <a:spcPct val="118000"/>
              </a:lnSpc>
              <a:buNone/>
            </a:pPr>
            <a:r>
              <a:rPr lang="en-US" sz="1060" dirty="0">
                <a:solidFill>
                  <a:srgbClr val="C4BCAE"/>
                </a:solidFill>
                <a:latin typeface="Calibri" pitchFamily="34" charset="0"/>
                <a:ea typeface="Calibri" pitchFamily="34" charset="-122"/>
                <a:cs typeface="Calibri" pitchFamily="34" charset="-120"/>
              </a:rPr>
              <a:t>Run the model locally, give it no tools, and let deterministic code verify everything it proposes before anything is stored or shown.</a:t>
            </a:r>
            <a:endParaRPr lang="en-US" sz="1060" dirty="0"/>
          </a:p>
        </p:txBody>
      </p:sp>
      <p:sp>
        <p:nvSpPr>
          <p:cNvPr id="10" name="cl-dot-2"/>
          <p:cNvSpPr/>
          <p:nvPr/>
        </p:nvSpPr>
        <p:spPr>
          <a:xfrm>
            <a:off x="704088" y="3648456"/>
            <a:ext cx="100584" cy="100584"/>
          </a:xfrm>
          <a:prstGeom prst="ellipse">
            <a:avLst/>
          </a:prstGeom>
          <a:solidFill>
            <a:srgbClr val="A85A45"/>
          </a:solidFill>
          <a:ln w="12700">
            <a:solidFill>
              <a:srgbClr val="A85A45"/>
            </a:solidFill>
            <a:prstDash val="solid"/>
          </a:ln>
        </p:spPr>
      </p:sp>
      <p:sp>
        <p:nvSpPr>
          <p:cNvPr id="11" name="cl-2"/>
          <p:cNvSpPr txBox="1"/>
          <p:nvPr/>
        </p:nvSpPr>
        <p:spPr>
          <a:xfrm>
            <a:off x="923544" y="3529584"/>
            <a:ext cx="5486400" cy="950976"/>
          </a:xfrm>
          <a:prstGeom prst="rect">
            <a:avLst/>
          </a:prstGeom>
          <a:noFill/>
          <a:ln/>
        </p:spPr>
        <p:txBody>
          <a:bodyPr wrap="square" lIns="0" tIns="0" rIns="0" bIns="0" rtlCol="0" anchor="t"/>
          <a:lstStyle/>
          <a:p>
            <a:pPr algn="l" indent="0" marL="0">
              <a:lnSpc>
                <a:spcPct val="118000"/>
              </a:lnSpc>
              <a:buNone/>
            </a:pPr>
            <a:r>
              <a:rPr lang="en-US" sz="1060" b="1" dirty="0">
                <a:solidFill>
                  <a:srgbClr val="F6F4F0"/>
                </a:solidFill>
                <a:latin typeface="Calibri" pitchFamily="34" charset="0"/>
                <a:ea typeface="Calibri" pitchFamily="34" charset="-122"/>
                <a:cs typeface="Calibri" pitchFamily="34" charset="-120"/>
              </a:rPr>
              <a:t>The contribution</a:t>
            </a:r>
            <a:endParaRPr lang="en-US" sz="1060" dirty="0"/>
          </a:p>
          <a:p>
            <a:pPr algn="l" indent="0" marL="0">
              <a:lnSpc>
                <a:spcPct val="118000"/>
              </a:lnSpc>
              <a:buNone/>
            </a:pPr>
            <a:r>
              <a:rPr lang="en-US" sz="1060" dirty="0">
                <a:solidFill>
                  <a:srgbClr val="C4BCAE"/>
                </a:solidFill>
                <a:latin typeface="Calibri" pitchFamily="34" charset="0"/>
                <a:ea typeface="Calibri" pitchFamily="34" charset="-122"/>
                <a:cs typeface="Calibri" pitchFamily="34" charset="-120"/>
              </a:rPr>
              <a:t>An architecture in which privacy and provenance are enforced by code, and a measurement of which of its guarantees survived a real 4B model on commodity hardware.</a:t>
            </a:r>
            <a:endParaRPr lang="en-US" sz="1060" dirty="0"/>
          </a:p>
        </p:txBody>
      </p:sp>
      <p:sp>
        <p:nvSpPr>
          <p:cNvPr id="12" name="cl-dot-3"/>
          <p:cNvSpPr/>
          <p:nvPr/>
        </p:nvSpPr>
        <p:spPr>
          <a:xfrm>
            <a:off x="704088" y="4654296"/>
            <a:ext cx="100584" cy="100584"/>
          </a:xfrm>
          <a:prstGeom prst="ellipse">
            <a:avLst/>
          </a:prstGeom>
          <a:solidFill>
            <a:srgbClr val="A85A45"/>
          </a:solidFill>
          <a:ln w="12700">
            <a:solidFill>
              <a:srgbClr val="A85A45"/>
            </a:solidFill>
            <a:prstDash val="solid"/>
          </a:ln>
        </p:spPr>
      </p:sp>
      <p:sp>
        <p:nvSpPr>
          <p:cNvPr id="13" name="cl-3"/>
          <p:cNvSpPr txBox="1"/>
          <p:nvPr/>
        </p:nvSpPr>
        <p:spPr>
          <a:xfrm>
            <a:off x="923544" y="4535424"/>
            <a:ext cx="5486400" cy="950976"/>
          </a:xfrm>
          <a:prstGeom prst="rect">
            <a:avLst/>
          </a:prstGeom>
          <a:noFill/>
          <a:ln/>
        </p:spPr>
        <p:txBody>
          <a:bodyPr wrap="square" lIns="0" tIns="0" rIns="0" bIns="0" rtlCol="0" anchor="t"/>
          <a:lstStyle/>
          <a:p>
            <a:pPr algn="l" indent="0" marL="0">
              <a:lnSpc>
                <a:spcPct val="118000"/>
              </a:lnSpc>
              <a:buNone/>
            </a:pPr>
            <a:r>
              <a:rPr lang="en-US" sz="1060" b="1" dirty="0">
                <a:solidFill>
                  <a:srgbClr val="F6F4F0"/>
                </a:solidFill>
                <a:latin typeface="Calibri" pitchFamily="34" charset="0"/>
                <a:ea typeface="Calibri" pitchFamily="34" charset="-122"/>
                <a:cs typeface="Calibri" pitchFamily="34" charset="-120"/>
              </a:rPr>
              <a:t>The finding</a:t>
            </a:r>
            <a:endParaRPr lang="en-US" sz="1060" dirty="0"/>
          </a:p>
          <a:p>
            <a:pPr algn="l" indent="0" marL="0">
              <a:lnSpc>
                <a:spcPct val="118000"/>
              </a:lnSpc>
              <a:buNone/>
            </a:pPr>
            <a:r>
              <a:rPr lang="en-US" sz="1060" dirty="0">
                <a:solidFill>
                  <a:srgbClr val="C4BCAE"/>
                </a:solidFill>
                <a:latin typeface="Calibri" pitchFamily="34" charset="0"/>
                <a:ea typeface="Calibri" pitchFamily="34" charset="-122"/>
                <a:cs typeface="Calibri" pitchFamily="34" charset="-120"/>
              </a:rPr>
              <a:t>Every criterion enforced by code was met. Every criterion depending on the model, the GPU or a third-party runtime was not. That split is the most portable result here.</a:t>
            </a:r>
            <a:endParaRPr lang="en-US" sz="1060" dirty="0"/>
          </a:p>
        </p:txBody>
      </p:sp>
      <p:sp>
        <p:nvSpPr>
          <p:cNvPr id="14" name="res-h"/>
          <p:cNvSpPr txBox="1"/>
          <p:nvPr/>
        </p:nvSpPr>
        <p:spPr>
          <a:xfrm>
            <a:off x="6583680" y="1517904"/>
            <a:ext cx="4892040" cy="237744"/>
          </a:xfrm>
          <a:prstGeom prst="rect">
            <a:avLst/>
          </a:prstGeom>
          <a:noFill/>
          <a:ln/>
        </p:spPr>
        <p:txBody>
          <a:bodyPr wrap="square" lIns="0" tIns="0" rIns="0" bIns="0" rtlCol="0" anchor="ctr"/>
          <a:lstStyle/>
          <a:p>
            <a:pPr algn="l" indent="0" marL="0">
              <a:buNone/>
            </a:pPr>
            <a:r>
              <a:rPr lang="en-US" sz="860" b="1" spc="140" kern="0" dirty="0">
                <a:solidFill>
                  <a:srgbClr val="8C8577"/>
                </a:solidFill>
                <a:latin typeface="Calibri" pitchFamily="34" charset="0"/>
                <a:ea typeface="Calibri" pitchFamily="34" charset="-122"/>
                <a:cs typeface="Calibri" pitchFamily="34" charset="-120"/>
              </a:rPr>
              <a:t>RESOURCES</a:t>
            </a:r>
            <a:endParaRPr lang="en-US" sz="860" dirty="0"/>
          </a:p>
        </p:txBody>
      </p:sp>
      <p:sp>
        <p:nvSpPr>
          <p:cNvPr id="15" name="lnk-0"/>
          <p:cNvSpPr txBox="1"/>
          <p:nvPr/>
        </p:nvSpPr>
        <p:spPr>
          <a:xfrm>
            <a:off x="6583680" y="1828800"/>
            <a:ext cx="4892040" cy="219456"/>
          </a:xfrm>
          <a:prstGeom prst="rect">
            <a:avLst/>
          </a:prstGeom>
          <a:noFill/>
          <a:ln/>
        </p:spPr>
        <p:txBody>
          <a:bodyPr wrap="square" lIns="0" tIns="0" rIns="0" bIns="0" rtlCol="0" anchor="ctr"/>
          <a:lstStyle/>
          <a:p>
            <a:pPr algn="l" indent="0" marL="0">
              <a:buNone/>
            </a:pPr>
            <a:r>
              <a:rPr lang="en-US" sz="960" b="1" dirty="0">
                <a:solidFill>
                  <a:srgbClr val="F6F4F0"/>
                </a:solidFill>
                <a:latin typeface="Calibri" pitchFamily="34" charset="0"/>
                <a:ea typeface="Calibri" pitchFamily="34" charset="-122"/>
                <a:cs typeface="Calibri" pitchFamily="34" charset="-120"/>
              </a:rPr>
              <a:t>Tessera repository  </a:t>
            </a:r>
            <a:pPr algn="l" indent="0" marL="0">
              <a:buNone/>
            </a:pPr>
            <a:r>
              <a:rPr lang="en-US" sz="960" u="sng" dirty="0">
                <a:solidFill>
                  <a:srgbClr val="A85A45"/>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github.com/webex042/Tessera</a:t>
            </a:r>
            <a:endParaRPr lang="en-US" sz="960" dirty="0"/>
          </a:p>
        </p:txBody>
      </p:sp>
      <p:sp>
        <p:nvSpPr>
          <p:cNvPr id="16" name="lnk-d-0"/>
          <p:cNvSpPr txBox="1"/>
          <p:nvPr/>
        </p:nvSpPr>
        <p:spPr>
          <a:xfrm>
            <a:off x="6583680" y="2048256"/>
            <a:ext cx="4892040" cy="420624"/>
          </a:xfrm>
          <a:prstGeom prst="rect">
            <a:avLst/>
          </a:prstGeom>
          <a:noFill/>
          <a:ln/>
        </p:spPr>
        <p:txBody>
          <a:bodyPr wrap="square" lIns="0" tIns="0" rIns="0" bIns="0" rtlCol="0" anchor="t"/>
          <a:lstStyle/>
          <a:p>
            <a:pPr algn="l" indent="0" marL="0">
              <a:lnSpc>
                <a:spcPct val="108000"/>
              </a:lnSpc>
              <a:buNone/>
            </a:pPr>
            <a:r>
              <a:rPr lang="en-US" sz="820" dirty="0">
                <a:solidFill>
                  <a:srgbClr val="8C8577"/>
                </a:solidFill>
                <a:latin typeface="Calibri" pitchFamily="34" charset="0"/>
                <a:ea typeface="Calibri" pitchFamily="34" charset="-122"/>
                <a:cs typeface="Calibri" pitchFamily="34" charset="-120"/>
              </a:rPr>
              <a:t>Source, README, decision records, stage verification reports and the evaluation results quoted throughout this deck.</a:t>
            </a:r>
            <a:endParaRPr lang="en-US" sz="820" dirty="0"/>
          </a:p>
        </p:txBody>
      </p:sp>
      <p:sp>
        <p:nvSpPr>
          <p:cNvPr id="17" name="lnk-1"/>
          <p:cNvSpPr txBox="1"/>
          <p:nvPr/>
        </p:nvSpPr>
        <p:spPr>
          <a:xfrm>
            <a:off x="6583680" y="2578608"/>
            <a:ext cx="4892040" cy="219456"/>
          </a:xfrm>
          <a:prstGeom prst="rect">
            <a:avLst/>
          </a:prstGeom>
          <a:noFill/>
          <a:ln/>
        </p:spPr>
        <p:txBody>
          <a:bodyPr wrap="square" lIns="0" tIns="0" rIns="0" bIns="0" rtlCol="0" anchor="ctr"/>
          <a:lstStyle/>
          <a:p>
            <a:pPr algn="l" indent="0" marL="0">
              <a:buNone/>
            </a:pPr>
            <a:r>
              <a:rPr lang="en-US" sz="960" b="1" dirty="0">
                <a:solidFill>
                  <a:srgbClr val="F6F4F0"/>
                </a:solidFill>
                <a:latin typeface="Calibri" pitchFamily="34" charset="0"/>
                <a:ea typeface="Calibri" pitchFamily="34" charset="-122"/>
                <a:cs typeface="Calibri" pitchFamily="34" charset="-120"/>
              </a:rPr>
              <a:t>llama.cpp  </a:t>
            </a:r>
            <a:pPr algn="l" indent="0" marL="0">
              <a:buNone/>
            </a:pPr>
            <a:r>
              <a:rPr lang="en-US" sz="960" u="sng" dirty="0">
                <a:solidFill>
                  <a:srgbClr val="A85A45"/>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github.com/ggml-org/llama.cpp</a:t>
            </a:r>
            <a:endParaRPr lang="en-US" sz="960" dirty="0"/>
          </a:p>
        </p:txBody>
      </p:sp>
      <p:sp>
        <p:nvSpPr>
          <p:cNvPr id="18" name="lnk-d-1"/>
          <p:cNvSpPr txBox="1"/>
          <p:nvPr/>
        </p:nvSpPr>
        <p:spPr>
          <a:xfrm>
            <a:off x="6583680" y="2798064"/>
            <a:ext cx="4892040" cy="420624"/>
          </a:xfrm>
          <a:prstGeom prst="rect">
            <a:avLst/>
          </a:prstGeom>
          <a:noFill/>
          <a:ln/>
        </p:spPr>
        <p:txBody>
          <a:bodyPr wrap="square" lIns="0" tIns="0" rIns="0" bIns="0" rtlCol="0" anchor="t"/>
          <a:lstStyle/>
          <a:p>
            <a:pPr algn="l" indent="0" marL="0">
              <a:lnSpc>
                <a:spcPct val="108000"/>
              </a:lnSpc>
              <a:buNone/>
            </a:pPr>
            <a:r>
              <a:rPr lang="en-US" sz="820" dirty="0">
                <a:solidFill>
                  <a:srgbClr val="8C8577"/>
                </a:solidFill>
                <a:latin typeface="Calibri" pitchFamily="34" charset="0"/>
                <a:ea typeface="Calibri" pitchFamily="34" charset="-122"/>
                <a:cs typeface="Calibri" pitchFamily="34" charset="-120"/>
              </a:rPr>
              <a:t>The inference engine, pinned at build b11900.</a:t>
            </a:r>
            <a:endParaRPr lang="en-US" sz="820" dirty="0"/>
          </a:p>
        </p:txBody>
      </p:sp>
      <p:sp>
        <p:nvSpPr>
          <p:cNvPr id="19" name="lnk-2"/>
          <p:cNvSpPr txBox="1"/>
          <p:nvPr/>
        </p:nvSpPr>
        <p:spPr>
          <a:xfrm>
            <a:off x="6583680" y="3328416"/>
            <a:ext cx="4892040" cy="219456"/>
          </a:xfrm>
          <a:prstGeom prst="rect">
            <a:avLst/>
          </a:prstGeom>
          <a:noFill/>
          <a:ln/>
        </p:spPr>
        <p:txBody>
          <a:bodyPr wrap="square" lIns="0" tIns="0" rIns="0" bIns="0" rtlCol="0" anchor="ctr"/>
          <a:lstStyle/>
          <a:p>
            <a:pPr algn="l" indent="0" marL="0">
              <a:buNone/>
            </a:pPr>
            <a:r>
              <a:rPr lang="en-US" sz="960" b="1" dirty="0">
                <a:solidFill>
                  <a:srgbClr val="F6F4F0"/>
                </a:solidFill>
                <a:latin typeface="Calibri" pitchFamily="34" charset="0"/>
                <a:ea typeface="Calibri" pitchFamily="34" charset="-122"/>
                <a:cs typeface="Calibri" pitchFamily="34" charset="-120"/>
              </a:rPr>
              <a:t>Qwen3-VL technical report  </a:t>
            </a:r>
            <a:pPr algn="l" indent="0" marL="0">
              <a:buNone/>
            </a:pPr>
            <a:r>
              <a:rPr lang="en-US" sz="960" u="sng" dirty="0">
                <a:solidFill>
                  <a:srgbClr val="A85A45"/>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arxiv.org/abs/2511.21631</a:t>
            </a:r>
            <a:endParaRPr lang="en-US" sz="960" dirty="0"/>
          </a:p>
        </p:txBody>
      </p:sp>
      <p:sp>
        <p:nvSpPr>
          <p:cNvPr id="20" name="lnk-d-2"/>
          <p:cNvSpPr txBox="1"/>
          <p:nvPr/>
        </p:nvSpPr>
        <p:spPr>
          <a:xfrm>
            <a:off x="6583680" y="3547872"/>
            <a:ext cx="4892040" cy="420624"/>
          </a:xfrm>
          <a:prstGeom prst="rect">
            <a:avLst/>
          </a:prstGeom>
          <a:noFill/>
          <a:ln/>
        </p:spPr>
        <p:txBody>
          <a:bodyPr wrap="square" lIns="0" tIns="0" rIns="0" bIns="0" rtlCol="0" anchor="t"/>
          <a:lstStyle/>
          <a:p>
            <a:pPr algn="l" indent="0" marL="0">
              <a:lnSpc>
                <a:spcPct val="108000"/>
              </a:lnSpc>
              <a:buNone/>
            </a:pPr>
            <a:r>
              <a:rPr lang="en-US" sz="820" dirty="0">
                <a:solidFill>
                  <a:srgbClr val="8C8577"/>
                </a:solidFill>
                <a:latin typeface="Calibri" pitchFamily="34" charset="0"/>
                <a:ea typeface="Calibri" pitchFamily="34" charset="-122"/>
                <a:cs typeface="Calibri" pitchFamily="34" charset="-120"/>
              </a:rPr>
              <a:t>The vision-language model family used here.</a:t>
            </a:r>
            <a:endParaRPr lang="en-US" sz="820" dirty="0"/>
          </a:p>
        </p:txBody>
      </p:sp>
      <p:sp>
        <p:nvSpPr>
          <p:cNvPr id="21" name="lnk-3"/>
          <p:cNvSpPr txBox="1"/>
          <p:nvPr/>
        </p:nvSpPr>
        <p:spPr>
          <a:xfrm>
            <a:off x="6583680" y="4078224"/>
            <a:ext cx="4892040" cy="219456"/>
          </a:xfrm>
          <a:prstGeom prst="rect">
            <a:avLst/>
          </a:prstGeom>
          <a:noFill/>
          <a:ln/>
        </p:spPr>
        <p:txBody>
          <a:bodyPr wrap="square" lIns="0" tIns="0" rIns="0" bIns="0" rtlCol="0" anchor="ctr"/>
          <a:lstStyle/>
          <a:p>
            <a:pPr algn="l" indent="0" marL="0">
              <a:buNone/>
            </a:pPr>
            <a:r>
              <a:rPr lang="en-US" sz="960" b="1" dirty="0">
                <a:solidFill>
                  <a:srgbClr val="F6F4F0"/>
                </a:solidFill>
                <a:latin typeface="Calibri" pitchFamily="34" charset="0"/>
                <a:ea typeface="Calibri" pitchFamily="34" charset="-122"/>
                <a:cs typeface="Calibri" pitchFamily="34" charset="-120"/>
              </a:rPr>
              <a:t>Indirect prompt injection  </a:t>
            </a:r>
            <a:pPr algn="l" indent="0" marL="0">
              <a:buNone/>
            </a:pPr>
            <a:r>
              <a:rPr lang="en-US" sz="960" u="sng" dirty="0">
                <a:solidFill>
                  <a:srgbClr val="A85A45"/>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arxiv.org/abs/2302.12173</a:t>
            </a:r>
            <a:endParaRPr lang="en-US" sz="960" dirty="0"/>
          </a:p>
        </p:txBody>
      </p:sp>
      <p:sp>
        <p:nvSpPr>
          <p:cNvPr id="22" name="lnk-d-3"/>
          <p:cNvSpPr txBox="1"/>
          <p:nvPr/>
        </p:nvSpPr>
        <p:spPr>
          <a:xfrm>
            <a:off x="6583680" y="4297680"/>
            <a:ext cx="4892040" cy="420624"/>
          </a:xfrm>
          <a:prstGeom prst="rect">
            <a:avLst/>
          </a:prstGeom>
          <a:noFill/>
          <a:ln/>
        </p:spPr>
        <p:txBody>
          <a:bodyPr wrap="square" lIns="0" tIns="0" rIns="0" bIns="0" rtlCol="0" anchor="t"/>
          <a:lstStyle/>
          <a:p>
            <a:pPr algn="l" indent="0" marL="0">
              <a:lnSpc>
                <a:spcPct val="108000"/>
              </a:lnSpc>
              <a:buNone/>
            </a:pPr>
            <a:r>
              <a:rPr lang="en-US" sz="820" dirty="0">
                <a:solidFill>
                  <a:srgbClr val="8C8577"/>
                </a:solidFill>
                <a:latin typeface="Calibri" pitchFamily="34" charset="0"/>
                <a:ea typeface="Calibri" pitchFamily="34" charset="-122"/>
                <a:cs typeface="Calibri" pitchFamily="34" charset="-120"/>
              </a:rPr>
              <a:t>Greshake et al., AISec 2023 — the attack slide 9 defends against.</a:t>
            </a:r>
            <a:endParaRPr lang="en-US" sz="820" dirty="0"/>
          </a:p>
        </p:txBody>
      </p:sp>
      <p:sp>
        <p:nvSpPr>
          <p:cNvPr id="23" name="lnk-4"/>
          <p:cNvSpPr txBox="1"/>
          <p:nvPr/>
        </p:nvSpPr>
        <p:spPr>
          <a:xfrm>
            <a:off x="6583680" y="4828032"/>
            <a:ext cx="4892040" cy="219456"/>
          </a:xfrm>
          <a:prstGeom prst="rect">
            <a:avLst/>
          </a:prstGeom>
          <a:noFill/>
          <a:ln/>
        </p:spPr>
        <p:txBody>
          <a:bodyPr wrap="square" lIns="0" tIns="0" rIns="0" bIns="0" rtlCol="0" anchor="ctr"/>
          <a:lstStyle/>
          <a:p>
            <a:pPr algn="l" indent="0" marL="0">
              <a:buNone/>
            </a:pPr>
            <a:r>
              <a:rPr lang="en-US" sz="960" b="1" dirty="0">
                <a:solidFill>
                  <a:srgbClr val="F6F4F0"/>
                </a:solidFill>
                <a:latin typeface="Calibri" pitchFamily="34" charset="0"/>
                <a:ea typeface="Calibri" pitchFamily="34" charset="-122"/>
                <a:cs typeface="Calibri" pitchFamily="34" charset="-120"/>
              </a:rPr>
              <a:t>OWASP Top 10 for LLM Applications  </a:t>
            </a:r>
            <a:pPr algn="l" indent="0" marL="0">
              <a:buNone/>
            </a:pPr>
            <a:r>
              <a:rPr lang="en-US" sz="960" u="sng" dirty="0">
                <a:solidFill>
                  <a:srgbClr val="A85A45"/>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owasp.org</a:t>
            </a:r>
            <a:endParaRPr lang="en-US" sz="960" dirty="0"/>
          </a:p>
        </p:txBody>
      </p:sp>
      <p:sp>
        <p:nvSpPr>
          <p:cNvPr id="24" name="lnk-d-4"/>
          <p:cNvSpPr txBox="1"/>
          <p:nvPr/>
        </p:nvSpPr>
        <p:spPr>
          <a:xfrm>
            <a:off x="6583680" y="5047488"/>
            <a:ext cx="4892040" cy="420624"/>
          </a:xfrm>
          <a:prstGeom prst="rect">
            <a:avLst/>
          </a:prstGeom>
          <a:noFill/>
          <a:ln/>
        </p:spPr>
        <p:txBody>
          <a:bodyPr wrap="square" lIns="0" tIns="0" rIns="0" bIns="0" rtlCol="0" anchor="t"/>
          <a:lstStyle/>
          <a:p>
            <a:pPr algn="l" indent="0" marL="0">
              <a:lnSpc>
                <a:spcPct val="108000"/>
              </a:lnSpc>
              <a:buNone/>
            </a:pPr>
            <a:r>
              <a:rPr lang="en-US" sz="820" dirty="0">
                <a:solidFill>
                  <a:srgbClr val="8C8577"/>
                </a:solidFill>
                <a:latin typeface="Calibri" pitchFamily="34" charset="0"/>
                <a:ea typeface="Calibri" pitchFamily="34" charset="-122"/>
                <a:cs typeface="Calibri" pitchFamily="34" charset="-120"/>
              </a:rPr>
              <a:t>Prompt injection as the first entry; the framing used for the threat model.</a:t>
            </a:r>
            <a:endParaRPr lang="en-US" sz="820" dirty="0"/>
          </a:p>
        </p:txBody>
      </p:sp>
      <p:sp>
        <p:nvSpPr>
          <p:cNvPr id="25" name="thesis-ref"/>
          <p:cNvSpPr txBox="1"/>
          <p:nvPr/>
        </p:nvSpPr>
        <p:spPr>
          <a:xfrm>
            <a:off x="685800" y="5742432"/>
            <a:ext cx="10789920" cy="402336"/>
          </a:xfrm>
          <a:prstGeom prst="rect">
            <a:avLst/>
          </a:prstGeom>
          <a:noFill/>
          <a:ln/>
        </p:spPr>
        <p:txBody>
          <a:bodyPr wrap="square" lIns="0" tIns="0" rIns="0" bIns="0" rtlCol="0" anchor="t"/>
          <a:lstStyle/>
          <a:p>
            <a:pPr algn="l" indent="0" marL="0">
              <a:lnSpc>
                <a:spcPct val="110000"/>
              </a:lnSpc>
              <a:buNone/>
            </a:pPr>
            <a:r>
              <a:rPr lang="en-US" sz="860" i="1" dirty="0">
                <a:solidFill>
                  <a:srgbClr val="8C8577"/>
                </a:solidFill>
                <a:latin typeface="Calibri" pitchFamily="34" charset="0"/>
                <a:ea typeface="Calibri" pitchFamily="34" charset="-122"/>
                <a:cs typeface="Calibri" pitchFamily="34" charset="-120"/>
              </a:rPr>
              <a:t>Full thesis — “Tessera: A Privacy-Preserving, Hardware-Independent Local Inference and Screen-Aware Memory System for Windows” — is in the repository under thesis/, with the evaluation data behind every number in this deck.</a:t>
            </a:r>
            <a:endParaRPr lang="en-US" sz="860" dirty="0"/>
          </a:p>
        </p:txBody>
      </p:sp>
      <p:sp>
        <p:nvSpPr>
          <p:cNvPr id="25" name="Slide Number Placeholder 0"/>
          <p:cNvSpPr>
            <a:spLocks noGrp="1"/>
          </p:cNvSpPr>
          <p:nvPr>
            <p:ph type="sldNum" sz="quarter" idx="4294967295"/>
          </p:nvPr>
        </p:nvSpPr>
        <p:spPr>
          <a:xfrm>
            <a:off x="11247120" y="6355080"/>
            <a:ext cx="36576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6E675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Tessera Zen">
  <a:themeElements>
    <a:clrScheme name="Tessera Zen">
      <a:dk1>
        <a:srgbClr val="201E1B"/>
      </a:dk1>
      <a:lt1>
        <a:srgbClr val="F6F4F0"/>
      </a:lt1>
      <a:dk2>
        <a:srgbClr val="6E675E"/>
      </a:dk2>
      <a:lt2>
        <a:srgbClr val="E7E3DA"/>
      </a:lt2>
      <a:accent1>
        <a:srgbClr val="A85A45"/>
      </a:accent1>
      <a:accent2>
        <a:srgbClr val="6C7F6B"/>
      </a:accent2>
      <a:accent3>
        <a:srgbClr val="4A5A66"/>
      </a:accent3>
      <a:accent4>
        <a:srgbClr val="C4BCAE"/>
      </a:accent4>
      <a:accent5>
        <a:srgbClr val="8C8577"/>
      </a:accent5>
      <a:accent6>
        <a:srgbClr val="3A3733"/>
      </a:accent6>
      <a:hlink>
        <a:srgbClr val="A85A45"/>
      </a:hlink>
      <a:folHlink>
        <a:srgbClr val="8C6355"/>
      </a:folHlink>
    </a:clrScheme>
    <a:fontScheme name="Tessera Z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Birla Institute of Technology, Mesra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Tessera</dc:title>
  <dc:subject>Tessera — technical project presentation</dc:subject>
  <dc:creator>Pranshu Ranjan</dc:creator>
  <cp:lastModifiedBy>Pranshu Ranjan</cp:lastModifiedBy>
  <cp:revision>1</cp:revision>
  <dcterms:created xsi:type="dcterms:W3CDTF">2026-10-28T17:29:21Z</dcterms:created>
  <dcterms:modified xsi:type="dcterms:W3CDTF">2026-10-28T17:29:21Z</dcterms:modified>
</cp:coreProperties>
</file>